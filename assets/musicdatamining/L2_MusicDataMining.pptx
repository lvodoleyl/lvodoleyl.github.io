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Golos Text"/>
      <p:regular r:id="rId42"/>
      <p:bold r:id="rId43"/>
    </p:embeddedFont>
    <p:embeddedFont>
      <p:font typeface="Lato"/>
      <p:regular r:id="rId44"/>
      <p:bold r:id="rId45"/>
      <p:italic r:id="rId46"/>
      <p:boldItalic r:id="rId47"/>
    </p:embeddedFont>
    <p:embeddedFont>
      <p:font typeface="Golos Text SemiBold"/>
      <p:regular r:id="rId48"/>
      <p:bold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GoogleSlidesCustomDataVersion2">
      <go:slidesCustomData xmlns:go="http://customooxmlschemas.google.com/" r:id="rId50" roundtripDataSignature="AMtx7mhTqWAnMS8xLdTXN4o3FvDx8yGO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11" orient="horz"/>
        <p:guide pos="287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GolosText-regular.fntdata"/><Relationship Id="rId41" Type="http://schemas.openxmlformats.org/officeDocument/2006/relationships/slide" Target="slides/slide36.xml"/><Relationship Id="rId44" Type="http://schemas.openxmlformats.org/officeDocument/2006/relationships/font" Target="fonts/Lato-regular.fntdata"/><Relationship Id="rId43" Type="http://schemas.openxmlformats.org/officeDocument/2006/relationships/font" Target="fonts/GolosText-bold.fntdata"/><Relationship Id="rId46" Type="http://schemas.openxmlformats.org/officeDocument/2006/relationships/font" Target="fonts/Lato-italic.fntdata"/><Relationship Id="rId45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GolosTextSemiBold-regular.fntdata"/><Relationship Id="rId47" Type="http://schemas.openxmlformats.org/officeDocument/2006/relationships/font" Target="fonts/Lato-boldItalic.fntdata"/><Relationship Id="rId49" Type="http://schemas.openxmlformats.org/officeDocument/2006/relationships/font" Target="fonts/GolosText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82c83c1f8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282c83c1f8c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b26ce6d162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g2b26ce6d162_0_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bc72da1a54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2bc72da1a5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g2bc72da1a54_0_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bc72da1a54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2bc72da1a5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2bc72da1a54_0_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bc72da1a54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2bc72da1a5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2bc72da1a54_0_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bc72da1a5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g2bc72da1a54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bc72da1a5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g2bc72da1a54_0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bc72da1a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g2bc72da1a5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bc72da1a54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g2bc72da1a54_0_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bc72da1a5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g2bc72da1a54_0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bc72da1a5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g2bc72da1a54_0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bc72da1a5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g2bc72da1a54_0_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bc72da1a54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g2bc72da1a54_0_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bc72da1a5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g2bc72da1a54_0_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bc72da1a54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g2bc72da1a54_0_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c72da1a54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g2bc72da1a54_0_1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bc72da1a54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g2bc72da1a54_0_1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bc72da1a54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g2bc72da1a54_0_1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bc72da1a54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g2bc72da1a54_0_1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bc72da1a54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" name="Google Shape;320;g2bc72da1a54_0_1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bc72da1a54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" name="Google Shape;328;g2bc72da1a54_0_1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bc72da1a54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g2bc72da1a54_0_1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bc72da1a54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g2bc72da1a54_0_1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bc7a8ec097_49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g2bc7a8ec097_49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bc7a8ec097_49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8" name="Google Shape;358;g2bc7a8ec097_49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bc72da1a54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g2bc72da1a54_0_1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bc7a8ec097_49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5" name="Google Shape;375;g2bc7a8ec097_49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bc72da1a54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g2bc72da1a54_0_1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bc72da1a54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4" name="Google Shape;394;g2bc72da1a54_0_1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bc72da1a54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2" name="Google Shape;402;g2bc72da1a54_0_1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bc7a8ec097_49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9" name="Google Shape;409;g2bc7a8ec097_49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bc847749b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7" name="Google Shape;417;g2bc847749b6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bc7a8ec097_49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4" name="Google Shape;424;g2bc7a8ec097_49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2ba3d66f664_0_4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g2ba3d66f664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3" name="Google Shape;433;g2ba3d66f664_0_40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7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2" name="Google Shape;22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8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0"/>
          <p:cNvSpPr txBox="1"/>
          <p:nvPr>
            <p:ph idx="1" type="body"/>
          </p:nvPr>
        </p:nvSpPr>
        <p:spPr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30"/>
          <p:cNvSpPr/>
          <p:nvPr>
            <p:ph idx="2" type="pic"/>
          </p:nvPr>
        </p:nvSpPr>
        <p:spPr>
          <a:xfrm>
            <a:off x="3095171" y="963397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31" name="Google Shape;31;p30"/>
          <p:cNvSpPr/>
          <p:nvPr>
            <p:ph idx="3" type="pic"/>
          </p:nvPr>
        </p:nvSpPr>
        <p:spPr>
          <a:xfrm>
            <a:off x="5733141" y="966928"/>
            <a:ext cx="2532744" cy="1883023"/>
          </a:xfrm>
          <a:prstGeom prst="roundRect">
            <a:avLst>
              <a:gd fmla="val 11196" name="adj"/>
            </a:avLst>
          </a:prstGeom>
          <a:noFill/>
          <a:ln>
            <a:noFill/>
          </a:ln>
        </p:spPr>
      </p:sp>
      <p:sp>
        <p:nvSpPr>
          <p:cNvPr id="32" name="Google Shape;32;p30"/>
          <p:cNvSpPr/>
          <p:nvPr>
            <p:ph idx="4" type="pic"/>
          </p:nvPr>
        </p:nvSpPr>
        <p:spPr>
          <a:xfrm>
            <a:off x="5733141" y="2954042"/>
            <a:ext cx="2532744" cy="1883023"/>
          </a:xfrm>
          <a:prstGeom prst="roundRect">
            <a:avLst>
              <a:gd fmla="val 8802" name="adj"/>
            </a:avLst>
          </a:prstGeom>
          <a:noFill/>
          <a:ln>
            <a:noFill/>
          </a:ln>
        </p:spPr>
      </p:sp>
      <p:sp>
        <p:nvSpPr>
          <p:cNvPr id="33" name="Google Shape;33;p30"/>
          <p:cNvSpPr/>
          <p:nvPr>
            <p:ph idx="5" type="pic"/>
          </p:nvPr>
        </p:nvSpPr>
        <p:spPr>
          <a:xfrm>
            <a:off x="3095171" y="2960314"/>
            <a:ext cx="2532744" cy="1883023"/>
          </a:xfrm>
          <a:prstGeom prst="roundRect">
            <a:avLst>
              <a:gd fmla="val 8459" name="adj"/>
            </a:avLst>
          </a:prstGeom>
          <a:noFill/>
          <a:ln>
            <a:noFill/>
          </a:ln>
        </p:spPr>
      </p:sp>
      <p:sp>
        <p:nvSpPr>
          <p:cNvPr id="34" name="Google Shape;34;p30"/>
          <p:cNvSpPr/>
          <p:nvPr>
            <p:ph idx="6" type="pic"/>
          </p:nvPr>
        </p:nvSpPr>
        <p:spPr>
          <a:xfrm>
            <a:off x="457200" y="2960314"/>
            <a:ext cx="2532744" cy="1883023"/>
          </a:xfrm>
          <a:prstGeom prst="roundRect">
            <a:avLst>
              <a:gd fmla="val 10169" name="adj"/>
            </a:avLst>
          </a:prstGeom>
          <a:noFill/>
          <a:ln>
            <a:noFill/>
          </a:ln>
        </p:spPr>
      </p:sp>
      <p:sp>
        <p:nvSpPr>
          <p:cNvPr id="35" name="Google Shape;35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kfql">
  <p:cSld name="Ckfq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1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784" name="adj"/>
            </a:avLst>
          </a:prstGeom>
          <a:noFill/>
          <a:ln>
            <a:noFill/>
          </a:ln>
        </p:spPr>
      </p:sp>
      <p:sp>
        <p:nvSpPr>
          <p:cNvPr id="46" name="Google Shape;46;p31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3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3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Пользовательский макет">
  <p:cSld name="6_Пользовательский макет"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4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9" name="Google Shape;59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5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3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6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6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36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Пользовательский макет">
  <p:cSld name="3_Пользовательский макет"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7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952" name="adj"/>
            </a:avLst>
          </a:prstGeom>
          <a:noFill/>
          <a:ln>
            <a:noFill/>
          </a:ln>
        </p:spPr>
      </p:sp>
      <p:sp>
        <p:nvSpPr>
          <p:cNvPr id="74" name="Google Shape;74;p37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Пользовательский макет">
  <p:cSld name="7_Пользовательский макет"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9" name="Google Shape;79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9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39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39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39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3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ользовательский макет">
  <p:cSld name="4_Пользовательский макет"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0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8957" name="adj"/>
            </a:avLst>
          </a:prstGeom>
          <a:noFill/>
          <a:ln>
            <a:noFill/>
          </a:ln>
        </p:spPr>
      </p:sp>
      <p:sp>
        <p:nvSpPr>
          <p:cNvPr id="90" name="Google Shape;90;p40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Пользовательский макет">
  <p:cSld name="8_Пользовательский макет"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1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5" name="Google Shape;95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>
  <p:cSld name="2_Пользовательский макет"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2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42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42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42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Пользовательский макет">
  <p:cSld name="5_Пользовательский макет"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3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sp>
      <p:sp>
        <p:nvSpPr>
          <p:cNvPr id="105" name="Google Shape;105;p4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3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4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4"/>
          <p:cNvSpPr txBox="1"/>
          <p:nvPr>
            <p:ph idx="1" type="body"/>
          </p:nvPr>
        </p:nvSpPr>
        <p:spPr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44"/>
          <p:cNvSpPr/>
          <p:nvPr>
            <p:ph idx="2" type="pic"/>
          </p:nvPr>
        </p:nvSpPr>
        <p:spPr>
          <a:xfrm>
            <a:off x="457200" y="943208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2" name="Google Shape;112;p44"/>
          <p:cNvSpPr/>
          <p:nvPr>
            <p:ph idx="3" type="pic"/>
          </p:nvPr>
        </p:nvSpPr>
        <p:spPr>
          <a:xfrm>
            <a:off x="457200" y="2935720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3" name="Google Shape;113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Пользовательский макет">
  <p:cSld name="9_Пользовательский макет"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5"/>
          <p:cNvSpPr txBox="1"/>
          <p:nvPr>
            <p:ph idx="1" type="body"/>
          </p:nvPr>
        </p:nvSpPr>
        <p:spPr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45"/>
          <p:cNvSpPr txBox="1"/>
          <p:nvPr>
            <p:ph idx="2" type="body"/>
          </p:nvPr>
        </p:nvSpPr>
        <p:spPr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45"/>
          <p:cNvSpPr txBox="1"/>
          <p:nvPr>
            <p:ph idx="3" type="body"/>
          </p:nvPr>
        </p:nvSpPr>
        <p:spPr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45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6"/>
          <p:cNvSpPr txBox="1"/>
          <p:nvPr>
            <p:ph idx="1" type="body"/>
          </p:nvPr>
        </p:nvSpPr>
        <p:spPr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46"/>
          <p:cNvSpPr txBox="1"/>
          <p:nvPr>
            <p:ph idx="2" type="body"/>
          </p:nvPr>
        </p:nvSpPr>
        <p:spPr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46"/>
          <p:cNvSpPr txBox="1"/>
          <p:nvPr>
            <p:ph idx="3" type="body"/>
          </p:nvPr>
        </p:nvSpPr>
        <p:spPr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46"/>
          <p:cNvSpPr txBox="1"/>
          <p:nvPr>
            <p:ph idx="4" type="body"/>
          </p:nvPr>
        </p:nvSpPr>
        <p:spPr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302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5" name="Google Shape;125;p46"/>
          <p:cNvSpPr txBox="1"/>
          <p:nvPr>
            <p:ph idx="5" type="body"/>
          </p:nvPr>
        </p:nvSpPr>
        <p:spPr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6" name="Google Shape;126;p46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46"/>
          <p:cNvSpPr txBox="1"/>
          <p:nvPr>
            <p:ph idx="6" type="body"/>
          </p:nvPr>
        </p:nvSpPr>
        <p:spPr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8" name="Google Shape;128;p46"/>
          <p:cNvSpPr/>
          <p:nvPr>
            <p:ph idx="7" type="pic"/>
          </p:nvPr>
        </p:nvSpPr>
        <p:spPr>
          <a:xfrm>
            <a:off x="469081" y="944463"/>
            <a:ext cx="2577001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29" name="Google Shape;129;p46"/>
          <p:cNvSpPr/>
          <p:nvPr>
            <p:ph idx="8" type="pic"/>
          </p:nvPr>
        </p:nvSpPr>
        <p:spPr>
          <a:xfrm>
            <a:off x="3221666" y="944462"/>
            <a:ext cx="2577001" cy="1883023"/>
          </a:xfrm>
          <a:prstGeom prst="roundRect">
            <a:avLst>
              <a:gd fmla="val 12905" name="adj"/>
            </a:avLst>
          </a:prstGeom>
          <a:noFill/>
          <a:ln>
            <a:noFill/>
          </a:ln>
        </p:spPr>
      </p:sp>
      <p:sp>
        <p:nvSpPr>
          <p:cNvPr id="130" name="Google Shape;130;p46"/>
          <p:cNvSpPr/>
          <p:nvPr>
            <p:ph idx="9" type="pic"/>
          </p:nvPr>
        </p:nvSpPr>
        <p:spPr>
          <a:xfrm>
            <a:off x="5980690" y="944463"/>
            <a:ext cx="2577001" cy="1883023"/>
          </a:xfrm>
          <a:prstGeom prst="roundRect">
            <a:avLst>
              <a:gd fmla="val 10512" name="adj"/>
            </a:avLst>
          </a:prstGeom>
          <a:noFill/>
          <a:ln>
            <a:noFill/>
          </a:ln>
        </p:spPr>
      </p:sp>
      <p:sp>
        <p:nvSpPr>
          <p:cNvPr id="131" name="Google Shape;131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7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47"/>
          <p:cNvSpPr txBox="1"/>
          <p:nvPr>
            <p:ph idx="1" type="body"/>
          </p:nvPr>
        </p:nvSpPr>
        <p:spPr>
          <a:xfrm>
            <a:off x="5733143" y="949330"/>
            <a:ext cx="2895600" cy="3895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47"/>
          <p:cNvSpPr/>
          <p:nvPr>
            <p:ph idx="2" type="pic"/>
          </p:nvPr>
        </p:nvSpPr>
        <p:spPr>
          <a:xfrm>
            <a:off x="457200" y="949329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36" name="Google Shape;136;p47"/>
          <p:cNvSpPr/>
          <p:nvPr>
            <p:ph idx="3" type="pic"/>
          </p:nvPr>
        </p:nvSpPr>
        <p:spPr>
          <a:xfrm>
            <a:off x="3095171" y="949328"/>
            <a:ext cx="2532744" cy="1883023"/>
          </a:xfrm>
          <a:prstGeom prst="roundRect">
            <a:avLst>
              <a:gd fmla="val 11879" name="adj"/>
            </a:avLst>
          </a:prstGeom>
          <a:noFill/>
          <a:ln>
            <a:noFill/>
          </a:ln>
        </p:spPr>
      </p:sp>
      <p:sp>
        <p:nvSpPr>
          <p:cNvPr id="137" name="Google Shape;137;p47"/>
          <p:cNvSpPr/>
          <p:nvPr>
            <p:ph idx="4" type="pic"/>
          </p:nvPr>
        </p:nvSpPr>
        <p:spPr>
          <a:xfrm>
            <a:off x="3095171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38" name="Google Shape;138;p47"/>
          <p:cNvSpPr/>
          <p:nvPr>
            <p:ph idx="5" type="pic"/>
          </p:nvPr>
        </p:nvSpPr>
        <p:spPr>
          <a:xfrm>
            <a:off x="457199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39" name="Google Shape;139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8"/>
          <p:cNvSpPr txBox="1"/>
          <p:nvPr>
            <p:ph idx="1" type="body"/>
          </p:nvPr>
        </p:nvSpPr>
        <p:spPr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48"/>
          <p:cNvSpPr txBox="1"/>
          <p:nvPr>
            <p:ph idx="2" type="body"/>
          </p:nvPr>
        </p:nvSpPr>
        <p:spPr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48"/>
          <p:cNvSpPr txBox="1"/>
          <p:nvPr>
            <p:ph idx="3" type="body"/>
          </p:nvPr>
        </p:nvSpPr>
        <p:spPr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48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48"/>
          <p:cNvSpPr/>
          <p:nvPr>
            <p:ph idx="4" type="pic"/>
          </p:nvPr>
        </p:nvSpPr>
        <p:spPr>
          <a:xfrm>
            <a:off x="454050" y="952607"/>
            <a:ext cx="2589213" cy="1304294"/>
          </a:xfrm>
          <a:prstGeom prst="roundRect">
            <a:avLst>
              <a:gd fmla="val 9261" name="adj"/>
            </a:avLst>
          </a:prstGeom>
          <a:noFill/>
          <a:ln>
            <a:noFill/>
          </a:ln>
        </p:spPr>
      </p:sp>
      <p:sp>
        <p:nvSpPr>
          <p:cNvPr id="146" name="Google Shape;146;p48"/>
          <p:cNvSpPr/>
          <p:nvPr>
            <p:ph idx="5" type="pic"/>
          </p:nvPr>
        </p:nvSpPr>
        <p:spPr>
          <a:xfrm>
            <a:off x="3275818" y="952607"/>
            <a:ext cx="2589213" cy="1304294"/>
          </a:xfrm>
          <a:prstGeom prst="roundRect">
            <a:avLst>
              <a:gd fmla="val 11730" name="adj"/>
            </a:avLst>
          </a:prstGeom>
          <a:noFill/>
          <a:ln>
            <a:noFill/>
          </a:ln>
        </p:spPr>
      </p:sp>
      <p:sp>
        <p:nvSpPr>
          <p:cNvPr id="147" name="Google Shape;147;p48"/>
          <p:cNvSpPr/>
          <p:nvPr>
            <p:ph idx="6" type="pic"/>
          </p:nvPr>
        </p:nvSpPr>
        <p:spPr>
          <a:xfrm>
            <a:off x="6089789" y="952607"/>
            <a:ext cx="2589213" cy="1304294"/>
          </a:xfrm>
          <a:prstGeom prst="roundRect">
            <a:avLst>
              <a:gd fmla="val 10249" name="adj"/>
            </a:avLst>
          </a:prstGeom>
          <a:noFill/>
          <a:ln>
            <a:noFill/>
          </a:ln>
        </p:spPr>
      </p:sp>
      <p:sp>
        <p:nvSpPr>
          <p:cNvPr id="148" name="Google Shape;148;p48"/>
          <p:cNvSpPr txBox="1"/>
          <p:nvPr>
            <p:ph idx="7" type="body"/>
          </p:nvPr>
        </p:nvSpPr>
        <p:spPr>
          <a:xfrm>
            <a:off x="460352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48"/>
          <p:cNvSpPr txBox="1"/>
          <p:nvPr>
            <p:ph idx="8" type="body"/>
          </p:nvPr>
        </p:nvSpPr>
        <p:spPr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48"/>
          <p:cNvSpPr txBox="1"/>
          <p:nvPr>
            <p:ph idx="9" type="body"/>
          </p:nvPr>
        </p:nvSpPr>
        <p:spPr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48"/>
          <p:cNvSpPr/>
          <p:nvPr>
            <p:ph idx="13" type="pic"/>
          </p:nvPr>
        </p:nvSpPr>
        <p:spPr>
          <a:xfrm>
            <a:off x="457201" y="2866358"/>
            <a:ext cx="2589213" cy="1304294"/>
          </a:xfrm>
          <a:prstGeom prst="roundRect">
            <a:avLst>
              <a:gd fmla="val 12224" name="adj"/>
            </a:avLst>
          </a:prstGeom>
          <a:noFill/>
          <a:ln>
            <a:noFill/>
          </a:ln>
        </p:spPr>
      </p:sp>
      <p:sp>
        <p:nvSpPr>
          <p:cNvPr id="152" name="Google Shape;152;p48"/>
          <p:cNvSpPr/>
          <p:nvPr>
            <p:ph idx="14" type="pic"/>
          </p:nvPr>
        </p:nvSpPr>
        <p:spPr>
          <a:xfrm>
            <a:off x="3278969" y="2866358"/>
            <a:ext cx="2589213" cy="1304294"/>
          </a:xfrm>
          <a:prstGeom prst="roundRect">
            <a:avLst>
              <a:gd fmla="val 11236" name="adj"/>
            </a:avLst>
          </a:prstGeom>
          <a:noFill/>
          <a:ln>
            <a:noFill/>
          </a:ln>
        </p:spPr>
      </p:sp>
      <p:sp>
        <p:nvSpPr>
          <p:cNvPr id="153" name="Google Shape;153;p48"/>
          <p:cNvSpPr/>
          <p:nvPr>
            <p:ph idx="15" type="pic"/>
          </p:nvPr>
        </p:nvSpPr>
        <p:spPr>
          <a:xfrm>
            <a:off x="6092940" y="2866358"/>
            <a:ext cx="2589213" cy="1304294"/>
          </a:xfrm>
          <a:prstGeom prst="roundRect">
            <a:avLst>
              <a:gd fmla="val 9755" name="adj"/>
            </a:avLst>
          </a:prstGeom>
          <a:noFill/>
          <a:ln>
            <a:noFill/>
          </a:ln>
        </p:spPr>
      </p:sp>
      <p:sp>
        <p:nvSpPr>
          <p:cNvPr id="154" name="Google Shape;154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6"/>
          <p:cNvSpPr txBox="1"/>
          <p:nvPr>
            <p:ph idx="1" type="body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mE07Hv1R5uc&amp;list=PL950oao1ANsKP_NfxwSc4ZwfghRntYmzk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hukenovs/dsp-theory" TargetMode="External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books.ifmo.ru/file/pdf/2687.pdf" TargetMode="External"/><Relationship Id="rId4" Type="http://schemas.openxmlformats.org/officeDocument/2006/relationships/hyperlink" Target="https://docs.google.com/viewer?a=v&amp;pid=sites&amp;srcid=ZGVmYXVsdGRvbWFpbnxzYWp0a290b2NpZ292YWRsYXN0dWRlbnRvdnxneDo1ODY2NDg3OWNjZWRhYjA4" TargetMode="External"/><Relationship Id="rId5" Type="http://schemas.openxmlformats.org/officeDocument/2006/relationships/hyperlink" Target="https://books.ifmo.ru/file/pdf/1075.pdf" TargetMode="External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hyperlink" Target="https://www.youtube.com/watch?app=desktop&amp;v=cUD1gMAl6W4" TargetMode="External"/><Relationship Id="rId5" Type="http://schemas.openxmlformats.org/officeDocument/2006/relationships/hyperlink" Target="https://www.youtube.com/watch?v=-qgreAUpPwM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Relationship Id="rId4" Type="http://schemas.openxmlformats.org/officeDocument/2006/relationships/image" Target="../media/image3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Relationship Id="rId4" Type="http://schemas.openxmlformats.org/officeDocument/2006/relationships/hyperlink" Target="https://docs.yandex.ru/docs/view?tm=1659465658&amp;tld=ru&amp;lang=ru&amp;name=muz_info_2008.pdf&amp;text=%D0%BC%D1%83%D0%B7%D1%8B%D0%BA%D0%B0%D0%BB%D1%8C%D0%BD%D0%B0%D1%8F%20%D0%B8%D0%BD%D1%84%D0%BE%D1%80%D0%BC%D0%B0%D1%82%D0%B8%D0%BA%D0%B0&amp;url=http%3A%2F%2Fvmcoll.ru%2Fdownloads%2Fmuz_info_2008.pdf&amp;lr=47&amp;mime=pdf&amp;l10n=ru&amp;sign=8e5b3fd8d2c037123448c674af414df8&amp;keyno=0&amp;nosw=1&amp;serpParams=tm%3D1659465658%26tld%3Dru%26lang%3Dru%26name%3Dmuz_info_2008.pdf%26text%3D%25D0%25BC%25D1%2583%25D0%25B7%25D1%258B%25D0%25BA%25D0%25B0%25D0%25BB%25D1%258C%25D0%25BD%25D0%25B0%25D1%258F%2B%25D0%25B8%25D0%25BD%25D1%2584%25D0%25BE%25D1%2580%25D0%25BC%25D0%25B0%25D1%2582%25D0%25B8%25D0%25BA%25D0%25B0%26url%3Dhttp%253A%2F%2Fvmcoll.ru%2Fdownloads%2Fmuz_info_2008.pdf%26lr%3D47%26mime%3Dpdf%26l10n%3Dru%26sign%3D8e5b3fd8d2c037123448c674af414df8%26keyno%3D0%26nosw%3D1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2.png"/><Relationship Id="rId4" Type="http://schemas.openxmlformats.org/officeDocument/2006/relationships/image" Target="../media/image3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colab.research.google.com/corgiredirector?site=https%3A%2F%2Fmusiclab.chromeexperiments.com%2F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9.png"/><Relationship Id="rId4" Type="http://schemas.openxmlformats.org/officeDocument/2006/relationships/image" Target="../media/image4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9.png"/><Relationship Id="rId4" Type="http://schemas.openxmlformats.org/officeDocument/2006/relationships/image" Target="../media/image4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8.png"/><Relationship Id="rId4" Type="http://schemas.openxmlformats.org/officeDocument/2006/relationships/image" Target="../media/image5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://www.youtube.com/watch?v=uf679Qo-bB4" TargetMode="External"/><Relationship Id="rId4" Type="http://schemas.openxmlformats.org/officeDocument/2006/relationships/image" Target="../media/image52.jpg"/><Relationship Id="rId5" Type="http://schemas.openxmlformats.org/officeDocument/2006/relationships/image" Target="../media/image5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colab.research.google.com/drive/1AtRfncE5WdC0uGP0xWDL1MgcVY6_tSH-?usp=sharing" TargetMode="External"/><Relationship Id="rId4" Type="http://schemas.openxmlformats.org/officeDocument/2006/relationships/image" Target="../media/image5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 txBox="1"/>
          <p:nvPr>
            <p:ph type="title"/>
          </p:nvPr>
        </p:nvSpPr>
        <p:spPr>
          <a:xfrm>
            <a:off x="679879" y="1902925"/>
            <a:ext cx="77724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lang="ru-RU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Введение а </a:t>
            </a:r>
            <a:br>
              <a:rPr lang="ru-RU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вычислительное музыковедение:</a:t>
            </a:r>
            <a:br>
              <a:rPr lang="ru-RU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Модели и методы Music Data Mining </a:t>
            </a:r>
            <a:endParaRPr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"/>
          <p:cNvSpPr txBox="1"/>
          <p:nvPr>
            <p:ph type="title"/>
          </p:nvPr>
        </p:nvSpPr>
        <p:spPr>
          <a:xfrm>
            <a:off x="672675" y="1836975"/>
            <a:ext cx="7772400" cy="12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200"/>
              <a:buFont typeface="Arial"/>
              <a:buNone/>
            </a:pPr>
            <a:r>
              <a:rPr lang="ru-RU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Введение в </a:t>
            </a:r>
            <a:br>
              <a:rPr lang="ru-RU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вычислительное музыковедение: </a:t>
            </a:r>
            <a:br>
              <a:rPr lang="ru-RU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Модели и методы Music Data Mining</a:t>
            </a:r>
            <a:endParaRPr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2" name="Google Shape;162;p1"/>
          <p:cNvSpPr txBox="1"/>
          <p:nvPr/>
        </p:nvSpPr>
        <p:spPr>
          <a:xfrm>
            <a:off x="2852500" y="4545575"/>
            <a:ext cx="34992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Абросимов Кирилл</a:t>
            </a:r>
            <a:b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</a:b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abrosimov.kirill.1999@mail.ru</a:t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3" name="Google Shape;163;p1"/>
          <p:cNvSpPr txBox="1"/>
          <p:nvPr/>
        </p:nvSpPr>
        <p:spPr>
          <a:xfrm>
            <a:off x="2923575" y="3579450"/>
            <a:ext cx="327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ru-RU" sz="2000">
                <a:solidFill>
                  <a:srgbClr val="FFFF00"/>
                </a:solidFill>
                <a:latin typeface="Golos Text"/>
                <a:ea typeface="Golos Text"/>
                <a:cs typeface="Golos Text"/>
                <a:sym typeface="Golos Text"/>
              </a:rPr>
              <a:t>Акустические признаки</a:t>
            </a:r>
            <a:endParaRPr b="1" i="0" sz="2000" u="none" cap="none" strike="noStrike">
              <a:solidFill>
                <a:srgbClr val="FFFF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82c83c1f8c_0_7"/>
          <p:cNvSpPr txBox="1"/>
          <p:nvPr>
            <p:ph type="title"/>
          </p:nvPr>
        </p:nvSpPr>
        <p:spPr>
          <a:xfrm>
            <a:off x="243401" y="306435"/>
            <a:ext cx="70383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ru-RU"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169" name="Google Shape;169;g282c83c1f8c_0_7"/>
          <p:cNvSpPr txBox="1"/>
          <p:nvPr/>
        </p:nvSpPr>
        <p:spPr>
          <a:xfrm>
            <a:off x="325950" y="1329650"/>
            <a:ext cx="84921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ЦОС</a:t>
            </a:r>
            <a:endParaRPr b="0" i="0" sz="22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Спектр</a:t>
            </a:r>
            <a:endParaRPr b="0" i="0" sz="22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Преобразование Фурье - DFT</a:t>
            </a:r>
            <a:endParaRPr b="0" i="0" sz="22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Оконное</a:t>
            </a: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 преобразование Фурье - STFT</a:t>
            </a:r>
            <a:endParaRPr b="0" i="0" sz="22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Спектрограммы и Mel-спектрограммы</a:t>
            </a:r>
            <a:endParaRPr b="0" i="0" sz="22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Golos Text"/>
              <a:buAutoNum type="arabicPeriod"/>
            </a:pPr>
            <a:r>
              <a:rPr lang="ru-RU" sz="2200">
                <a:latin typeface="Golos Text"/>
                <a:ea typeface="Golos Text"/>
                <a:cs typeface="Golos Text"/>
                <a:sym typeface="Golos Text"/>
              </a:rPr>
              <a:t>MFCC</a:t>
            </a:r>
            <a:endParaRPr sz="22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70" name="Google Shape;170;g282c83c1f8c_0_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b26ce6d162_0_71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8518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Вспомним важное</a:t>
            </a:r>
            <a:endParaRPr/>
          </a:p>
        </p:txBody>
      </p:sp>
      <p:sp>
        <p:nvSpPr>
          <p:cNvPr id="176" name="Google Shape;176;g2b26ce6d162_0_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7" name="Google Shape;177;g2b26ce6d162_0_71"/>
          <p:cNvSpPr txBox="1"/>
          <p:nvPr/>
        </p:nvSpPr>
        <p:spPr>
          <a:xfrm>
            <a:off x="504275" y="1167025"/>
            <a:ext cx="8334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Цифровой сигнал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 - 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дискретизированный, квантованный и закодированный. </a:t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178" name="Google Shape;178;g2b26ce6d162_0_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1225" y="2581175"/>
            <a:ext cx="5617826" cy="244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2b26ce6d162_0_71"/>
          <p:cNvSpPr txBox="1"/>
          <p:nvPr/>
        </p:nvSpPr>
        <p:spPr>
          <a:xfrm>
            <a:off x="3297000" y="2088575"/>
            <a:ext cx="255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Теорема отсчетов</a:t>
            </a:r>
            <a:endParaRPr b="1"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c72da1a54_0_5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0"/>
              <a:buNone/>
            </a:pPr>
            <a:r>
              <a:rPr lang="ru-RU"/>
              <a:t>Основополагающие для лекции</a:t>
            </a:r>
            <a:endParaRPr/>
          </a:p>
        </p:txBody>
      </p:sp>
      <p:sp>
        <p:nvSpPr>
          <p:cNvPr id="186" name="Google Shape;186;g2bc72da1a54_0_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87" name="Google Shape;187;g2bc72da1a54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350" y="1861250"/>
            <a:ext cx="7038900" cy="288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2bc72da1a54_0_5"/>
          <p:cNvSpPr txBox="1"/>
          <p:nvPr/>
        </p:nvSpPr>
        <p:spPr>
          <a:xfrm>
            <a:off x="424675" y="1029700"/>
            <a:ext cx="81321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-RU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Для создания данного занятия используются материалы Летней школы от ЦРТ по ЦОС и речевым технологиям - </a:t>
            </a:r>
            <a:r>
              <a:rPr lang="ru-RU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https://www.youtube.com/watch?v=mE07Hv1R5uc&amp;list=PL950oao1ANsKP_NfxwSc4ZwfghRntYmzk</a:t>
            </a:r>
            <a:r>
              <a:rPr lang="ru-RU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bc72da1a54_0_15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0"/>
              <a:buNone/>
            </a:pPr>
            <a:r>
              <a:rPr lang="ru-RU"/>
              <a:t>Основополагающие для лекции</a:t>
            </a:r>
            <a:endParaRPr/>
          </a:p>
        </p:txBody>
      </p:sp>
      <p:sp>
        <p:nvSpPr>
          <p:cNvPr id="195" name="Google Shape;195;g2bc72da1a54_0_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96" name="Google Shape;196;g2bc72da1a54_0_15"/>
          <p:cNvSpPr txBox="1"/>
          <p:nvPr/>
        </p:nvSpPr>
        <p:spPr>
          <a:xfrm>
            <a:off x="1297500" y="1116150"/>
            <a:ext cx="70389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-RU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Открытые лекции по Цифровой обработке сигналов на русском языке с примерами на языке программирования Python - </a:t>
            </a:r>
            <a:r>
              <a:rPr lang="ru-RU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https://github.com/hukenovs/dsp-theory</a:t>
            </a:r>
            <a:r>
              <a:rPr lang="ru-RU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7" name="Google Shape;197;g2bc72da1a54_0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1825" y="2023625"/>
            <a:ext cx="7010248" cy="27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bc72da1a54_0_23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0"/>
              <a:buNone/>
            </a:pPr>
            <a:r>
              <a:rPr lang="ru-RU"/>
              <a:t>Основополагающие для лекции</a:t>
            </a:r>
            <a:endParaRPr/>
          </a:p>
        </p:txBody>
      </p:sp>
      <p:sp>
        <p:nvSpPr>
          <p:cNvPr id="204" name="Google Shape;204;g2bc72da1a54_0_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05" name="Google Shape;205;g2bc72da1a54_0_23"/>
          <p:cNvSpPr txBox="1"/>
          <p:nvPr/>
        </p:nvSpPr>
        <p:spPr>
          <a:xfrm>
            <a:off x="992913" y="964850"/>
            <a:ext cx="7038900" cy="26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Столбов М.Б.</a:t>
            </a:r>
            <a:r>
              <a:rPr lang="ru-RU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Основы анализа и обработки речевых сигналов – СПб.: НИУ ИТМО, 2021. – 101 с. - Режим доступа: </a:t>
            </a:r>
            <a:r>
              <a:rPr lang="ru-RU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туть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С. Н. ПОЗДНЯКОВ, </a:t>
            </a:r>
            <a:r>
              <a:rPr lang="ru-RU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С. В. РЫБИН</a:t>
            </a:r>
            <a:r>
              <a:rPr lang="ru-RU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МАТЕМАТИЧЕСКИЕ МЕТОДЫ ЦИФРОВОЙ ОБРАБОТКИ СИГНАЛОВ - Учебное пособие - СПб.: ЛЭТИ, 2015, 61 с.</a:t>
            </a:r>
            <a:br>
              <a:rPr lang="ru-RU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ru-RU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- Режим доступа: </a:t>
            </a:r>
            <a:r>
              <a:rPr lang="ru-RU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туть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Матвеев Ю.Н.</a:t>
            </a:r>
            <a:r>
              <a:rPr lang="ru-RU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Симончик К.К., Тропченко А.Ю., Хитров М.В. ЦИФРОВАЯ ОБРАБОТКА СИГНАЛОВ Учебное пособие по дисциплине "Цифровая обработка сигналов". – СПб: СПбНИУ ИТМО, 2013. – 166 с. - Режим доступа: </a:t>
            </a:r>
            <a:r>
              <a:rPr lang="ru-RU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туть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6" name="Google Shape;206;g2bc72da1a54_0_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44476" y="3469270"/>
            <a:ext cx="1255387" cy="144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2bc72da1a54_0_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57785" y="3469272"/>
            <a:ext cx="1637644" cy="144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2bc72da1a54_0_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0988" y="3469275"/>
            <a:ext cx="1545573" cy="144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bc72da1a54_0_37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Спектральный анализ</a:t>
            </a:r>
            <a:endParaRPr/>
          </a:p>
        </p:txBody>
      </p:sp>
      <p:sp>
        <p:nvSpPr>
          <p:cNvPr id="214" name="Google Shape;214;g2bc72da1a54_0_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15" name="Google Shape;215;g2bc72da1a54_0_37"/>
          <p:cNvSpPr txBox="1"/>
          <p:nvPr/>
        </p:nvSpPr>
        <p:spPr>
          <a:xfrm>
            <a:off x="338575" y="1416275"/>
            <a:ext cx="84645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Сигнал</a:t>
            </a:r>
            <a:r>
              <a:rPr lang="ru-RU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– зависимость одной величины от другой (функция). Например, зависимость давления воздуха в точке от времени можно рассматривать как звуковой сигнал. Зависимость напряжения в проводнике от времени тоже может представлять звуковой сигнал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-RU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Частота в герцах</a:t>
            </a:r>
            <a:r>
              <a:rPr lang="ru-RU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(Гц) – это число повторяющихся событий периодического процесса в секунду. Например: Частота вращения f – это число циклов в секунду. Частота дискретизации сигнала Fs – это число отсчетов в секунду. Помимо герц, используются и другие единицы измерения частоты.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bc72da1a54_0_42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Спектральный анализ</a:t>
            </a:r>
            <a:endParaRPr/>
          </a:p>
        </p:txBody>
      </p:sp>
      <p:sp>
        <p:nvSpPr>
          <p:cNvPr id="221" name="Google Shape;221;g2bc72da1a54_0_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22" name="Google Shape;222;g2bc72da1a54_0_42"/>
          <p:cNvSpPr txBox="1"/>
          <p:nvPr/>
        </p:nvSpPr>
        <p:spPr>
          <a:xfrm>
            <a:off x="62700" y="882825"/>
            <a:ext cx="6485700" cy="3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lang="ru-RU">
                <a:solidFill>
                  <a:schemeClr val="dk1"/>
                </a:solidFill>
              </a:rPr>
              <a:t>Древнегреческие математики и физики, а также арабские ученые пытались понять, почему радуга состоит из множества прекрасных цветов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lang="ru-RU">
                <a:solidFill>
                  <a:schemeClr val="dk1"/>
                </a:solidFill>
              </a:rPr>
              <a:t>14 век, доминиканский монах Теодор из Фрайберга провел эксперимент с бутылкой воды на солнце и обнаружил первичную и вторичную радугу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lang="ru-RU">
                <a:solidFill>
                  <a:schemeClr val="dk1"/>
                </a:solidFill>
              </a:rPr>
              <a:t>17 век, Р. Декарт и И. Ньютон дали полное изложение того, как белый свет может быть разложен на множество цветов радуги (явление дисперсии света)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lang="ru-RU">
                <a:solidFill>
                  <a:schemeClr val="dk1"/>
                </a:solidFill>
              </a:rPr>
              <a:t>19 век, Ж. Фурье описал математически то, что Р. Декарт и И. Ньютон описали будучи физиками. Ж. Фурье предложил подход, с использованием которого можно разложить любую функцию с регулярным поведением в сумму гармонических компонент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lang="ru-RU">
                <a:solidFill>
                  <a:srgbClr val="00FF00"/>
                </a:solidFill>
              </a:rPr>
              <a:t>Спектр</a:t>
            </a:r>
            <a:r>
              <a:rPr lang="ru-RU">
                <a:solidFill>
                  <a:schemeClr val="dk1"/>
                </a:solidFill>
              </a:rPr>
              <a:t> – распределение энергии или другой физической величины по частотам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3" name="Google Shape;223;g2bc72da1a54_0_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9525" y="776200"/>
            <a:ext cx="2155725" cy="2087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2bc72da1a54_0_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375" y="2983678"/>
            <a:ext cx="2155725" cy="2037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bc72da1a54_0_0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Спектральный анализ</a:t>
            </a:r>
            <a:endParaRPr/>
          </a:p>
        </p:txBody>
      </p:sp>
      <p:sp>
        <p:nvSpPr>
          <p:cNvPr id="230" name="Google Shape;230;g2bc72da1a54_0_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31" name="Google Shape;231;g2bc72da1a54_0_0"/>
          <p:cNvSpPr txBox="1"/>
          <p:nvPr/>
        </p:nvSpPr>
        <p:spPr>
          <a:xfrm>
            <a:off x="663550" y="971100"/>
            <a:ext cx="7038900" cy="17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Спектральный анализ</a:t>
            </a:r>
            <a:r>
              <a:rPr lang="ru-RU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– это один из методов, который позволяет охарактеризовать частотный состав измеряемого сигнала и описать сигнал в спектральном пространстве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-RU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Преобразование Фурье</a:t>
            </a:r>
            <a:r>
              <a:rPr lang="ru-RU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(Fourier transform) – это разложение функций на синусоиды.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2" name="Google Shape;232;g2bc72da1a5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7501" y="2768900"/>
            <a:ext cx="3931600" cy="2211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2bc72da1a54_0_0"/>
          <p:cNvSpPr txBox="1"/>
          <p:nvPr/>
        </p:nvSpPr>
        <p:spPr>
          <a:xfrm>
            <a:off x="5400150" y="3674575"/>
            <a:ext cx="225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sng" cap="none" strike="noStrike">
                <a:solidFill>
                  <a:srgbClr val="7890CD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Визуализация</a:t>
            </a:r>
            <a:r>
              <a:rPr lang="ru-RU">
                <a:latin typeface="Lato"/>
                <a:ea typeface="Lato"/>
                <a:cs typeface="Lato"/>
                <a:sym typeface="Lato"/>
              </a:rPr>
              <a:t> 1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Визуализация</a:t>
            </a:r>
            <a:r>
              <a:rPr lang="ru-RU">
                <a:latin typeface="Lato"/>
                <a:ea typeface="Lato"/>
                <a:cs typeface="Lato"/>
                <a:sym typeface="Lato"/>
              </a:rPr>
              <a:t> 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bc72da1a54_0_54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Дискретное преобразование Фурье</a:t>
            </a:r>
            <a:endParaRPr/>
          </a:p>
        </p:txBody>
      </p:sp>
      <p:sp>
        <p:nvSpPr>
          <p:cNvPr id="239" name="Google Shape;239;g2bc72da1a54_0_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0" name="Google Shape;240;g2bc72da1a54_0_54"/>
          <p:cNvSpPr txBox="1"/>
          <p:nvPr/>
        </p:nvSpPr>
        <p:spPr>
          <a:xfrm>
            <a:off x="302550" y="1203975"/>
            <a:ext cx="7967400" cy="11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Периодический дискретный сигнал можно разложить </a:t>
            </a:r>
            <a:r>
              <a:rPr b="1" lang="ru-RU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в конечный ряд Фурье</a:t>
            </a:r>
            <a:r>
              <a:rPr lang="ru-RU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x[i] → X[n].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Это делается с помощью </a:t>
            </a:r>
            <a:r>
              <a:rPr b="1" lang="ru-RU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Дискретного преобразования Фурье</a:t>
            </a:r>
            <a:r>
              <a:rPr lang="ru-RU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(ДПФ).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41" name="Google Shape;241;g2bc72da1a54_0_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8713" y="2472875"/>
            <a:ext cx="7296475" cy="2059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bc72da1a54_0_59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Дискретное преобразование Фурье</a:t>
            </a:r>
            <a:endParaRPr/>
          </a:p>
        </p:txBody>
      </p:sp>
      <p:sp>
        <p:nvSpPr>
          <p:cNvPr id="247" name="Google Shape;247;g2bc72da1a54_0_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48" name="Google Shape;248;g2bc72da1a54_0_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1" y="858200"/>
            <a:ext cx="6071911" cy="17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g2bc72da1a54_0_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100" y="2596123"/>
            <a:ext cx="7667100" cy="249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bc72da1a54_0_64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Дискретное преобразование Фурье</a:t>
            </a:r>
            <a:endParaRPr/>
          </a:p>
        </p:txBody>
      </p:sp>
      <p:sp>
        <p:nvSpPr>
          <p:cNvPr id="255" name="Google Shape;255;g2bc72da1a54_0_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56" name="Google Shape;256;g2bc72da1a54_0_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7725" y="893500"/>
            <a:ext cx="6648550" cy="399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bc72da1a54_0_69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Дискретное преобразование Фурье</a:t>
            </a:r>
            <a:endParaRPr/>
          </a:p>
        </p:txBody>
      </p:sp>
      <p:sp>
        <p:nvSpPr>
          <p:cNvPr id="262" name="Google Shape;262;g2bc72da1a54_0_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63" name="Google Shape;263;g2bc72da1a54_0_69"/>
          <p:cNvPicPr preferRelativeResize="0"/>
          <p:nvPr/>
        </p:nvPicPr>
        <p:blipFill rotWithShape="1">
          <a:blip r:embed="rId3">
            <a:alphaModFix/>
          </a:blip>
          <a:srcRect b="0" l="0" r="0" t="3203"/>
          <a:stretch/>
        </p:blipFill>
        <p:spPr>
          <a:xfrm>
            <a:off x="1215850" y="1101425"/>
            <a:ext cx="7293925" cy="382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bc72da1a54_0_74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Дискретное преобразование Фурье</a:t>
            </a:r>
            <a:endParaRPr/>
          </a:p>
        </p:txBody>
      </p:sp>
      <p:sp>
        <p:nvSpPr>
          <p:cNvPr id="269" name="Google Shape;269;g2bc72da1a54_0_7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70" name="Google Shape;270;g2bc72da1a54_0_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375" y="1374700"/>
            <a:ext cx="7677150" cy="305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bc72da1a54_0_79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Дискретное преобразование Фурье</a:t>
            </a:r>
            <a:endParaRPr/>
          </a:p>
        </p:txBody>
      </p:sp>
      <p:sp>
        <p:nvSpPr>
          <p:cNvPr id="276" name="Google Shape;276;g2bc72da1a54_0_7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77" name="Google Shape;277;g2bc72da1a54_0_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2550" y="965675"/>
            <a:ext cx="7038900" cy="3973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bc72da1a54_0_84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Дискретное преобразование Фурье</a:t>
            </a:r>
            <a:endParaRPr/>
          </a:p>
        </p:txBody>
      </p:sp>
      <p:sp>
        <p:nvSpPr>
          <p:cNvPr id="283" name="Google Shape;283;g2bc72da1a54_0_8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84" name="Google Shape;284;g2bc72da1a54_0_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25" y="1008400"/>
            <a:ext cx="3826650" cy="315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g2bc72da1a54_0_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08525" y="2508200"/>
            <a:ext cx="5135476" cy="263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bc72da1a54_0_102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Дискретное преобразование Фурье</a:t>
            </a:r>
            <a:endParaRPr/>
          </a:p>
        </p:txBody>
      </p:sp>
      <p:sp>
        <p:nvSpPr>
          <p:cNvPr id="291" name="Google Shape;291;g2bc72da1a54_0_10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2" name="Google Shape;292;g2bc72da1a54_0_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25" y="1307850"/>
            <a:ext cx="3697076" cy="35308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2bc72da1a54_0_102"/>
          <p:cNvSpPr txBox="1"/>
          <p:nvPr/>
        </p:nvSpPr>
        <p:spPr>
          <a:xfrm>
            <a:off x="4246050" y="905200"/>
            <a:ext cx="46092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Мы можем говорить о характеристиках спектра данного музыкального звука и рассматривать </a:t>
            </a:r>
            <a:r>
              <a:rPr b="1" i="0" lang="ru-RU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макроструктуру</a:t>
            </a:r>
            <a:r>
              <a:rPr b="0" i="0" lang="ru-RU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этого спектра, т.е. его огибающую спектра с характерными подъемами и спадами, и </a:t>
            </a:r>
            <a:r>
              <a:rPr b="1" i="0" lang="ru-RU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микроструктуру</a:t>
            </a:r>
            <a:r>
              <a:rPr b="0" i="0" lang="ru-RU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- систему гармоник (обертонов).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Гармоники продуцируются звучащим телом инструмента (струна, столб звука), их размещение в спектре задается </a:t>
            </a:r>
            <a:r>
              <a:rPr b="1" i="0" lang="ru-RU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только высотой звука</a:t>
            </a:r>
            <a:r>
              <a:rPr b="0" i="0" lang="ru-RU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 Вид огибающей спектра определяется совместным действием ряда причин - способа звукоизвлечения, конструкцией корпуса инструмента, ее АЧХ передачи, а также характеристиками звукозаписывающей аппаратуры. [*]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7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[*] Харуто Александр Витальевич, </a:t>
            </a:r>
            <a:r>
              <a:rPr b="0" i="0" lang="ru-RU" sz="7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Музыкальная информатика</a:t>
            </a:r>
            <a:r>
              <a:rPr b="0" i="0" lang="ru-RU" sz="7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Теоретические основы: Учебное пособие. — М.: Издательство ЛКИ, 2009 — 400 с.</a:t>
            </a:r>
            <a:endParaRPr b="0" i="0" sz="7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bc72da1a54_0_107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Оконное преобразование Фурье</a:t>
            </a:r>
            <a:endParaRPr/>
          </a:p>
        </p:txBody>
      </p:sp>
      <p:sp>
        <p:nvSpPr>
          <p:cNvPr id="299" name="Google Shape;299;g2bc72da1a54_0_10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00" name="Google Shape;300;g2bc72da1a54_0_107"/>
          <p:cNvSpPr txBox="1"/>
          <p:nvPr/>
        </p:nvSpPr>
        <p:spPr>
          <a:xfrm>
            <a:off x="954175" y="1046425"/>
            <a:ext cx="6865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Основная идея оконного преобразования Фурье состоит в следующем: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взять маленькие кусочки длины из некоторого сигнала длины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вычислить дискретное преобразование Фурье каждого кусочка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g2bc72da1a54_0_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450" y="1877725"/>
            <a:ext cx="6303074" cy="146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2bc72da1a54_0_107"/>
          <p:cNvSpPr txBox="1"/>
          <p:nvPr/>
        </p:nvSpPr>
        <p:spPr>
          <a:xfrm>
            <a:off x="937700" y="3342225"/>
            <a:ext cx="7555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chemeClr val="dk1"/>
                </a:solidFill>
              </a:rPr>
              <a:t>Выбор размера окна</a:t>
            </a: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идеальный случай, когда мы знаем сколько длится событие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chemeClr val="dk1"/>
                </a:solidFill>
              </a:rPr>
              <a:t>Выбор наложения окон</a:t>
            </a: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Цель - хотя бы в одном из наложений событие будет целиком и не обрезанное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chemeClr val="dk1"/>
                </a:solidFill>
              </a:rPr>
              <a:t>Выбор окна</a:t>
            </a: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Хэмминга, …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bc72da1a54_0_152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Оконное преобразование Фурье</a:t>
            </a:r>
            <a:endParaRPr/>
          </a:p>
        </p:txBody>
      </p:sp>
      <p:sp>
        <p:nvSpPr>
          <p:cNvPr id="308" name="Google Shape;308;g2bc72da1a54_0_1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09" name="Google Shape;309;g2bc72da1a54_0_1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460250"/>
            <a:ext cx="8774666" cy="3050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bc72da1a54_0_131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Оконное преобразование Фурье</a:t>
            </a:r>
            <a:endParaRPr/>
          </a:p>
        </p:txBody>
      </p:sp>
      <p:sp>
        <p:nvSpPr>
          <p:cNvPr id="315" name="Google Shape;315;g2bc72da1a54_0_1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16" name="Google Shape;316;g2bc72da1a54_0_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7350" y="906775"/>
            <a:ext cx="7369474" cy="1990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g2bc72da1a54_0_1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350" y="2969815"/>
            <a:ext cx="7369466" cy="1990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bc72da1a54_0_126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Оконное преобразование Фурье</a:t>
            </a:r>
            <a:endParaRPr/>
          </a:p>
        </p:txBody>
      </p:sp>
      <p:sp>
        <p:nvSpPr>
          <p:cNvPr id="323" name="Google Shape;323;g2bc72da1a54_0_1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24" name="Google Shape;324;g2bc72da1a54_0_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9625" y="1065402"/>
            <a:ext cx="2892575" cy="182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g2bc72da1a54_0_1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700" y="3015877"/>
            <a:ext cx="7931375" cy="207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bc72da1a54_0_144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Оконное преобразование Фурье</a:t>
            </a:r>
            <a:endParaRPr/>
          </a:p>
        </p:txBody>
      </p:sp>
      <p:sp>
        <p:nvSpPr>
          <p:cNvPr id="331" name="Google Shape;331;g2bc72da1a54_0_1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32" name="Google Shape;332;g2bc72da1a54_0_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123" y="1199799"/>
            <a:ext cx="7917751" cy="302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bc72da1a54_0_159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Оконное преобразование Фурье</a:t>
            </a:r>
            <a:endParaRPr/>
          </a:p>
        </p:txBody>
      </p:sp>
      <p:sp>
        <p:nvSpPr>
          <p:cNvPr id="338" name="Google Shape;338;g2bc72da1a54_0_1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39" name="Google Shape;339;g2bc72da1a54_0_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1525" y="968350"/>
            <a:ext cx="5162476" cy="189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g2bc72da1a54_0_1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2939650"/>
            <a:ext cx="5429527" cy="205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bc72da1a54_0_165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8518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Спектрограммы</a:t>
            </a:r>
            <a:endParaRPr/>
          </a:p>
        </p:txBody>
      </p:sp>
      <p:sp>
        <p:nvSpPr>
          <p:cNvPr id="346" name="Google Shape;346;g2bc72da1a54_0_1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47" name="Google Shape;347;g2bc72da1a54_0_165"/>
          <p:cNvSpPr txBox="1"/>
          <p:nvPr/>
        </p:nvSpPr>
        <p:spPr>
          <a:xfrm>
            <a:off x="1152600" y="2391650"/>
            <a:ext cx="6757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u="sng">
                <a:solidFill>
                  <a:schemeClr val="hlink"/>
                </a:solidFill>
                <a:hlinkClick r:id="rId3"/>
              </a:rPr>
              <a:t>https://musiclab.chromeexperiments.com/</a:t>
            </a:r>
            <a:r>
              <a:rPr lang="ru-RU" sz="2700"/>
              <a:t> </a:t>
            </a:r>
            <a:endParaRPr sz="27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bc7a8ec097_49_3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Спектрограммы</a:t>
            </a:r>
            <a:endParaRPr/>
          </a:p>
        </p:txBody>
      </p:sp>
      <p:sp>
        <p:nvSpPr>
          <p:cNvPr id="353" name="Google Shape;353;g2bc7a8ec097_49_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54" name="Google Shape;354;g2bc7a8ec097_49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550" y="1397025"/>
            <a:ext cx="3672450" cy="3266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g2bc7a8ec097_49_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8775" y="1397025"/>
            <a:ext cx="3607625" cy="3266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bc7a8ec097_49_9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Мел-</a:t>
            </a: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Спектрограммы</a:t>
            </a:r>
            <a:endParaRPr/>
          </a:p>
        </p:txBody>
      </p:sp>
      <p:sp>
        <p:nvSpPr>
          <p:cNvPr id="361" name="Google Shape;361;g2bc7a8ec097_49_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62" name="Google Shape;362;g2bc7a8ec097_49_9"/>
          <p:cNvSpPr txBox="1"/>
          <p:nvPr/>
        </p:nvSpPr>
        <p:spPr>
          <a:xfrm>
            <a:off x="1240425" y="1101425"/>
            <a:ext cx="7335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Эксперименты ученых показали, что человеческое ухо более чувствительно к изменениям звука на низких частотах, чем на высоких. То есть, если частота звука изменится со 100 Гц на 120 Гц, человек с очень высокой вероятностью заметит это изменение. А вот если частота изменится с 10000 Гц на 10020 Гц, это изменение мы вряд ли сможем уловить.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3" name="Google Shape;363;g2bc7a8ec097_49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2600" y="2526600"/>
            <a:ext cx="3728698" cy="247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bc72da1a54_0_170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Мел-Спектрограммы</a:t>
            </a:r>
            <a:endParaRPr/>
          </a:p>
        </p:txBody>
      </p:sp>
      <p:sp>
        <p:nvSpPr>
          <p:cNvPr id="369" name="Google Shape;369;g2bc72da1a54_0_1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70" name="Google Shape;370;g2bc72da1a54_0_170"/>
          <p:cNvSpPr txBox="1"/>
          <p:nvPr/>
        </p:nvSpPr>
        <p:spPr>
          <a:xfrm>
            <a:off x="1297500" y="1005175"/>
            <a:ext cx="726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chemeClr val="dk1"/>
                </a:solidFill>
              </a:rPr>
              <a:t>Мел-спектрограмма</a:t>
            </a: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это обычная спектрограмма, где частота выражена не в Гц, а в мелах. Переход к мелам осуществляется с помощью применения мел-фильтров к исходной спектрограмме. Мел-фильтры представляют из себя треугольные функции, равномерно распределенные на мел-шкале.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1" name="Google Shape;371;g2bc72da1a54_0_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750" y="2051875"/>
            <a:ext cx="4078574" cy="137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g2bc72da1a54_0_1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7750" y="3482025"/>
            <a:ext cx="4765825" cy="157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2bc7a8ec097_49_21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Мел-Спектрограммы</a:t>
            </a:r>
            <a:endParaRPr/>
          </a:p>
        </p:txBody>
      </p:sp>
      <p:sp>
        <p:nvSpPr>
          <p:cNvPr id="378" name="Google Shape;378;g2bc7a8ec097_49_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79" name="Google Shape;379;g2bc7a8ec097_49_21"/>
          <p:cNvSpPr txBox="1"/>
          <p:nvPr/>
        </p:nvSpPr>
        <p:spPr>
          <a:xfrm>
            <a:off x="1297500" y="1005175"/>
            <a:ext cx="726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chemeClr val="dk1"/>
                </a:solidFill>
              </a:rPr>
              <a:t>Мел-спектрограмма</a:t>
            </a: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это обычная спектрограмма, где частота выражена не в Гц, а в мелах. Переход к мелам осуществляется с помощью применения мел-фильтров к исходной спектрограмме. Мел-фильтры представляют из себя треугольные функции, равномерно распределенные на мел-шкале.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0" name="Google Shape;380;g2bc7a8ec097_49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750" y="2051875"/>
            <a:ext cx="4078574" cy="137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g2bc7a8ec097_49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7750" y="3482025"/>
            <a:ext cx="4765825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g2bc7a8ec097_49_21"/>
          <p:cNvSpPr txBox="1"/>
          <p:nvPr/>
        </p:nvSpPr>
        <p:spPr>
          <a:xfrm>
            <a:off x="0" y="3530675"/>
            <a:ext cx="3704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Каждый столбец исходной спектрограммы скалярно умножается на каждый мел-фильтр (размещенный на частотной шкале), после чего получается вектор чисел, по размеру равный количеству фильтров.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2bc7a8ec097_49_21"/>
          <p:cNvSpPr txBox="1"/>
          <p:nvPr/>
        </p:nvSpPr>
        <p:spPr>
          <a:xfrm>
            <a:off x="4479000" y="2108650"/>
            <a:ext cx="407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 результате таких преобразований значения из низких частот спектрограммы остаются практически неизменными на мел-спектре, а в высоких частотах происходит усреднение значений из более широкого диапазона.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bc72da1a54_0_175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Мел-Спектрограммы</a:t>
            </a:r>
            <a:endParaRPr/>
          </a:p>
        </p:txBody>
      </p:sp>
      <p:sp>
        <p:nvSpPr>
          <p:cNvPr id="389" name="Google Shape;389;g2bc72da1a54_0_1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90" name="Google Shape;390;g2bc72da1a54_0_1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1650" y="270763"/>
            <a:ext cx="3975225" cy="460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g2bc72da1a54_0_1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700" y="1909500"/>
            <a:ext cx="4616849" cy="28927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bc72da1a54_0_112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MFCC</a:t>
            </a:r>
            <a:endParaRPr/>
          </a:p>
        </p:txBody>
      </p:sp>
      <p:sp>
        <p:nvSpPr>
          <p:cNvPr id="397" name="Google Shape;397;g2bc72da1a54_0_1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98" name="Google Shape;398;g2bc72da1a54_0_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0125" y="833835"/>
            <a:ext cx="5599595" cy="400486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g2bc72da1a54_0_112"/>
          <p:cNvSpPr txBox="1"/>
          <p:nvPr/>
        </p:nvSpPr>
        <p:spPr>
          <a:xfrm>
            <a:off x="0" y="4769650"/>
            <a:ext cx="7837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Подробнее тут: practicalcryptography.com/miscellaneous/ </a:t>
            </a:r>
            <a:endParaRPr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bc72da1a54_0_117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MFCC</a:t>
            </a:r>
            <a:endParaRPr/>
          </a:p>
        </p:txBody>
      </p:sp>
      <p:sp>
        <p:nvSpPr>
          <p:cNvPr id="405" name="Google Shape;405;g2bc72da1a54_0_1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406" name="Google Shape;406;g2bc72da1a54_0_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50" y="1656760"/>
            <a:ext cx="8839200" cy="2891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bc7a8ec097_49_33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8518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Кросс-корреляция</a:t>
            </a:r>
            <a:endParaRPr/>
          </a:p>
        </p:txBody>
      </p:sp>
      <p:sp>
        <p:nvSpPr>
          <p:cNvPr id="412" name="Google Shape;412;g2bc7a8ec097_49_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413" name="Google Shape;413;g2bc7a8ec097_49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875" y="770175"/>
            <a:ext cx="4674151" cy="132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g2bc7a8ec097_49_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975" y="2090350"/>
            <a:ext cx="5959633" cy="305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bc847749b6_0_2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Кросс-корреляция</a:t>
            </a:r>
            <a:endParaRPr/>
          </a:p>
        </p:txBody>
      </p:sp>
      <p:sp>
        <p:nvSpPr>
          <p:cNvPr id="420" name="Google Shape;420;g2bc847749b6_0_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421" name="Google Shape;421;g2bc847749b6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86235"/>
            <a:ext cx="7878083" cy="4004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bc7a8ec097_49_38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8518"/>
              <a:buNone/>
            </a:pPr>
            <a:r>
              <a:rPr b="0" lang="ru-RU" sz="2700">
                <a:latin typeface="Golos Text"/>
                <a:ea typeface="Golos Text"/>
                <a:cs typeface="Golos Text"/>
                <a:sym typeface="Golos Text"/>
              </a:rPr>
              <a:t>Автокорреляция</a:t>
            </a:r>
            <a:endParaRPr/>
          </a:p>
        </p:txBody>
      </p:sp>
      <p:sp>
        <p:nvSpPr>
          <p:cNvPr id="427" name="Google Shape;427;g2bc7a8ec097_49_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descr="Supplementary material for the laboratory course in physiological signal processing&#10;&#10;The Signal and Image Processing Laboratory (SIPL)&#10;Andrew and Erna Viterbi Faculty of Electrical and Computer Engineering&#10;Technion – Israel Institute of Technology&#10;&#10;Follow this link to learn more: https://sipl.eelabs.technion.ac.il/" id="428" name="Google Shape;428;g2bc7a8ec097_49_38" title="A Visualization of the Autocorrelation Function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1075" y="1648475"/>
            <a:ext cx="6136500" cy="345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g2bc7a8ec097_49_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96775" y="783650"/>
            <a:ext cx="3988350" cy="66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2ba3d66f664_0_408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ЛР2. Monophonic Pitch Detection</a:t>
            </a:r>
            <a:endParaRPr/>
          </a:p>
        </p:txBody>
      </p:sp>
      <p:sp>
        <p:nvSpPr>
          <p:cNvPr id="436" name="Google Shape;436;g2ba3d66f664_0_40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37" name="Google Shape;437;g2ba3d66f664_0_408"/>
          <p:cNvSpPr txBox="1"/>
          <p:nvPr/>
        </p:nvSpPr>
        <p:spPr>
          <a:xfrm>
            <a:off x="296850" y="1160288"/>
            <a:ext cx="84231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Старт: </a:t>
            </a:r>
            <a:r>
              <a:rPr b="0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2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7</a:t>
            </a:r>
            <a:r>
              <a:rPr b="0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 февраля 2024</a:t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Дедлайн</a:t>
            </a:r>
            <a:r>
              <a:rPr b="0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: 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05</a:t>
            </a:r>
            <a:r>
              <a:rPr b="0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марта </a:t>
            </a:r>
            <a:r>
              <a:rPr b="0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2024</a:t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Ссылка на ЛР</a:t>
            </a:r>
            <a:r>
              <a:rPr b="0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:</a:t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u="sng">
                <a:solidFill>
                  <a:schemeClr val="hlink"/>
                </a:solidFill>
                <a:latin typeface="Golos Text"/>
                <a:ea typeface="Golos Text"/>
                <a:cs typeface="Golos Text"/>
                <a:sym typeface="Golos Text"/>
                <a:hlinkClick r:id="rId3"/>
              </a:rPr>
              <a:t>https://colab.research.google.com/drive/1AtRfncE5WdC0uGP0xWDL1MgcVY6_tSH-?usp=sharing</a:t>
            </a:r>
            <a:r>
              <a:rPr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Баллы</a:t>
            </a:r>
            <a:r>
              <a:rPr b="0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: 0 - 10</a:t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Количество человек</a:t>
            </a:r>
            <a:r>
              <a:rPr b="0" i="0" lang="ru-RU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: 1-2-3</a:t>
            </a:r>
            <a:endParaRPr b="0" i="0" sz="20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438" name="Google Shape;438;g2ba3d66f664_0_4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9871" y="3392925"/>
            <a:ext cx="2039975" cy="126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5"/>
          <p:cNvSpPr txBox="1"/>
          <p:nvPr>
            <p:ph type="title"/>
          </p:nvPr>
        </p:nvSpPr>
        <p:spPr>
          <a:xfrm>
            <a:off x="457200" y="1801813"/>
            <a:ext cx="8229600" cy="62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4400"/>
              <a:t>Спасибо</a:t>
            </a:r>
            <a:br>
              <a:rPr lang="ru-RU" sz="4400"/>
            </a:br>
            <a:r>
              <a:rPr lang="ru-RU" sz="4400"/>
              <a:t>за внимание!</a:t>
            </a:r>
            <a:endParaRPr sz="4400"/>
          </a:p>
        </p:txBody>
      </p:sp>
      <p:sp>
        <p:nvSpPr>
          <p:cNvPr id="444" name="Google Shape;444;p25"/>
          <p:cNvSpPr txBox="1"/>
          <p:nvPr/>
        </p:nvSpPr>
        <p:spPr>
          <a:xfrm>
            <a:off x="5606275" y="4158400"/>
            <a:ext cx="3499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</a:b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abrosimov.kirill.1999@mail.ru</a:t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45" name="Google Shape;445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2014-06-27T12:30:22Z</dcterms:created>
  <dc:creator>Al</dc:creator>
</cp:coreProperties>
</file>