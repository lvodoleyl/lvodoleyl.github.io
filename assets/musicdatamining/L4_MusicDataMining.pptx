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Golos Text"/>
      <p:regular r:id="rId33"/>
      <p:bold r:id="rId34"/>
    </p:embeddedFont>
    <p:embeddedFont>
      <p:font typeface="Golos Text SemiBold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jeV3j3mD+ikD3o332Rp795Ljja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GolosText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GolosTextSemiBold-regular.fntdata"/><Relationship Id="rId12" Type="http://schemas.openxmlformats.org/officeDocument/2006/relationships/slide" Target="slides/slide7.xml"/><Relationship Id="rId34" Type="http://schemas.openxmlformats.org/officeDocument/2006/relationships/font" Target="fonts/GolosText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GolosTextSemiBold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82c83c1f8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282c83c1f8c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bc72da1a5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2bc72da1a54_0_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0e88b713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2c0e88b713e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c0e88b71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2c0e88b713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c0e88b713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2c0e88b713e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c0e88b713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g2c0e88b713e_0_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c0e88b713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2c0e88b713e_0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c0e88b713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g2c0e88b713e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c0e88b713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2c0e88b713e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c0e88b713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g2c0e88b713e_0_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c0e88b713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g2c0e88b713e_0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c0e88b713e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g2c0e88b713e_0_1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c0e88b713e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g2c0e88b713e_0_2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c0e88b713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g2c0e88b713e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c0e88b713e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g2c0e88b713e_0_2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c0e88b713e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2c0e88b713e_0_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c0e88b713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g2c0e88b713e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c0e88b713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g2c0e88b713e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c0e88b713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g2c0e88b713e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c0e88b713e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g2c0e88b713e_0_2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c0e88b713e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g2c0e88b713e_0_3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c0e88b713e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g2c0e88b713e_0_4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c0e88b713e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g2c0e88b713e_0_3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c0e88b713e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3" name="Google Shape;513;g2c0e88b713e_0_4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ba3d66f664_0_4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g2ba3d66f664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3" name="Google Shape;523;g2ba3d66f664_0_4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" name="Google Shape;2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30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31" name="Google Shape;31;p30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32" name="Google Shape;32;p30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33" name="Google Shape;33;p30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34" name="Google Shape;34;p30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  <p:sp>
        <p:nvSpPr>
          <p:cNvPr id="35" name="Google Shape;35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46" name="Google Shape;46;p3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3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9" name="Google Shape;59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5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6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36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74" name="Google Shape;74;p37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0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90" name="Google Shape;90;p40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1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5" name="Google Shape;95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2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42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42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42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105" name="Google Shape;105;p4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4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44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2" name="Google Shape;112;p44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3" name="Google Shape;113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5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45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45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4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6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46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46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46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5" name="Google Shape;125;p46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6" name="Google Shape;126;p4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6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8" name="Google Shape;128;p46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29" name="Google Shape;129;p46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30" name="Google Shape;130;p46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  <p:sp>
        <p:nvSpPr>
          <p:cNvPr id="131" name="Google Shape;131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7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47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6" name="Google Shape;136;p47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37" name="Google Shape;137;p47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8" name="Google Shape;138;p47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9" name="Google Shape;139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8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48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48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4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8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46" name="Google Shape;146;p48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47" name="Google Shape;147;p48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48" name="Google Shape;148;p48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48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48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48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52" name="Google Shape;152;p48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53" name="Google Shape;153;p48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  <p:sp>
        <p:nvSpPr>
          <p:cNvPr id="154" name="Google Shape;154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cp.jku.at/research/papers/Boeck_etal_ISMIR_2012.pdf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cp.jku.at/research/papers/Boeck_etal_ISMIR_2012.pdf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0.png"/><Relationship Id="rId4" Type="http://schemas.openxmlformats.org/officeDocument/2006/relationships/hyperlink" Target="https://colab.research.google.com/corgiredirector?site=https%3A%2F%2Fru.wikipedia.org%2Fwiki%2FBPM_%28%25D0%25BC%25D1%2583%25D0%25B7%25D1%258B%25D0%25BA%25D0%25B0%29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researchgate.net/publication/200806034_Tempo_and_Beat_Estimation_of_Musical_Signals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hyperlink" Target="https://arxiv.org/pdf/1902.00956.pdf" TargetMode="External"/><Relationship Id="rId5" Type="http://schemas.openxmlformats.org/officeDocument/2006/relationships/image" Target="../media/image21.png"/><Relationship Id="rId6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png"/><Relationship Id="rId4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ink.library.smu.edu.sg/cgi/viewcontent.cgi?article=1778&amp;context=sis_research" TargetMode="External"/><Relationship Id="rId4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Relationship Id="rId4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1.png"/><Relationship Id="rId4" Type="http://schemas.openxmlformats.org/officeDocument/2006/relationships/image" Target="../media/image5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6.png"/><Relationship Id="rId4" Type="http://schemas.openxmlformats.org/officeDocument/2006/relationships/image" Target="../media/image5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5.png"/><Relationship Id="rId4" Type="http://schemas.openxmlformats.org/officeDocument/2006/relationships/image" Target="../media/image5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2.png"/><Relationship Id="rId4" Type="http://schemas.openxmlformats.org/officeDocument/2006/relationships/image" Target="../media/image47.png"/><Relationship Id="rId5" Type="http://schemas.openxmlformats.org/officeDocument/2006/relationships/hyperlink" Target="https://nabeshinabe.github.io/PianoToBrassBand_nabeoka/demo.html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books.ifmo.ru/file/pdf/1925.pdf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books.ifmo.ru/file/pdf/1925.pdf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books.ifmo.ru/file/pdf/1925.pdf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Relationship Id="rId4" Type="http://schemas.openxmlformats.org/officeDocument/2006/relationships/hyperlink" Target="https://arxiv.org/pdf/1905.09263.pdf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Relationship Id="rId4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arxiv.org/pdf/2006.06261.pdf" TargetMode="External"/><Relationship Id="rId4" Type="http://schemas.openxmlformats.org/officeDocument/2006/relationships/image" Target="../media/image38.png"/><Relationship Id="rId5" Type="http://schemas.openxmlformats.org/officeDocument/2006/relationships/image" Target="../media/image4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colab.research.google.com/drive/1HL3_7u7IlPg6PIJgGZasQGsLD5xSR8fu?usp=sharing" TargetMode="External"/><Relationship Id="rId4" Type="http://schemas.openxmlformats.org/officeDocument/2006/relationships/image" Target="../media/image4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>
            <p:ph type="title"/>
          </p:nvPr>
        </p:nvSpPr>
        <p:spPr>
          <a:xfrm>
            <a:off x="679879" y="1902925"/>
            <a:ext cx="77724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Введение а </a:t>
            </a:r>
            <a:b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вычислительное музыковедение:</a:t>
            </a:r>
            <a:b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Модели и методы Music Data Mining </a:t>
            </a:r>
            <a:endParaRPr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/>
          <p:nvPr>
            <p:ph type="title"/>
          </p:nvPr>
        </p:nvSpPr>
        <p:spPr>
          <a:xfrm>
            <a:off x="672675" y="1836975"/>
            <a:ext cx="77724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Введение в </a:t>
            </a:r>
            <a:b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вычислительное музыковедение: </a:t>
            </a:r>
            <a:b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Модели и методы Music Data Mining</a:t>
            </a:r>
            <a:endParaRPr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2" name="Google Shape;162;p1"/>
          <p:cNvSpPr txBox="1"/>
          <p:nvPr/>
        </p:nvSpPr>
        <p:spPr>
          <a:xfrm>
            <a:off x="2852500" y="4545575"/>
            <a:ext cx="34992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Абросимов Кирилл</a:t>
            </a:r>
            <a:b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abrosimov.kirill.1999@mail.ru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2125125" y="3579450"/>
            <a:ext cx="498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ru-RU" sz="2000">
                <a:solidFill>
                  <a:srgbClr val="FFFF00"/>
                </a:solidFill>
                <a:latin typeface="Golos Text"/>
                <a:ea typeface="Golos Text"/>
                <a:cs typeface="Golos Text"/>
                <a:sym typeface="Golos Text"/>
              </a:rPr>
              <a:t>MIR системы</a:t>
            </a:r>
            <a:endParaRPr b="1" i="0" sz="2000" u="none" cap="none" strike="noStrike">
              <a:solidFill>
                <a:srgbClr val="FFFF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82c83c1f8c_0_7"/>
          <p:cNvSpPr txBox="1"/>
          <p:nvPr>
            <p:ph type="title"/>
          </p:nvPr>
        </p:nvSpPr>
        <p:spPr>
          <a:xfrm>
            <a:off x="243401" y="306435"/>
            <a:ext cx="70383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69" name="Google Shape;169;g282c83c1f8c_0_7"/>
          <p:cNvSpPr txBox="1"/>
          <p:nvPr/>
        </p:nvSpPr>
        <p:spPr>
          <a:xfrm>
            <a:off x="325950" y="1329650"/>
            <a:ext cx="8492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Onset Detection</a:t>
            </a:r>
            <a:endParaRPr b="0" i="0" sz="2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Tempo Estimation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QBH and Pitch corrections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Задачи классификации в музыке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OMR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Автоматическая аранжировка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Синтез речи и певческого голоса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0" name="Google Shape;170;g282c83c1f8c_0_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bc72da1a54_0_15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Onset Detection</a:t>
            </a:r>
            <a:endParaRPr/>
          </a:p>
        </p:txBody>
      </p:sp>
      <p:sp>
        <p:nvSpPr>
          <p:cNvPr id="176" name="Google Shape;176;g2bc72da1a54_0_1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7" name="Google Shape;177;g2bc72da1a54_0_152"/>
          <p:cNvSpPr txBox="1"/>
          <p:nvPr/>
        </p:nvSpPr>
        <p:spPr>
          <a:xfrm>
            <a:off x="0" y="4777300"/>
            <a:ext cx="828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/>
              <a:t>Böck S., Krebs F., Schedl M. </a:t>
            </a:r>
            <a:r>
              <a:rPr lang="ru-RU" sz="1000" u="sng">
                <a:solidFill>
                  <a:schemeClr val="hlink"/>
                </a:solidFill>
                <a:hlinkClick r:id="rId3"/>
              </a:rPr>
              <a:t>Evaluating the Online Capabilities of Onset Detection Methods</a:t>
            </a:r>
            <a:r>
              <a:rPr lang="ru-RU" sz="1000"/>
              <a:t> //ISMIR. – 2012. – С. 49-54. </a:t>
            </a:r>
            <a:endParaRPr sz="1000"/>
          </a:p>
        </p:txBody>
      </p:sp>
      <p:pic>
        <p:nvPicPr>
          <p:cNvPr id="178" name="Google Shape;178;g2bc72da1a54_0_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600" y="899785"/>
            <a:ext cx="4851554" cy="3638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2bc72da1a54_0_1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4625" y="2851974"/>
            <a:ext cx="3832276" cy="14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2bc72da1a54_0_1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5359" y="1158000"/>
            <a:ext cx="3901540" cy="147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0e88b713e_0_3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Onset Detection</a:t>
            </a:r>
            <a:endParaRPr/>
          </a:p>
        </p:txBody>
      </p:sp>
      <p:sp>
        <p:nvSpPr>
          <p:cNvPr id="186" name="Google Shape;186;g2c0e88b713e_0_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7" name="Google Shape;187;g2c0e88b713e_0_37"/>
          <p:cNvSpPr txBox="1"/>
          <p:nvPr/>
        </p:nvSpPr>
        <p:spPr>
          <a:xfrm>
            <a:off x="0" y="4777300"/>
            <a:ext cx="828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/>
              <a:t>Böck S., Krebs F., Schedl M. </a:t>
            </a:r>
            <a:r>
              <a:rPr lang="ru-RU" sz="1000" u="sng">
                <a:solidFill>
                  <a:schemeClr val="hlink"/>
                </a:solidFill>
                <a:hlinkClick r:id="rId3"/>
              </a:rPr>
              <a:t>Evaluating the Online Capabilities of Onset Detection Methods</a:t>
            </a:r>
            <a:r>
              <a:rPr lang="ru-RU" sz="1000"/>
              <a:t> //ISMIR. – 2012. – С. 49-54. </a:t>
            </a:r>
            <a:endParaRPr sz="1000"/>
          </a:p>
        </p:txBody>
      </p:sp>
      <p:pic>
        <p:nvPicPr>
          <p:cNvPr id="188" name="Google Shape;188;g2c0e88b713e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622" y="803925"/>
            <a:ext cx="6095276" cy="115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2c0e88b713e_0_37"/>
          <p:cNvSpPr txBox="1"/>
          <p:nvPr/>
        </p:nvSpPr>
        <p:spPr>
          <a:xfrm>
            <a:off x="273750" y="1988250"/>
            <a:ext cx="3681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AutoNum type="arabicParenR"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Фильтрация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AutoNum type="arabicParenR"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Логарифмирование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0" name="Google Shape;190;g2c0e88b713e_0_37"/>
          <p:cNvSpPr txBox="1"/>
          <p:nvPr/>
        </p:nvSpPr>
        <p:spPr>
          <a:xfrm>
            <a:off x="2807950" y="2885013"/>
            <a:ext cx="14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/>
              <a:t>Spectral Flux</a:t>
            </a:r>
            <a:endParaRPr b="1"/>
          </a:p>
        </p:txBody>
      </p:sp>
      <p:pic>
        <p:nvPicPr>
          <p:cNvPr id="191" name="Google Shape;191;g2c0e88b713e_0_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7950" y="3704150"/>
            <a:ext cx="3298200" cy="74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2c0e88b713e_0_37"/>
          <p:cNvPicPr preferRelativeResize="0"/>
          <p:nvPr/>
        </p:nvPicPr>
        <p:blipFill rotWithShape="1">
          <a:blip r:embed="rId6">
            <a:alphaModFix/>
          </a:blip>
          <a:srcRect b="13434" l="0" r="0" t="0"/>
          <a:stretch/>
        </p:blipFill>
        <p:spPr>
          <a:xfrm>
            <a:off x="2807950" y="3395588"/>
            <a:ext cx="1184600" cy="3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2c0e88b713e_0_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52250" y="2137350"/>
            <a:ext cx="3800875" cy="95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2c0e88b713e_0_37"/>
          <p:cNvSpPr/>
          <p:nvPr/>
        </p:nvSpPr>
        <p:spPr>
          <a:xfrm>
            <a:off x="655550" y="1048850"/>
            <a:ext cx="633900" cy="2088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latin typeface="Golos Text"/>
                <a:ea typeface="Golos Text"/>
                <a:cs typeface="Golos Text"/>
                <a:sym typeface="Golos Text"/>
              </a:rPr>
              <a:t>STFT</a:t>
            </a:r>
            <a:endParaRPr sz="1200"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c0e88b713e_0_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Tempo Estimation</a:t>
            </a:r>
            <a:endParaRPr/>
          </a:p>
        </p:txBody>
      </p:sp>
      <p:sp>
        <p:nvSpPr>
          <p:cNvPr id="200" name="Google Shape;200;g2c0e88b713e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01" name="Google Shape;201;g2c0e88b713e_0_0"/>
          <p:cNvPicPr preferRelativeResize="0"/>
          <p:nvPr/>
        </p:nvPicPr>
        <p:blipFill rotWithShape="1">
          <a:blip r:embed="rId3">
            <a:alphaModFix/>
          </a:blip>
          <a:srcRect b="0" l="0" r="32894" t="0"/>
          <a:stretch/>
        </p:blipFill>
        <p:spPr>
          <a:xfrm>
            <a:off x="5178100" y="938813"/>
            <a:ext cx="3927374" cy="3413413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2c0e88b713e_0_0"/>
          <p:cNvSpPr txBox="1"/>
          <p:nvPr/>
        </p:nvSpPr>
        <p:spPr>
          <a:xfrm>
            <a:off x="72025" y="833825"/>
            <a:ext cx="5006700" cy="3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100" u="sng">
                <a:solidFill>
                  <a:schemeClr val="hlink"/>
                </a:solidFill>
                <a:hlinkClick r:id="rId4"/>
              </a:rPr>
              <a:t>BPM</a:t>
            </a:r>
            <a:r>
              <a:rPr lang="ru-RU" sz="1100">
                <a:solidFill>
                  <a:schemeClr val="dk1"/>
                </a:solidFill>
              </a:rPr>
              <a:t> (bpm, англ. beats per minute, удары в минуту) в музыке — показатель, определяющий скорость исполнения или воспроизведения композиции. BPM — это количество четвертных нот в минуту, например, 120 BPM означает, что в минуту играется 120 четвертных нот (следовательно, 2 четверти в секунду), или 120 четвертных ударов метронома в минуту.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100">
                <a:solidFill>
                  <a:schemeClr val="dk1"/>
                </a:solidFill>
              </a:rPr>
              <a:t>Большинство произведений исполняется, записывается и воспроизводится в диапазоне от 30 до 240 BPM, более точные границы находятся в зависимости от жанра. Однако необходимо заметить, что скорость произведения зависит и от длительностей нoт; таким образом, целая нота со скоростью 120 BPM звучит быстрее, чем тридцать вторая со скоростью 2 BPM; верно и обратное — мелодия, написанная целыми нотами со скоростью 120 BPM, звучит медленнее, чем мелодия, написанная тридцать вторыми нотами, со скоростью 4 BPM. Таким образом, показатель BPM является относительным и скорость композиций сравнивать по нему имеет смысл только в близких жанрах со сходной </a:t>
            </a:r>
            <a:r>
              <a:rPr lang="ru-RU" sz="1100">
                <a:solidFill>
                  <a:schemeClr val="dk1"/>
                </a:solidFill>
              </a:rPr>
              <a:t>договоренностью</a:t>
            </a:r>
            <a:r>
              <a:rPr lang="ru-RU" sz="1100">
                <a:solidFill>
                  <a:schemeClr val="dk1"/>
                </a:solidFill>
              </a:rPr>
              <a:t> об использовании длительностей нот.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c0e88b713e_0_6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Tempo Estimation</a:t>
            </a:r>
            <a:endParaRPr/>
          </a:p>
        </p:txBody>
      </p:sp>
      <p:sp>
        <p:nvSpPr>
          <p:cNvPr id="208" name="Google Shape;208;g2c0e88b713e_0_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9" name="Google Shape;209;g2c0e88b713e_0_60"/>
          <p:cNvSpPr txBox="1"/>
          <p:nvPr/>
        </p:nvSpPr>
        <p:spPr>
          <a:xfrm>
            <a:off x="0" y="4746550"/>
            <a:ext cx="873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3"/>
              </a:rPr>
              <a:t>https://www.researchgate.net/publication/200806034_Tempo_and_Beat_Estimation_of_Musical_Signals</a:t>
            </a:r>
            <a:r>
              <a:rPr lang="ru-RU"/>
              <a:t> </a:t>
            </a:r>
            <a:endParaRPr/>
          </a:p>
        </p:txBody>
      </p:sp>
      <p:pic>
        <p:nvPicPr>
          <p:cNvPr id="210" name="Google Shape;210;g2c0e88b713e_0_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225" y="928585"/>
            <a:ext cx="2749853" cy="360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2c0e88b713e_0_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1153" y="306435"/>
            <a:ext cx="3819525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2c0e88b713e_0_60"/>
          <p:cNvSpPr txBox="1"/>
          <p:nvPr/>
        </p:nvSpPr>
        <p:spPr>
          <a:xfrm>
            <a:off x="3285125" y="2499725"/>
            <a:ext cx="5633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Чтобы найти расчетный темп T, анализируется lags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трех самых больших пиков r(t) и выполняется поиск зависимости кратности между ними. В случае, если связь не найдена, в качестве периода такта берется lag самого большого пика.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c0e88b713e_0_6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Query-by-humming systems</a:t>
            </a:r>
            <a:endParaRPr/>
          </a:p>
        </p:txBody>
      </p:sp>
      <p:sp>
        <p:nvSpPr>
          <p:cNvPr id="218" name="Google Shape;218;g2c0e88b713e_0_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19" name="Google Shape;219;g2c0e88b713e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6235"/>
            <a:ext cx="8705850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c0e88b713e_0_8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Query-by-humming systems</a:t>
            </a:r>
            <a:endParaRPr/>
          </a:p>
        </p:txBody>
      </p:sp>
      <p:sp>
        <p:nvSpPr>
          <p:cNvPr id="225" name="Google Shape;225;g2c0e88b713e_0_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26" name="Google Shape;226;g2c0e88b713e_0_80"/>
          <p:cNvSpPr txBox="1"/>
          <p:nvPr/>
        </p:nvSpPr>
        <p:spPr>
          <a:xfrm>
            <a:off x="0" y="4689650"/>
            <a:ext cx="713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https://cs.brown.edu/courses/cs295-11/2007/humming.pdf</a:t>
            </a:r>
            <a:endParaRPr/>
          </a:p>
        </p:txBody>
      </p:sp>
      <p:pic>
        <p:nvPicPr>
          <p:cNvPr id="227" name="Google Shape;227;g2c0e88b713e_0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4198"/>
            <a:ext cx="4844126" cy="177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2c0e88b713e_0_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700" y="2687029"/>
            <a:ext cx="1972375" cy="202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2c0e88b713e_0_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96075" y="1900588"/>
            <a:ext cx="4975901" cy="2487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c0e88b713e_0_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Autotuner: Pitch Correction</a:t>
            </a:r>
            <a:endParaRPr/>
          </a:p>
        </p:txBody>
      </p:sp>
      <p:sp>
        <p:nvSpPr>
          <p:cNvPr id="235" name="Google Shape;235;g2c0e88b713e_0_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36" name="Google Shape;236;g2c0e88b713e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2575" y="943326"/>
            <a:ext cx="3502899" cy="357339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2c0e88b713e_0_5"/>
          <p:cNvSpPr txBox="1"/>
          <p:nvPr/>
        </p:nvSpPr>
        <p:spPr>
          <a:xfrm>
            <a:off x="36025" y="47465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4"/>
              </a:rPr>
              <a:t>https://arxiv.org/pdf/1902.00956.pdf</a:t>
            </a:r>
            <a:r>
              <a:rPr lang="ru-RU"/>
              <a:t> </a:t>
            </a:r>
            <a:endParaRPr/>
          </a:p>
        </p:txBody>
      </p:sp>
      <p:pic>
        <p:nvPicPr>
          <p:cNvPr id="238" name="Google Shape;238;g2c0e88b713e_0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475" y="906775"/>
            <a:ext cx="5192425" cy="149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2c0e88b713e_0_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875" y="2557475"/>
            <a:ext cx="4505325" cy="18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c0e88b713e_0_1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Задачи классификации в музыке</a:t>
            </a:r>
            <a:endParaRPr/>
          </a:p>
        </p:txBody>
      </p:sp>
      <p:sp>
        <p:nvSpPr>
          <p:cNvPr id="245" name="Google Shape;245;g2c0e88b713e_0_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6" name="Google Shape;246;g2c0e88b713e_0_10"/>
          <p:cNvSpPr txBox="1"/>
          <p:nvPr/>
        </p:nvSpPr>
        <p:spPr>
          <a:xfrm>
            <a:off x="0" y="4777300"/>
            <a:ext cx="669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/>
              <a:t>Li T., Ogihara M., Tzanetakis G. (ed.). Music data mining. – CRC Press, 2018 (3rd).</a:t>
            </a:r>
            <a:endParaRPr sz="1000"/>
          </a:p>
        </p:txBody>
      </p:sp>
      <p:pic>
        <p:nvPicPr>
          <p:cNvPr id="247" name="Google Shape;247;g2c0e88b713e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25" y="986512"/>
            <a:ext cx="4157399" cy="31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2c0e88b713e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1725" y="986226"/>
            <a:ext cx="4639875" cy="286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c0e88b713e_0_103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Задачи классификации в музыке</a:t>
            </a:r>
            <a:endParaRPr/>
          </a:p>
        </p:txBody>
      </p:sp>
      <p:sp>
        <p:nvSpPr>
          <p:cNvPr id="254" name="Google Shape;254;g2c0e88b713e_0_10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5" name="Google Shape;255;g2c0e88b713e_0_103"/>
          <p:cNvSpPr txBox="1"/>
          <p:nvPr/>
        </p:nvSpPr>
        <p:spPr>
          <a:xfrm>
            <a:off x="0" y="4749850"/>
            <a:ext cx="719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/>
              <a:t>Kim Y. E. et al. Music emotion recognition: A state of the art review //Proc. ismir. – 2010. – Т. 86. – С. 937-952.</a:t>
            </a:r>
            <a:endParaRPr sz="1000"/>
          </a:p>
        </p:txBody>
      </p:sp>
      <p:pic>
        <p:nvPicPr>
          <p:cNvPr id="256" name="Google Shape;256;g2c0e88b713e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75" y="798929"/>
            <a:ext cx="4926274" cy="18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2c0e88b713e_0_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8375" y="928600"/>
            <a:ext cx="3276600" cy="229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2c0e88b713e_0_103"/>
          <p:cNvSpPr txBox="1"/>
          <p:nvPr/>
        </p:nvSpPr>
        <p:spPr>
          <a:xfrm>
            <a:off x="5594225" y="528400"/>
            <a:ext cx="143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Russell model</a:t>
            </a:r>
            <a:endParaRPr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9" name="Google Shape;259;g2c0e88b713e_0_103"/>
          <p:cNvSpPr txBox="1"/>
          <p:nvPr/>
        </p:nvSpPr>
        <p:spPr>
          <a:xfrm>
            <a:off x="116375" y="2651000"/>
            <a:ext cx="274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Многомодальные системы:</a:t>
            </a:r>
            <a:endParaRPr sz="1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60" name="Google Shape;260;g2c0e88b713e_0_103"/>
          <p:cNvSpPr/>
          <p:nvPr/>
        </p:nvSpPr>
        <p:spPr>
          <a:xfrm>
            <a:off x="180075" y="3223775"/>
            <a:ext cx="756300" cy="3387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Audio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61" name="Google Shape;261;g2c0e88b713e_0_103"/>
          <p:cNvSpPr/>
          <p:nvPr/>
        </p:nvSpPr>
        <p:spPr>
          <a:xfrm>
            <a:off x="180075" y="3645175"/>
            <a:ext cx="756300" cy="3387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MIDI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62" name="Google Shape;262;g2c0e88b713e_0_103"/>
          <p:cNvSpPr/>
          <p:nvPr/>
        </p:nvSpPr>
        <p:spPr>
          <a:xfrm>
            <a:off x="180075" y="4066575"/>
            <a:ext cx="756300" cy="3387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Lyric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63" name="Google Shape;263;g2c0e88b713e_0_103"/>
          <p:cNvSpPr/>
          <p:nvPr/>
        </p:nvSpPr>
        <p:spPr>
          <a:xfrm>
            <a:off x="1326575" y="3465188"/>
            <a:ext cx="618600" cy="2388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64" name="Google Shape;264;g2c0e88b713e_0_103"/>
          <p:cNvSpPr/>
          <p:nvPr/>
        </p:nvSpPr>
        <p:spPr>
          <a:xfrm>
            <a:off x="1326575" y="3710425"/>
            <a:ext cx="618600" cy="2388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65" name="Google Shape;265;g2c0e88b713e_0_103"/>
          <p:cNvSpPr/>
          <p:nvPr/>
        </p:nvSpPr>
        <p:spPr>
          <a:xfrm>
            <a:off x="1326575" y="3955650"/>
            <a:ext cx="618600" cy="2388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266" name="Google Shape;266;g2c0e88b713e_0_103"/>
          <p:cNvCxnSpPr>
            <a:stCxn id="260" idx="3"/>
            <a:endCxn id="263" idx="1"/>
          </p:cNvCxnSpPr>
          <p:nvPr/>
        </p:nvCxnSpPr>
        <p:spPr>
          <a:xfrm>
            <a:off x="936375" y="3393125"/>
            <a:ext cx="390300" cy="1914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g2c0e88b713e_0_103"/>
          <p:cNvCxnSpPr>
            <a:stCxn id="262" idx="3"/>
            <a:endCxn id="265" idx="1"/>
          </p:cNvCxnSpPr>
          <p:nvPr/>
        </p:nvCxnSpPr>
        <p:spPr>
          <a:xfrm flipH="1" rot="10800000">
            <a:off x="936375" y="4075125"/>
            <a:ext cx="390300" cy="1608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g2c0e88b713e_0_103"/>
          <p:cNvCxnSpPr>
            <a:endCxn id="264" idx="1"/>
          </p:cNvCxnSpPr>
          <p:nvPr/>
        </p:nvCxnSpPr>
        <p:spPr>
          <a:xfrm>
            <a:off x="936275" y="3814525"/>
            <a:ext cx="390300" cy="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g2c0e88b713e_0_103"/>
          <p:cNvSpPr/>
          <p:nvPr/>
        </p:nvSpPr>
        <p:spPr>
          <a:xfrm>
            <a:off x="2189950" y="3465200"/>
            <a:ext cx="806700" cy="7290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Model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270" name="Google Shape;270;g2c0e88b713e_0_103"/>
          <p:cNvCxnSpPr>
            <a:stCxn id="264" idx="3"/>
            <a:endCxn id="269" idx="1"/>
          </p:cNvCxnSpPr>
          <p:nvPr/>
        </p:nvCxnSpPr>
        <p:spPr>
          <a:xfrm>
            <a:off x="1945175" y="3829825"/>
            <a:ext cx="24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g2c0e88b713e_0_103"/>
          <p:cNvSpPr/>
          <p:nvPr/>
        </p:nvSpPr>
        <p:spPr>
          <a:xfrm>
            <a:off x="3552575" y="3223775"/>
            <a:ext cx="756300" cy="3387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Audio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72" name="Google Shape;272;g2c0e88b713e_0_103"/>
          <p:cNvSpPr/>
          <p:nvPr/>
        </p:nvSpPr>
        <p:spPr>
          <a:xfrm>
            <a:off x="3552575" y="3645175"/>
            <a:ext cx="756300" cy="3387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MIDI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73" name="Google Shape;273;g2c0e88b713e_0_103"/>
          <p:cNvSpPr/>
          <p:nvPr/>
        </p:nvSpPr>
        <p:spPr>
          <a:xfrm>
            <a:off x="3552575" y="4066575"/>
            <a:ext cx="756300" cy="3387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Lyric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74" name="Google Shape;274;g2c0e88b713e_0_103"/>
          <p:cNvSpPr/>
          <p:nvPr/>
        </p:nvSpPr>
        <p:spPr>
          <a:xfrm>
            <a:off x="4460275" y="3221975"/>
            <a:ext cx="806700" cy="3387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Model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75" name="Google Shape;275;g2c0e88b713e_0_103"/>
          <p:cNvSpPr/>
          <p:nvPr/>
        </p:nvSpPr>
        <p:spPr>
          <a:xfrm>
            <a:off x="4460275" y="3644275"/>
            <a:ext cx="806700" cy="3387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Model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76" name="Google Shape;276;g2c0e88b713e_0_103"/>
          <p:cNvSpPr/>
          <p:nvPr/>
        </p:nvSpPr>
        <p:spPr>
          <a:xfrm>
            <a:off x="4460275" y="4066575"/>
            <a:ext cx="806700" cy="3387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Model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277" name="Google Shape;277;g2c0e88b713e_0_103"/>
          <p:cNvCxnSpPr>
            <a:stCxn id="271" idx="3"/>
            <a:endCxn id="274" idx="1"/>
          </p:cNvCxnSpPr>
          <p:nvPr/>
        </p:nvCxnSpPr>
        <p:spPr>
          <a:xfrm flipH="1" rot="10800000">
            <a:off x="4308875" y="3391325"/>
            <a:ext cx="1515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g2c0e88b713e_0_103"/>
          <p:cNvCxnSpPr>
            <a:endCxn id="275" idx="1"/>
          </p:cNvCxnSpPr>
          <p:nvPr/>
        </p:nvCxnSpPr>
        <p:spPr>
          <a:xfrm>
            <a:off x="4308775" y="3798325"/>
            <a:ext cx="151500" cy="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g2c0e88b713e_0_103"/>
          <p:cNvCxnSpPr>
            <a:endCxn id="276" idx="1"/>
          </p:cNvCxnSpPr>
          <p:nvPr/>
        </p:nvCxnSpPr>
        <p:spPr>
          <a:xfrm>
            <a:off x="4308775" y="4235925"/>
            <a:ext cx="15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g2c0e88b713e_0_103"/>
          <p:cNvSpPr/>
          <p:nvPr/>
        </p:nvSpPr>
        <p:spPr>
          <a:xfrm>
            <a:off x="5864975" y="3441475"/>
            <a:ext cx="806700" cy="7290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Model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281" name="Google Shape;281;g2c0e88b713e_0_103"/>
          <p:cNvCxnSpPr>
            <a:stCxn id="274" idx="3"/>
            <a:endCxn id="280" idx="1"/>
          </p:cNvCxnSpPr>
          <p:nvPr/>
        </p:nvCxnSpPr>
        <p:spPr>
          <a:xfrm>
            <a:off x="5266975" y="3391325"/>
            <a:ext cx="597900" cy="41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g2c0e88b713e_0_103"/>
          <p:cNvCxnSpPr>
            <a:stCxn id="275" idx="3"/>
            <a:endCxn id="280" idx="1"/>
          </p:cNvCxnSpPr>
          <p:nvPr/>
        </p:nvCxnSpPr>
        <p:spPr>
          <a:xfrm flipH="1" rot="10800000">
            <a:off x="5266975" y="3805825"/>
            <a:ext cx="5979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g2c0e88b713e_0_103"/>
          <p:cNvCxnSpPr>
            <a:stCxn id="276" idx="3"/>
            <a:endCxn id="280" idx="1"/>
          </p:cNvCxnSpPr>
          <p:nvPr/>
        </p:nvCxnSpPr>
        <p:spPr>
          <a:xfrm flipH="1" rot="10800000">
            <a:off x="5266975" y="3806025"/>
            <a:ext cx="597900" cy="42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g2c0e88b713e_0_103"/>
          <p:cNvSpPr txBox="1"/>
          <p:nvPr/>
        </p:nvSpPr>
        <p:spPr>
          <a:xfrm>
            <a:off x="1073375" y="4365500"/>
            <a:ext cx="128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Early fusion</a:t>
            </a:r>
            <a:endParaRPr b="1"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85" name="Google Shape;285;g2c0e88b713e_0_103"/>
          <p:cNvSpPr txBox="1"/>
          <p:nvPr/>
        </p:nvSpPr>
        <p:spPr>
          <a:xfrm>
            <a:off x="5418375" y="4330600"/>
            <a:ext cx="128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Late</a:t>
            </a:r>
            <a:r>
              <a:rPr b="1"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fusion</a:t>
            </a:r>
            <a:endParaRPr b="1"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86" name="Google Shape;286;g2c0e88b713e_0_103"/>
          <p:cNvSpPr/>
          <p:nvPr/>
        </p:nvSpPr>
        <p:spPr>
          <a:xfrm>
            <a:off x="7132800" y="3806175"/>
            <a:ext cx="1750500" cy="698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Music Emotion Recognition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87" name="Google Shape;287;g2c0e88b713e_0_103"/>
          <p:cNvSpPr/>
          <p:nvPr/>
        </p:nvSpPr>
        <p:spPr>
          <a:xfrm>
            <a:off x="2946325" y="2729525"/>
            <a:ext cx="1210200" cy="295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Extraction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288" name="Google Shape;288;g2c0e88b713e_0_103"/>
          <p:cNvCxnSpPr>
            <a:stCxn id="287" idx="3"/>
          </p:cNvCxnSpPr>
          <p:nvPr/>
        </p:nvCxnSpPr>
        <p:spPr>
          <a:xfrm>
            <a:off x="4156525" y="2877275"/>
            <a:ext cx="201900" cy="29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g2c0e88b713e_0_103"/>
          <p:cNvCxnSpPr>
            <a:stCxn id="287" idx="1"/>
          </p:cNvCxnSpPr>
          <p:nvPr/>
        </p:nvCxnSpPr>
        <p:spPr>
          <a:xfrm flipH="1">
            <a:off x="1354225" y="2877275"/>
            <a:ext cx="1592100" cy="47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c0e88b713e_0_11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Задачи классификации в музыке</a:t>
            </a:r>
            <a:endParaRPr/>
          </a:p>
        </p:txBody>
      </p:sp>
      <p:sp>
        <p:nvSpPr>
          <p:cNvPr id="295" name="Google Shape;295;g2c0e88b713e_0_1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6" name="Google Shape;296;g2c0e88b713e_0_111"/>
          <p:cNvSpPr txBox="1"/>
          <p:nvPr/>
        </p:nvSpPr>
        <p:spPr>
          <a:xfrm>
            <a:off x="0" y="4700350"/>
            <a:ext cx="87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/>
              <a:t>Eronen A., Klapuri A. Musical instrument recognition using cepstral coefficients and temporal features //2000 IEEE International Conference on Acoustics, Speech, and Signal Processing. Proceedings (Cat. No. 00CH37100). – IEEE, 2000. – Т. 2. – С. II753-II756 vol. 2.</a:t>
            </a:r>
            <a:endParaRPr sz="1000"/>
          </a:p>
        </p:txBody>
      </p:sp>
      <p:sp>
        <p:nvSpPr>
          <p:cNvPr id="297" name="Google Shape;297;g2c0e88b713e_0_111"/>
          <p:cNvSpPr/>
          <p:nvPr/>
        </p:nvSpPr>
        <p:spPr>
          <a:xfrm>
            <a:off x="7132800" y="3806175"/>
            <a:ext cx="1750500" cy="698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Instrument</a:t>
            </a: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 Recognition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98" name="Google Shape;298;g2c0e88b713e_0_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1650" y="863760"/>
            <a:ext cx="2256974" cy="356171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2c0e88b713e_0_111"/>
          <p:cNvSpPr/>
          <p:nvPr/>
        </p:nvSpPr>
        <p:spPr>
          <a:xfrm>
            <a:off x="201675" y="2475263"/>
            <a:ext cx="756300" cy="3387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Audio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300" name="Google Shape;300;g2c0e88b713e_0_111"/>
          <p:cNvCxnSpPr>
            <a:endCxn id="298" idx="1"/>
          </p:cNvCxnSpPr>
          <p:nvPr/>
        </p:nvCxnSpPr>
        <p:spPr>
          <a:xfrm>
            <a:off x="957850" y="2644618"/>
            <a:ext cx="79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01" name="Google Shape;301;g2c0e88b713e_0_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5050" y="863750"/>
            <a:ext cx="4591475" cy="223503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2c0e88b713e_0_111"/>
          <p:cNvSpPr/>
          <p:nvPr/>
        </p:nvSpPr>
        <p:spPr>
          <a:xfrm>
            <a:off x="4676350" y="3499325"/>
            <a:ext cx="1274100" cy="3387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KNN \ GMN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303" name="Google Shape;303;g2c0e88b713e_0_111"/>
          <p:cNvCxnSpPr>
            <a:stCxn id="298" idx="3"/>
            <a:endCxn id="302" idx="1"/>
          </p:cNvCxnSpPr>
          <p:nvPr/>
        </p:nvCxnSpPr>
        <p:spPr>
          <a:xfrm>
            <a:off x="4008624" y="2644618"/>
            <a:ext cx="667800" cy="102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g2c0e88b713e_0_111"/>
          <p:cNvCxnSpPr>
            <a:stCxn id="302" idx="0"/>
            <a:endCxn id="301" idx="2"/>
          </p:cNvCxnSpPr>
          <p:nvPr/>
        </p:nvCxnSpPr>
        <p:spPr>
          <a:xfrm flipH="1" rot="10800000">
            <a:off x="5313400" y="3098825"/>
            <a:ext cx="1317300" cy="4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g2c0e88b713e_0_111"/>
          <p:cNvCxnSpPr>
            <a:stCxn id="298" idx="3"/>
            <a:endCxn id="301" idx="1"/>
          </p:cNvCxnSpPr>
          <p:nvPr/>
        </p:nvCxnSpPr>
        <p:spPr>
          <a:xfrm flipH="1" rot="10800000">
            <a:off x="4008624" y="1981318"/>
            <a:ext cx="326400" cy="66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c0e88b713e_0_17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Задачи классификации в музыке</a:t>
            </a:r>
            <a:endParaRPr/>
          </a:p>
        </p:txBody>
      </p:sp>
      <p:sp>
        <p:nvSpPr>
          <p:cNvPr id="311" name="Google Shape;311;g2c0e88b713e_0_1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12" name="Google Shape;312;g2c0e88b713e_0_177"/>
          <p:cNvSpPr txBox="1"/>
          <p:nvPr/>
        </p:nvSpPr>
        <p:spPr>
          <a:xfrm>
            <a:off x="0" y="4700350"/>
            <a:ext cx="872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/>
              <a:t>Shen J. et al. </a:t>
            </a:r>
            <a:r>
              <a:rPr lang="ru-RU" sz="1000" u="sng">
                <a:solidFill>
                  <a:schemeClr val="hlink"/>
                </a:solidFill>
                <a:hlinkClick r:id="rId3"/>
              </a:rPr>
              <a:t>A novel framework for efficient automated singer identification in large music databases </a:t>
            </a:r>
            <a:r>
              <a:rPr lang="ru-RU" sz="1000"/>
              <a:t>//ACM Transactions on Information Systems (TOIS). – 2009. – Т. 27. – №. 3. – С. 1-31.</a:t>
            </a:r>
            <a:endParaRPr sz="1000"/>
          </a:p>
        </p:txBody>
      </p:sp>
      <p:sp>
        <p:nvSpPr>
          <p:cNvPr id="313" name="Google Shape;313;g2c0e88b713e_0_177"/>
          <p:cNvSpPr/>
          <p:nvPr/>
        </p:nvSpPr>
        <p:spPr>
          <a:xfrm>
            <a:off x="7132800" y="3806175"/>
            <a:ext cx="1750500" cy="698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Singer Identification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14" name="Google Shape;314;g2c0e88b713e_0_1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775" y="986235"/>
            <a:ext cx="5862695" cy="3561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c0e88b713e_0_20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Задачи классификации в музыке</a:t>
            </a:r>
            <a:endParaRPr/>
          </a:p>
        </p:txBody>
      </p:sp>
      <p:sp>
        <p:nvSpPr>
          <p:cNvPr id="320" name="Google Shape;320;g2c0e88b713e_0_2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1" name="Google Shape;321;g2c0e88b713e_0_201"/>
          <p:cNvSpPr txBox="1"/>
          <p:nvPr/>
        </p:nvSpPr>
        <p:spPr>
          <a:xfrm>
            <a:off x="0" y="4700350"/>
            <a:ext cx="872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/>
              <a:t>Tzanetakis G., Cook P. Musical genre classification of audio signals //IEEE Transactions on speech and audio processing. – 2002. – Т. 10. – №. 5. – С. 293-302.</a:t>
            </a:r>
            <a:endParaRPr sz="1000"/>
          </a:p>
        </p:txBody>
      </p:sp>
      <p:sp>
        <p:nvSpPr>
          <p:cNvPr id="322" name="Google Shape;322;g2c0e88b713e_0_201"/>
          <p:cNvSpPr/>
          <p:nvPr/>
        </p:nvSpPr>
        <p:spPr>
          <a:xfrm>
            <a:off x="7132800" y="3806175"/>
            <a:ext cx="1750500" cy="698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latin typeface="Golos Text"/>
                <a:ea typeface="Golos Text"/>
                <a:cs typeface="Golos Text"/>
                <a:sym typeface="Golos Text"/>
              </a:rPr>
              <a:t>Genre classification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23" name="Google Shape;323;g2c0e88b713e_0_2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6227"/>
            <a:ext cx="2964275" cy="296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2c0e88b713e_0_2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8100" y="898660"/>
            <a:ext cx="3953229" cy="2667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c0e88b713e_0_1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30" name="Google Shape;330;g2c0e88b713e_0_185"/>
          <p:cNvSpPr txBox="1"/>
          <p:nvPr/>
        </p:nvSpPr>
        <p:spPr>
          <a:xfrm>
            <a:off x="0" y="4700350"/>
            <a:ext cx="879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/>
              <a:t>Edirisooriya S. et al. An empirical evaluation of end-to-end polyphonic optical music recognition //arXiv preprint arXiv:2108.01769. – 2021.</a:t>
            </a:r>
            <a:endParaRPr sz="1000"/>
          </a:p>
        </p:txBody>
      </p:sp>
      <p:pic>
        <p:nvPicPr>
          <p:cNvPr id="331" name="Google Shape;331;g2c0e88b713e_0_1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75" y="556950"/>
            <a:ext cx="2801150" cy="2231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2c0e88b713e_0_18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Optical Music Recognition</a:t>
            </a:r>
            <a:endParaRPr/>
          </a:p>
        </p:txBody>
      </p:sp>
      <p:pic>
        <p:nvPicPr>
          <p:cNvPr id="333" name="Google Shape;333;g2c0e88b713e_0_1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787979"/>
            <a:ext cx="3569700" cy="196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g2c0e88b713e_0_1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2100" y="986235"/>
            <a:ext cx="4342793" cy="3561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c0e88b713e_0_2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40" name="Google Shape;340;g2c0e88b713e_0_229"/>
          <p:cNvSpPr txBox="1"/>
          <p:nvPr/>
        </p:nvSpPr>
        <p:spPr>
          <a:xfrm>
            <a:off x="0" y="4700350"/>
            <a:ext cx="879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/>
              <a:t>Edirisooriya S. et al. An empirical evaluation of end-to-end polyphonic optical music recognition //arXiv preprint arXiv:2108.01769. – 2021.</a:t>
            </a:r>
            <a:endParaRPr sz="1000"/>
          </a:p>
        </p:txBody>
      </p:sp>
      <p:sp>
        <p:nvSpPr>
          <p:cNvPr id="341" name="Google Shape;341;g2c0e88b713e_0_22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Optical Music Recognition</a:t>
            </a:r>
            <a:endParaRPr/>
          </a:p>
        </p:txBody>
      </p:sp>
      <p:pic>
        <p:nvPicPr>
          <p:cNvPr id="342" name="Google Shape;342;g2c0e88b713e_0_2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20199"/>
            <a:ext cx="6641974" cy="211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g2c0e88b713e_0_2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9875" y="2857054"/>
            <a:ext cx="3832548" cy="1868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c0e88b713e_0_2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49" name="Google Shape;349;g2c0e88b713e_0_216"/>
          <p:cNvSpPr txBox="1"/>
          <p:nvPr/>
        </p:nvSpPr>
        <p:spPr>
          <a:xfrm>
            <a:off x="0" y="4700350"/>
            <a:ext cx="879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/>
              <a:t>Li Y. et al. TrOMR: Transformer-Based Polyphonic Optical Music Recognition //ICASSP 2023-2023 IEEE International Conference on Acoustics, Speech and Signal Processing (ICASSP). – IEEE, 2023. – С. 1-5.</a:t>
            </a:r>
            <a:endParaRPr sz="1000"/>
          </a:p>
        </p:txBody>
      </p:sp>
      <p:pic>
        <p:nvPicPr>
          <p:cNvPr id="350" name="Google Shape;350;g2c0e88b713e_0_2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100" y="1476904"/>
            <a:ext cx="3140799" cy="20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g2c0e88b713e_0_2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5124" y="986235"/>
            <a:ext cx="5356475" cy="345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2c0e88b713e_0_216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Optical Music Recognition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c0e88b713e_0_1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454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Автоматическая аранжировка</a:t>
            </a:r>
            <a:endParaRPr/>
          </a:p>
        </p:txBody>
      </p:sp>
      <p:sp>
        <p:nvSpPr>
          <p:cNvPr id="358" name="Google Shape;358;g2c0e88b713e_0_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59" name="Google Shape;359;g2c0e88b713e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50" y="744985"/>
            <a:ext cx="4670710" cy="400486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2c0e88b713e_0_15"/>
          <p:cNvSpPr txBox="1"/>
          <p:nvPr/>
        </p:nvSpPr>
        <p:spPr>
          <a:xfrm>
            <a:off x="51550" y="4650850"/>
            <a:ext cx="868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/>
              <a:t>Huang J. L., Chiu S. C., Shan M. K. Towards an automatic music arrangement framework using score reduction //ACM Transactions on Multimedia Computing, Communications, and Applications (TOMM). – 2012. – Т. 8. – №. 1. – С. 1-23.</a:t>
            </a:r>
            <a:endParaRPr sz="1000"/>
          </a:p>
        </p:txBody>
      </p:sp>
      <p:pic>
        <p:nvPicPr>
          <p:cNvPr id="361" name="Google Shape;361;g2c0e88b713e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6250" y="1549400"/>
            <a:ext cx="4217749" cy="1505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c0e88b713e_0_2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Автоматическая аранжировка</a:t>
            </a:r>
            <a:endParaRPr/>
          </a:p>
        </p:txBody>
      </p:sp>
      <p:sp>
        <p:nvSpPr>
          <p:cNvPr id="367" name="Google Shape;367;g2c0e88b713e_0_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68" name="Google Shape;368;g2c0e88b713e_0_20"/>
          <p:cNvSpPr txBox="1"/>
          <p:nvPr/>
        </p:nvSpPr>
        <p:spPr>
          <a:xfrm>
            <a:off x="0" y="4749850"/>
            <a:ext cx="874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/>
              <a:t>Nabeoka T., Nakamura E., Yoshii K. Automatic Orchestration of Piano Scores for Wind Bands with User-Specified Instrumentation.</a:t>
            </a:r>
            <a:endParaRPr sz="1000"/>
          </a:p>
        </p:txBody>
      </p:sp>
      <p:pic>
        <p:nvPicPr>
          <p:cNvPr id="369" name="Google Shape;369;g2c0e88b713e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6050" y="1204925"/>
            <a:ext cx="5179425" cy="276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g2c0e88b713e_0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800" y="921410"/>
            <a:ext cx="3621250" cy="2111761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2c0e88b713e_0_20"/>
          <p:cNvSpPr txBox="1"/>
          <p:nvPr/>
        </p:nvSpPr>
        <p:spPr>
          <a:xfrm>
            <a:off x="1617275" y="3033175"/>
            <a:ext cx="72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u="sng">
                <a:solidFill>
                  <a:schemeClr val="hlink"/>
                </a:solidFill>
                <a:latin typeface="Golos Text"/>
                <a:ea typeface="Golos Text"/>
                <a:cs typeface="Golos Text"/>
                <a:sym typeface="Golos Text"/>
                <a:hlinkClick r:id="rId5"/>
              </a:rPr>
              <a:t>тык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c0e88b713e_0_2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Синтез речи</a:t>
            </a:r>
            <a:endParaRPr/>
          </a:p>
        </p:txBody>
      </p:sp>
      <p:sp>
        <p:nvSpPr>
          <p:cNvPr id="377" name="Google Shape;377;g2c0e88b713e_0_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378" name="Google Shape;378;g2c0e88b713e_0_25"/>
          <p:cNvGrpSpPr/>
          <p:nvPr/>
        </p:nvGrpSpPr>
        <p:grpSpPr>
          <a:xfrm>
            <a:off x="1603279" y="993587"/>
            <a:ext cx="5937357" cy="4062469"/>
            <a:chOff x="663479" y="770"/>
            <a:chExt cx="5937357" cy="4062469"/>
          </a:xfrm>
        </p:grpSpPr>
        <p:sp>
          <p:nvSpPr>
            <p:cNvPr id="379" name="Google Shape;379;g2c0e88b713e_0_25"/>
            <p:cNvSpPr/>
            <p:nvPr/>
          </p:nvSpPr>
          <p:spPr>
            <a:xfrm>
              <a:off x="663479" y="770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92D050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g2c0e88b713e_0_25"/>
            <p:cNvSpPr txBox="1"/>
            <p:nvPr/>
          </p:nvSpPr>
          <p:spPr>
            <a:xfrm>
              <a:off x="690937" y="28228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Текст</a:t>
              </a:r>
              <a:endParaRPr/>
            </a:p>
          </p:txBody>
        </p:sp>
        <p:sp>
          <p:nvSpPr>
            <p:cNvPr id="381" name="Google Shape;381;g2c0e88b713e_0_25"/>
            <p:cNvSpPr/>
            <p:nvPr/>
          </p:nvSpPr>
          <p:spPr>
            <a:xfrm>
              <a:off x="2363462" y="275767"/>
              <a:ext cx="331200" cy="3876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0040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g2c0e88b713e_0_25"/>
            <p:cNvSpPr txBox="1"/>
            <p:nvPr/>
          </p:nvSpPr>
          <p:spPr>
            <a:xfrm>
              <a:off x="2363462" y="353266"/>
              <a:ext cx="2319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g2c0e88b713e_0_25"/>
            <p:cNvSpPr/>
            <p:nvPr/>
          </p:nvSpPr>
          <p:spPr>
            <a:xfrm>
              <a:off x="2850957" y="770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134AB5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g2c0e88b713e_0_25"/>
            <p:cNvSpPr txBox="1"/>
            <p:nvPr/>
          </p:nvSpPr>
          <p:spPr>
            <a:xfrm>
              <a:off x="2878415" y="28228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Лингвистика</a:t>
              </a:r>
              <a:endParaRPr/>
            </a:p>
          </p:txBody>
        </p:sp>
        <p:sp>
          <p:nvSpPr>
            <p:cNvPr id="385" name="Google Shape;385;g2c0e88b713e_0_25"/>
            <p:cNvSpPr/>
            <p:nvPr/>
          </p:nvSpPr>
          <p:spPr>
            <a:xfrm>
              <a:off x="4550940" y="275767"/>
              <a:ext cx="331200" cy="3876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1A56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g2c0e88b713e_0_25"/>
            <p:cNvSpPr txBox="1"/>
            <p:nvPr/>
          </p:nvSpPr>
          <p:spPr>
            <a:xfrm>
              <a:off x="4550940" y="353266"/>
              <a:ext cx="2319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2c0e88b713e_0_25"/>
            <p:cNvSpPr/>
            <p:nvPr/>
          </p:nvSpPr>
          <p:spPr>
            <a:xfrm>
              <a:off x="5038436" y="770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436AD1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g2c0e88b713e_0_25"/>
            <p:cNvSpPr txBox="1"/>
            <p:nvPr/>
          </p:nvSpPr>
          <p:spPr>
            <a:xfrm>
              <a:off x="5065894" y="28228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Просодика</a:t>
              </a:r>
              <a:endParaRPr/>
            </a:p>
          </p:txBody>
        </p:sp>
        <p:sp>
          <p:nvSpPr>
            <p:cNvPr id="389" name="Google Shape;389;g2c0e88b713e_0_25"/>
            <p:cNvSpPr/>
            <p:nvPr/>
          </p:nvSpPr>
          <p:spPr>
            <a:xfrm rot="5400000">
              <a:off x="5654025" y="1047559"/>
              <a:ext cx="331200" cy="3876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6E86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g2c0e88b713e_0_25"/>
            <p:cNvSpPr txBox="1"/>
            <p:nvPr/>
          </p:nvSpPr>
          <p:spPr>
            <a:xfrm>
              <a:off x="5703428" y="1075759"/>
              <a:ext cx="232500" cy="2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g2c0e88b713e_0_25"/>
            <p:cNvSpPr/>
            <p:nvPr/>
          </p:nvSpPr>
          <p:spPr>
            <a:xfrm>
              <a:off x="5038436" y="1563254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8F9DD1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g2c0e88b713e_0_25"/>
            <p:cNvSpPr txBox="1"/>
            <p:nvPr/>
          </p:nvSpPr>
          <p:spPr>
            <a:xfrm>
              <a:off x="5065894" y="1590712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Фонетика</a:t>
              </a:r>
              <a:endParaRPr/>
            </a:p>
          </p:txBody>
        </p:sp>
        <p:sp>
          <p:nvSpPr>
            <p:cNvPr id="393" name="Google Shape;393;g2c0e88b713e_0_25"/>
            <p:cNvSpPr/>
            <p:nvPr/>
          </p:nvSpPr>
          <p:spPr>
            <a:xfrm rot="10800000">
              <a:off x="4569736" y="1838147"/>
              <a:ext cx="331200" cy="3876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9BE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g2c0e88b713e_0_25"/>
            <p:cNvSpPr txBox="1"/>
            <p:nvPr/>
          </p:nvSpPr>
          <p:spPr>
            <a:xfrm>
              <a:off x="4669064" y="1915750"/>
              <a:ext cx="2319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g2c0e88b713e_0_25"/>
            <p:cNvSpPr/>
            <p:nvPr/>
          </p:nvSpPr>
          <p:spPr>
            <a:xfrm>
              <a:off x="2850957" y="1563254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8F9DD1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g2c0e88b713e_0_25"/>
            <p:cNvSpPr txBox="1"/>
            <p:nvPr/>
          </p:nvSpPr>
          <p:spPr>
            <a:xfrm>
              <a:off x="2878415" y="1590712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Акустика</a:t>
              </a:r>
              <a:endParaRPr/>
            </a:p>
          </p:txBody>
        </p:sp>
        <p:sp>
          <p:nvSpPr>
            <p:cNvPr id="397" name="Google Shape;397;g2c0e88b713e_0_25"/>
            <p:cNvSpPr/>
            <p:nvPr/>
          </p:nvSpPr>
          <p:spPr>
            <a:xfrm rot="10800000">
              <a:off x="2382258" y="1838147"/>
              <a:ext cx="331200" cy="3876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6E86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g2c0e88b713e_0_25"/>
            <p:cNvSpPr txBox="1"/>
            <p:nvPr/>
          </p:nvSpPr>
          <p:spPr>
            <a:xfrm>
              <a:off x="2481586" y="1915750"/>
              <a:ext cx="2319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2c0e88b713e_0_25"/>
            <p:cNvSpPr/>
            <p:nvPr/>
          </p:nvSpPr>
          <p:spPr>
            <a:xfrm>
              <a:off x="663479" y="1563254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436AD1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g2c0e88b713e_0_25"/>
            <p:cNvSpPr txBox="1"/>
            <p:nvPr/>
          </p:nvSpPr>
          <p:spPr>
            <a:xfrm>
              <a:off x="690937" y="1590712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Вокодер</a:t>
              </a:r>
              <a:endParaRPr/>
            </a:p>
          </p:txBody>
        </p:sp>
        <p:sp>
          <p:nvSpPr>
            <p:cNvPr id="401" name="Google Shape;401;g2c0e88b713e_0_25"/>
            <p:cNvSpPr/>
            <p:nvPr/>
          </p:nvSpPr>
          <p:spPr>
            <a:xfrm rot="5400000">
              <a:off x="1279069" y="2610044"/>
              <a:ext cx="331200" cy="3876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1A56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g2c0e88b713e_0_25"/>
            <p:cNvSpPr txBox="1"/>
            <p:nvPr/>
          </p:nvSpPr>
          <p:spPr>
            <a:xfrm>
              <a:off x="1328472" y="2638244"/>
              <a:ext cx="232500" cy="2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g2c0e88b713e_0_25"/>
            <p:cNvSpPr/>
            <p:nvPr/>
          </p:nvSpPr>
          <p:spPr>
            <a:xfrm>
              <a:off x="663479" y="3125739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92D050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g2c0e88b713e_0_25"/>
            <p:cNvSpPr txBox="1"/>
            <p:nvPr/>
          </p:nvSpPr>
          <p:spPr>
            <a:xfrm>
              <a:off x="690937" y="3153197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Речь</a:t>
              </a:r>
              <a:endParaRPr/>
            </a:p>
          </p:txBody>
        </p:sp>
      </p:grpSp>
      <p:sp>
        <p:nvSpPr>
          <p:cNvPr id="405" name="Google Shape;405;g2c0e88b713e_0_25"/>
          <p:cNvSpPr/>
          <p:nvPr/>
        </p:nvSpPr>
        <p:spPr>
          <a:xfrm>
            <a:off x="4159604" y="4160026"/>
            <a:ext cx="252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Рыбин С.В. «Синтез речи».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c0e88b713e_0_29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Синтез речи</a:t>
            </a:r>
            <a:endParaRPr/>
          </a:p>
        </p:txBody>
      </p:sp>
      <p:sp>
        <p:nvSpPr>
          <p:cNvPr id="411" name="Google Shape;411;g2c0e88b713e_0_2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412" name="Google Shape;412;g2c0e88b713e_0_290"/>
          <p:cNvGrpSpPr/>
          <p:nvPr/>
        </p:nvGrpSpPr>
        <p:grpSpPr>
          <a:xfrm>
            <a:off x="1603279" y="993587"/>
            <a:ext cx="5937357" cy="4062469"/>
            <a:chOff x="663479" y="770"/>
            <a:chExt cx="5937357" cy="4062469"/>
          </a:xfrm>
        </p:grpSpPr>
        <p:sp>
          <p:nvSpPr>
            <p:cNvPr id="413" name="Google Shape;413;g2c0e88b713e_0_290"/>
            <p:cNvSpPr/>
            <p:nvPr/>
          </p:nvSpPr>
          <p:spPr>
            <a:xfrm>
              <a:off x="663479" y="770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92D050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g2c0e88b713e_0_290"/>
            <p:cNvSpPr txBox="1"/>
            <p:nvPr/>
          </p:nvSpPr>
          <p:spPr>
            <a:xfrm>
              <a:off x="690937" y="28228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Текст</a:t>
              </a:r>
              <a:endParaRPr/>
            </a:p>
          </p:txBody>
        </p:sp>
        <p:sp>
          <p:nvSpPr>
            <p:cNvPr id="415" name="Google Shape;415;g2c0e88b713e_0_290"/>
            <p:cNvSpPr/>
            <p:nvPr/>
          </p:nvSpPr>
          <p:spPr>
            <a:xfrm>
              <a:off x="2363462" y="275767"/>
              <a:ext cx="331200" cy="3876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0040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g2c0e88b713e_0_290"/>
            <p:cNvSpPr txBox="1"/>
            <p:nvPr/>
          </p:nvSpPr>
          <p:spPr>
            <a:xfrm>
              <a:off x="2363462" y="353266"/>
              <a:ext cx="2319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g2c0e88b713e_0_290"/>
            <p:cNvSpPr/>
            <p:nvPr/>
          </p:nvSpPr>
          <p:spPr>
            <a:xfrm>
              <a:off x="2850957" y="770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134AB5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g2c0e88b713e_0_290"/>
            <p:cNvSpPr txBox="1"/>
            <p:nvPr/>
          </p:nvSpPr>
          <p:spPr>
            <a:xfrm>
              <a:off x="2878415" y="28228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Лингвистика</a:t>
              </a:r>
              <a:endParaRPr/>
            </a:p>
          </p:txBody>
        </p:sp>
        <p:sp>
          <p:nvSpPr>
            <p:cNvPr id="419" name="Google Shape;419;g2c0e88b713e_0_290"/>
            <p:cNvSpPr/>
            <p:nvPr/>
          </p:nvSpPr>
          <p:spPr>
            <a:xfrm>
              <a:off x="4550940" y="275767"/>
              <a:ext cx="331200" cy="3876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1A56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g2c0e88b713e_0_290"/>
            <p:cNvSpPr txBox="1"/>
            <p:nvPr/>
          </p:nvSpPr>
          <p:spPr>
            <a:xfrm>
              <a:off x="4550940" y="353266"/>
              <a:ext cx="2319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g2c0e88b713e_0_290"/>
            <p:cNvSpPr/>
            <p:nvPr/>
          </p:nvSpPr>
          <p:spPr>
            <a:xfrm>
              <a:off x="5038436" y="770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436AD1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g2c0e88b713e_0_290"/>
            <p:cNvSpPr txBox="1"/>
            <p:nvPr/>
          </p:nvSpPr>
          <p:spPr>
            <a:xfrm>
              <a:off x="5065894" y="28228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Просодика</a:t>
              </a:r>
              <a:endParaRPr/>
            </a:p>
          </p:txBody>
        </p:sp>
        <p:sp>
          <p:nvSpPr>
            <p:cNvPr id="423" name="Google Shape;423;g2c0e88b713e_0_290"/>
            <p:cNvSpPr/>
            <p:nvPr/>
          </p:nvSpPr>
          <p:spPr>
            <a:xfrm rot="5400000">
              <a:off x="5654025" y="1047559"/>
              <a:ext cx="331200" cy="3876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6E86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g2c0e88b713e_0_290"/>
            <p:cNvSpPr txBox="1"/>
            <p:nvPr/>
          </p:nvSpPr>
          <p:spPr>
            <a:xfrm>
              <a:off x="5703428" y="1075759"/>
              <a:ext cx="232500" cy="2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2c0e88b713e_0_290"/>
            <p:cNvSpPr/>
            <p:nvPr/>
          </p:nvSpPr>
          <p:spPr>
            <a:xfrm>
              <a:off x="5038436" y="1563254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8F9DD1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g2c0e88b713e_0_290"/>
            <p:cNvSpPr txBox="1"/>
            <p:nvPr/>
          </p:nvSpPr>
          <p:spPr>
            <a:xfrm>
              <a:off x="5065894" y="1590712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Фонетика</a:t>
              </a:r>
              <a:endParaRPr/>
            </a:p>
          </p:txBody>
        </p:sp>
        <p:sp>
          <p:nvSpPr>
            <p:cNvPr id="427" name="Google Shape;427;g2c0e88b713e_0_290"/>
            <p:cNvSpPr/>
            <p:nvPr/>
          </p:nvSpPr>
          <p:spPr>
            <a:xfrm rot="10800000">
              <a:off x="4569736" y="1838147"/>
              <a:ext cx="331200" cy="3876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9BE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g2c0e88b713e_0_290"/>
            <p:cNvSpPr txBox="1"/>
            <p:nvPr/>
          </p:nvSpPr>
          <p:spPr>
            <a:xfrm>
              <a:off x="4669064" y="1915750"/>
              <a:ext cx="2319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2c0e88b713e_0_290"/>
            <p:cNvSpPr/>
            <p:nvPr/>
          </p:nvSpPr>
          <p:spPr>
            <a:xfrm>
              <a:off x="2850957" y="1563254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8F9DD1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g2c0e88b713e_0_290"/>
            <p:cNvSpPr txBox="1"/>
            <p:nvPr/>
          </p:nvSpPr>
          <p:spPr>
            <a:xfrm>
              <a:off x="2878415" y="1590712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Акустика</a:t>
              </a:r>
              <a:endParaRPr/>
            </a:p>
          </p:txBody>
        </p:sp>
        <p:sp>
          <p:nvSpPr>
            <p:cNvPr id="431" name="Google Shape;431;g2c0e88b713e_0_290"/>
            <p:cNvSpPr/>
            <p:nvPr/>
          </p:nvSpPr>
          <p:spPr>
            <a:xfrm rot="10800000">
              <a:off x="2382258" y="1838147"/>
              <a:ext cx="331200" cy="3876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6E86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g2c0e88b713e_0_290"/>
            <p:cNvSpPr txBox="1"/>
            <p:nvPr/>
          </p:nvSpPr>
          <p:spPr>
            <a:xfrm>
              <a:off x="2481586" y="1915750"/>
              <a:ext cx="2319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g2c0e88b713e_0_290"/>
            <p:cNvSpPr/>
            <p:nvPr/>
          </p:nvSpPr>
          <p:spPr>
            <a:xfrm>
              <a:off x="663479" y="1563254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436AD1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g2c0e88b713e_0_290"/>
            <p:cNvSpPr txBox="1"/>
            <p:nvPr/>
          </p:nvSpPr>
          <p:spPr>
            <a:xfrm>
              <a:off x="690937" y="1590712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Вокодер</a:t>
              </a:r>
              <a:endParaRPr/>
            </a:p>
          </p:txBody>
        </p:sp>
        <p:sp>
          <p:nvSpPr>
            <p:cNvPr id="435" name="Google Shape;435;g2c0e88b713e_0_290"/>
            <p:cNvSpPr/>
            <p:nvPr/>
          </p:nvSpPr>
          <p:spPr>
            <a:xfrm rot="5400000">
              <a:off x="1279069" y="2610044"/>
              <a:ext cx="331200" cy="3876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1A56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g2c0e88b713e_0_290"/>
            <p:cNvSpPr txBox="1"/>
            <p:nvPr/>
          </p:nvSpPr>
          <p:spPr>
            <a:xfrm>
              <a:off x="1328472" y="2638244"/>
              <a:ext cx="232500" cy="2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g2c0e88b713e_0_290"/>
            <p:cNvSpPr/>
            <p:nvPr/>
          </p:nvSpPr>
          <p:spPr>
            <a:xfrm>
              <a:off x="663479" y="3125739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92D050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g2c0e88b713e_0_290"/>
            <p:cNvSpPr txBox="1"/>
            <p:nvPr/>
          </p:nvSpPr>
          <p:spPr>
            <a:xfrm>
              <a:off x="690937" y="3153197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Речь</a:t>
              </a:r>
              <a:endParaRPr/>
            </a:p>
          </p:txBody>
        </p:sp>
      </p:grpSp>
      <p:sp>
        <p:nvSpPr>
          <p:cNvPr id="439" name="Google Shape;439;g2c0e88b713e_0_290"/>
          <p:cNvSpPr/>
          <p:nvPr/>
        </p:nvSpPr>
        <p:spPr>
          <a:xfrm>
            <a:off x="4159604" y="4160026"/>
            <a:ext cx="252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Рыбин С.В. «Синтез речи».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2c0e88b713e_0_290"/>
          <p:cNvSpPr/>
          <p:nvPr/>
        </p:nvSpPr>
        <p:spPr>
          <a:xfrm>
            <a:off x="3467273" y="1636659"/>
            <a:ext cx="1766700" cy="679200"/>
          </a:xfrm>
          <a:prstGeom prst="rect">
            <a:avLst/>
          </a:prstGeom>
          <a:solidFill>
            <a:srgbClr val="F8EBA2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Сокращения и цифры в текст</a:t>
            </a:r>
            <a:endParaRPr/>
          </a:p>
        </p:txBody>
      </p:sp>
      <p:sp>
        <p:nvSpPr>
          <p:cNvPr id="441" name="Google Shape;441;g2c0e88b713e_0_290"/>
          <p:cNvSpPr/>
          <p:nvPr/>
        </p:nvSpPr>
        <p:spPr>
          <a:xfrm>
            <a:off x="5620433" y="1636659"/>
            <a:ext cx="1766700" cy="679200"/>
          </a:xfrm>
          <a:prstGeom prst="rect">
            <a:avLst/>
          </a:prstGeom>
          <a:solidFill>
            <a:srgbClr val="F8EBA2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Расстановка пауз и предсказание их длительности, главные слова</a:t>
            </a:r>
            <a:endParaRPr/>
          </a:p>
        </p:txBody>
      </p:sp>
      <p:sp>
        <p:nvSpPr>
          <p:cNvPr id="442" name="Google Shape;442;g2c0e88b713e_0_290"/>
          <p:cNvSpPr/>
          <p:nvPr/>
        </p:nvSpPr>
        <p:spPr>
          <a:xfrm>
            <a:off x="5620433" y="3181225"/>
            <a:ext cx="1766700" cy="679200"/>
          </a:xfrm>
          <a:prstGeom prst="rect">
            <a:avLst/>
          </a:prstGeom>
          <a:solidFill>
            <a:srgbClr val="F8EBA2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Решение задачи предсказания последовательности фонем</a:t>
            </a:r>
            <a:endParaRPr/>
          </a:p>
        </p:txBody>
      </p:sp>
      <p:sp>
        <p:nvSpPr>
          <p:cNvPr id="443" name="Google Shape;443;g2c0e88b713e_0_290"/>
          <p:cNvSpPr/>
          <p:nvPr/>
        </p:nvSpPr>
        <p:spPr>
          <a:xfrm>
            <a:off x="3467273" y="3181225"/>
            <a:ext cx="1766700" cy="679200"/>
          </a:xfrm>
          <a:prstGeom prst="rect">
            <a:avLst/>
          </a:prstGeom>
          <a:solidFill>
            <a:srgbClr val="F8EBA2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Предсказание акустических признаков</a:t>
            </a:r>
            <a:endParaRPr/>
          </a:p>
        </p:txBody>
      </p:sp>
      <p:sp>
        <p:nvSpPr>
          <p:cNvPr id="444" name="Google Shape;444;g2c0e88b713e_0_290"/>
          <p:cNvSpPr/>
          <p:nvPr/>
        </p:nvSpPr>
        <p:spPr>
          <a:xfrm>
            <a:off x="1233524" y="3181225"/>
            <a:ext cx="1766700" cy="679200"/>
          </a:xfrm>
          <a:prstGeom prst="rect">
            <a:avLst/>
          </a:prstGeom>
          <a:solidFill>
            <a:srgbClr val="F8EBA2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Восстановление сигнала по акустическим признакам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c0e88b713e_0_323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Синтез речи</a:t>
            </a:r>
            <a:endParaRPr/>
          </a:p>
        </p:txBody>
      </p:sp>
      <p:sp>
        <p:nvSpPr>
          <p:cNvPr id="450" name="Google Shape;450;g2c0e88b713e_0_3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451" name="Google Shape;451;g2c0e88b713e_0_323"/>
          <p:cNvGrpSpPr/>
          <p:nvPr/>
        </p:nvGrpSpPr>
        <p:grpSpPr>
          <a:xfrm>
            <a:off x="1603279" y="993587"/>
            <a:ext cx="5937357" cy="4062469"/>
            <a:chOff x="663479" y="770"/>
            <a:chExt cx="5937357" cy="4062469"/>
          </a:xfrm>
        </p:grpSpPr>
        <p:sp>
          <p:nvSpPr>
            <p:cNvPr id="452" name="Google Shape;452;g2c0e88b713e_0_323"/>
            <p:cNvSpPr/>
            <p:nvPr/>
          </p:nvSpPr>
          <p:spPr>
            <a:xfrm>
              <a:off x="663479" y="770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92D050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g2c0e88b713e_0_323"/>
            <p:cNvSpPr txBox="1"/>
            <p:nvPr/>
          </p:nvSpPr>
          <p:spPr>
            <a:xfrm>
              <a:off x="690937" y="28228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Текст</a:t>
              </a:r>
              <a:endParaRPr/>
            </a:p>
          </p:txBody>
        </p:sp>
        <p:sp>
          <p:nvSpPr>
            <p:cNvPr id="454" name="Google Shape;454;g2c0e88b713e_0_323"/>
            <p:cNvSpPr/>
            <p:nvPr/>
          </p:nvSpPr>
          <p:spPr>
            <a:xfrm>
              <a:off x="2363462" y="275767"/>
              <a:ext cx="331200" cy="3876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0040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g2c0e88b713e_0_323"/>
            <p:cNvSpPr txBox="1"/>
            <p:nvPr/>
          </p:nvSpPr>
          <p:spPr>
            <a:xfrm>
              <a:off x="2363462" y="353266"/>
              <a:ext cx="2319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g2c0e88b713e_0_323"/>
            <p:cNvSpPr/>
            <p:nvPr/>
          </p:nvSpPr>
          <p:spPr>
            <a:xfrm>
              <a:off x="2850957" y="770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134AB5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g2c0e88b713e_0_323"/>
            <p:cNvSpPr txBox="1"/>
            <p:nvPr/>
          </p:nvSpPr>
          <p:spPr>
            <a:xfrm>
              <a:off x="2878415" y="28228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Лингвистика</a:t>
              </a:r>
              <a:endParaRPr/>
            </a:p>
          </p:txBody>
        </p:sp>
        <p:sp>
          <p:nvSpPr>
            <p:cNvPr id="458" name="Google Shape;458;g2c0e88b713e_0_323"/>
            <p:cNvSpPr/>
            <p:nvPr/>
          </p:nvSpPr>
          <p:spPr>
            <a:xfrm>
              <a:off x="4550940" y="275767"/>
              <a:ext cx="331200" cy="3876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1A56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g2c0e88b713e_0_323"/>
            <p:cNvSpPr txBox="1"/>
            <p:nvPr/>
          </p:nvSpPr>
          <p:spPr>
            <a:xfrm>
              <a:off x="4550940" y="353266"/>
              <a:ext cx="2319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g2c0e88b713e_0_323"/>
            <p:cNvSpPr/>
            <p:nvPr/>
          </p:nvSpPr>
          <p:spPr>
            <a:xfrm>
              <a:off x="5038436" y="770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436AD1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g2c0e88b713e_0_323"/>
            <p:cNvSpPr txBox="1"/>
            <p:nvPr/>
          </p:nvSpPr>
          <p:spPr>
            <a:xfrm>
              <a:off x="5065894" y="28228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Просодика</a:t>
              </a:r>
              <a:endParaRPr/>
            </a:p>
          </p:txBody>
        </p:sp>
        <p:sp>
          <p:nvSpPr>
            <p:cNvPr id="462" name="Google Shape;462;g2c0e88b713e_0_323"/>
            <p:cNvSpPr/>
            <p:nvPr/>
          </p:nvSpPr>
          <p:spPr>
            <a:xfrm rot="5400000">
              <a:off x="5654025" y="1047559"/>
              <a:ext cx="331200" cy="3876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6E86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g2c0e88b713e_0_323"/>
            <p:cNvSpPr txBox="1"/>
            <p:nvPr/>
          </p:nvSpPr>
          <p:spPr>
            <a:xfrm>
              <a:off x="5703428" y="1075759"/>
              <a:ext cx="232500" cy="2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g2c0e88b713e_0_323"/>
            <p:cNvSpPr/>
            <p:nvPr/>
          </p:nvSpPr>
          <p:spPr>
            <a:xfrm>
              <a:off x="5038436" y="1563254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8F9DD1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g2c0e88b713e_0_323"/>
            <p:cNvSpPr txBox="1"/>
            <p:nvPr/>
          </p:nvSpPr>
          <p:spPr>
            <a:xfrm>
              <a:off x="5065894" y="1590712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Фонетика</a:t>
              </a:r>
              <a:endParaRPr/>
            </a:p>
          </p:txBody>
        </p:sp>
        <p:sp>
          <p:nvSpPr>
            <p:cNvPr id="466" name="Google Shape;466;g2c0e88b713e_0_323"/>
            <p:cNvSpPr/>
            <p:nvPr/>
          </p:nvSpPr>
          <p:spPr>
            <a:xfrm rot="10800000">
              <a:off x="4569736" y="1838147"/>
              <a:ext cx="331200" cy="3876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9BE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g2c0e88b713e_0_323"/>
            <p:cNvSpPr txBox="1"/>
            <p:nvPr/>
          </p:nvSpPr>
          <p:spPr>
            <a:xfrm>
              <a:off x="4669064" y="1915750"/>
              <a:ext cx="2319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g2c0e88b713e_0_323"/>
            <p:cNvSpPr/>
            <p:nvPr/>
          </p:nvSpPr>
          <p:spPr>
            <a:xfrm>
              <a:off x="2850957" y="1563254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8F9DD1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g2c0e88b713e_0_323"/>
            <p:cNvSpPr txBox="1"/>
            <p:nvPr/>
          </p:nvSpPr>
          <p:spPr>
            <a:xfrm>
              <a:off x="2878415" y="1590712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Акустика</a:t>
              </a:r>
              <a:endParaRPr/>
            </a:p>
          </p:txBody>
        </p:sp>
        <p:sp>
          <p:nvSpPr>
            <p:cNvPr id="470" name="Google Shape;470;g2c0e88b713e_0_323"/>
            <p:cNvSpPr/>
            <p:nvPr/>
          </p:nvSpPr>
          <p:spPr>
            <a:xfrm rot="10800000">
              <a:off x="2382258" y="1838147"/>
              <a:ext cx="331200" cy="3876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6E86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g2c0e88b713e_0_323"/>
            <p:cNvSpPr txBox="1"/>
            <p:nvPr/>
          </p:nvSpPr>
          <p:spPr>
            <a:xfrm>
              <a:off x="2481586" y="1915750"/>
              <a:ext cx="2319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g2c0e88b713e_0_323"/>
            <p:cNvSpPr/>
            <p:nvPr/>
          </p:nvSpPr>
          <p:spPr>
            <a:xfrm>
              <a:off x="663479" y="1563254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436AD1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g2c0e88b713e_0_323"/>
            <p:cNvSpPr txBox="1"/>
            <p:nvPr/>
          </p:nvSpPr>
          <p:spPr>
            <a:xfrm>
              <a:off x="690937" y="1590712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Вокодер</a:t>
              </a:r>
              <a:endParaRPr/>
            </a:p>
          </p:txBody>
        </p:sp>
        <p:sp>
          <p:nvSpPr>
            <p:cNvPr id="474" name="Google Shape;474;g2c0e88b713e_0_323"/>
            <p:cNvSpPr/>
            <p:nvPr/>
          </p:nvSpPr>
          <p:spPr>
            <a:xfrm rot="5400000">
              <a:off x="1279069" y="2610044"/>
              <a:ext cx="331200" cy="3876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1A56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g2c0e88b713e_0_323"/>
            <p:cNvSpPr txBox="1"/>
            <p:nvPr/>
          </p:nvSpPr>
          <p:spPr>
            <a:xfrm>
              <a:off x="1328472" y="2638244"/>
              <a:ext cx="232500" cy="2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g2c0e88b713e_0_323"/>
            <p:cNvSpPr/>
            <p:nvPr/>
          </p:nvSpPr>
          <p:spPr>
            <a:xfrm>
              <a:off x="663479" y="3125739"/>
              <a:ext cx="1562400" cy="937500"/>
            </a:xfrm>
            <a:prstGeom prst="roundRect">
              <a:avLst>
                <a:gd fmla="val 10000" name="adj"/>
              </a:avLst>
            </a:prstGeom>
            <a:solidFill>
              <a:srgbClr val="92D050"/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g2c0e88b713e_0_323"/>
            <p:cNvSpPr txBox="1"/>
            <p:nvPr/>
          </p:nvSpPr>
          <p:spPr>
            <a:xfrm>
              <a:off x="690937" y="3153197"/>
              <a:ext cx="15075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Речь</a:t>
              </a:r>
              <a:endParaRPr/>
            </a:p>
          </p:txBody>
        </p:sp>
      </p:grpSp>
      <p:sp>
        <p:nvSpPr>
          <p:cNvPr id="478" name="Google Shape;478;g2c0e88b713e_0_323"/>
          <p:cNvSpPr/>
          <p:nvPr/>
        </p:nvSpPr>
        <p:spPr>
          <a:xfrm>
            <a:off x="4159604" y="4160026"/>
            <a:ext cx="252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Рыбин С.В. «Синтез речи».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2c0e88b713e_0_323"/>
          <p:cNvSpPr/>
          <p:nvPr/>
        </p:nvSpPr>
        <p:spPr>
          <a:xfrm>
            <a:off x="3467273" y="1636659"/>
            <a:ext cx="1766700" cy="679200"/>
          </a:xfrm>
          <a:prstGeom prst="rect">
            <a:avLst/>
          </a:prstGeom>
          <a:solidFill>
            <a:srgbClr val="F8EBA2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Модель вычислительной или математической лингвистики</a:t>
            </a:r>
            <a:endParaRPr/>
          </a:p>
        </p:txBody>
      </p:sp>
      <p:sp>
        <p:nvSpPr>
          <p:cNvPr id="480" name="Google Shape;480;g2c0e88b713e_0_323"/>
          <p:cNvSpPr/>
          <p:nvPr/>
        </p:nvSpPr>
        <p:spPr>
          <a:xfrm>
            <a:off x="5620433" y="1636659"/>
            <a:ext cx="1766700" cy="679200"/>
          </a:xfrm>
          <a:prstGeom prst="rect">
            <a:avLst/>
          </a:prstGeom>
          <a:solidFill>
            <a:srgbClr val="F8EBA2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Статистический или ML-классификатор</a:t>
            </a:r>
            <a:endParaRPr/>
          </a:p>
        </p:txBody>
      </p:sp>
      <p:sp>
        <p:nvSpPr>
          <p:cNvPr id="481" name="Google Shape;481;g2c0e88b713e_0_323"/>
          <p:cNvSpPr/>
          <p:nvPr/>
        </p:nvSpPr>
        <p:spPr>
          <a:xfrm>
            <a:off x="5620433" y="3181225"/>
            <a:ext cx="1766700" cy="679200"/>
          </a:xfrm>
          <a:prstGeom prst="rect">
            <a:avLst/>
          </a:prstGeom>
          <a:solidFill>
            <a:srgbClr val="F8EBA2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NLP-Модель на рекуррентных сетях или более современных</a:t>
            </a:r>
            <a:endParaRPr/>
          </a:p>
        </p:txBody>
      </p:sp>
      <p:sp>
        <p:nvSpPr>
          <p:cNvPr id="482" name="Google Shape;482;g2c0e88b713e_0_323"/>
          <p:cNvSpPr/>
          <p:nvPr/>
        </p:nvSpPr>
        <p:spPr>
          <a:xfrm>
            <a:off x="3467273" y="3181225"/>
            <a:ext cx="1766700" cy="679200"/>
          </a:xfrm>
          <a:prstGeom prst="rect">
            <a:avLst/>
          </a:prstGeom>
          <a:solidFill>
            <a:srgbClr val="F8EBA2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Нейросетевые акустические модели </a:t>
            </a:r>
            <a:endParaRPr/>
          </a:p>
        </p:txBody>
      </p:sp>
      <p:sp>
        <p:nvSpPr>
          <p:cNvPr id="483" name="Google Shape;483;g2c0e88b713e_0_323"/>
          <p:cNvSpPr/>
          <p:nvPr/>
        </p:nvSpPr>
        <p:spPr>
          <a:xfrm>
            <a:off x="1233524" y="3181225"/>
            <a:ext cx="1766700" cy="679200"/>
          </a:xfrm>
          <a:prstGeom prst="rect">
            <a:avLst/>
          </a:prstGeom>
          <a:solidFill>
            <a:srgbClr val="F8EBA2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Оптимизационные (Грффин-Лимм) или нейросетевые.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c0e88b713e_0_42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Синтез речи</a:t>
            </a:r>
            <a:endParaRPr/>
          </a:p>
        </p:txBody>
      </p:sp>
      <p:sp>
        <p:nvSpPr>
          <p:cNvPr id="489" name="Google Shape;489;g2c0e88b713e_0_4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490" name="Google Shape;490;g2c0e88b713e_0_425"/>
          <p:cNvGrpSpPr/>
          <p:nvPr/>
        </p:nvGrpSpPr>
        <p:grpSpPr>
          <a:xfrm>
            <a:off x="920764" y="1027570"/>
            <a:ext cx="7283421" cy="3441900"/>
            <a:chOff x="930289" y="1151095"/>
            <a:chExt cx="7283421" cy="3441900"/>
          </a:xfrm>
        </p:grpSpPr>
        <p:pic>
          <p:nvPicPr>
            <p:cNvPr id="491" name="Google Shape;491;g2c0e88b713e_0_4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30289" y="1151095"/>
              <a:ext cx="7283421" cy="344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g2c0e88b713e_0_425"/>
            <p:cNvSpPr/>
            <p:nvPr/>
          </p:nvSpPr>
          <p:spPr>
            <a:xfrm>
              <a:off x="1584960" y="3239589"/>
              <a:ext cx="1262700" cy="296100"/>
            </a:xfrm>
            <a:prstGeom prst="rect">
              <a:avLst/>
            </a:prstGeom>
            <a:noFill/>
            <a:ln cap="flat" cmpd="sng" w="57150">
              <a:solidFill>
                <a:srgbClr val="0032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g2c0e88b713e_0_425"/>
            <p:cNvSpPr/>
            <p:nvPr/>
          </p:nvSpPr>
          <p:spPr>
            <a:xfrm>
              <a:off x="3283131" y="1593668"/>
              <a:ext cx="1419600" cy="2760600"/>
            </a:xfrm>
            <a:prstGeom prst="rect">
              <a:avLst/>
            </a:prstGeom>
            <a:noFill/>
            <a:ln cap="flat" cmpd="sng" w="57150">
              <a:solidFill>
                <a:srgbClr val="0032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g2c0e88b713e_0_425"/>
            <p:cNvSpPr/>
            <p:nvPr/>
          </p:nvSpPr>
          <p:spPr>
            <a:xfrm>
              <a:off x="1584960" y="2872045"/>
              <a:ext cx="1262700" cy="296100"/>
            </a:xfrm>
            <a:prstGeom prst="rect">
              <a:avLst/>
            </a:prstGeom>
            <a:noFill/>
            <a:ln cap="flat" cmpd="sng" w="57150">
              <a:solidFill>
                <a:srgbClr val="F15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g2c0e88b713e_0_425"/>
            <p:cNvSpPr/>
            <p:nvPr/>
          </p:nvSpPr>
          <p:spPr>
            <a:xfrm>
              <a:off x="4702629" y="1593668"/>
              <a:ext cx="1349700" cy="2760600"/>
            </a:xfrm>
            <a:prstGeom prst="rect">
              <a:avLst/>
            </a:prstGeom>
            <a:noFill/>
            <a:ln cap="flat" cmpd="sng" w="57150">
              <a:solidFill>
                <a:srgbClr val="F15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g2c0e88b713e_0_425"/>
            <p:cNvSpPr/>
            <p:nvPr/>
          </p:nvSpPr>
          <p:spPr>
            <a:xfrm>
              <a:off x="5381896" y="3020090"/>
              <a:ext cx="522600" cy="296100"/>
            </a:xfrm>
            <a:prstGeom prst="rect">
              <a:avLst/>
            </a:prstGeom>
            <a:noFill/>
            <a:ln cap="flat" cmpd="sng" w="5715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g2c0e88b713e_0_425"/>
            <p:cNvSpPr/>
            <p:nvPr/>
          </p:nvSpPr>
          <p:spPr>
            <a:xfrm>
              <a:off x="6096003" y="1593668"/>
              <a:ext cx="1968000" cy="2760600"/>
            </a:xfrm>
            <a:prstGeom prst="rect">
              <a:avLst/>
            </a:prstGeom>
            <a:noFill/>
            <a:ln cap="flat" cmpd="sng" w="5715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8" name="Google Shape;498;g2c0e88b713e_0_425"/>
          <p:cNvSpPr txBox="1"/>
          <p:nvPr/>
        </p:nvSpPr>
        <p:spPr>
          <a:xfrm>
            <a:off x="3583587" y="4663217"/>
            <a:ext cx="197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Оригинальная статья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c0e88b713e_0_366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Синтез певческого голоса</a:t>
            </a:r>
            <a:endParaRPr/>
          </a:p>
        </p:txBody>
      </p:sp>
      <p:sp>
        <p:nvSpPr>
          <p:cNvPr id="504" name="Google Shape;504;g2c0e88b713e_0_3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05" name="Google Shape;505;g2c0e88b713e_0_366"/>
          <p:cNvSpPr/>
          <p:nvPr/>
        </p:nvSpPr>
        <p:spPr>
          <a:xfrm>
            <a:off x="0" y="4629184"/>
            <a:ext cx="72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Yu Gu, Xiang Yin, Yonghui Rao, Yuan Wan, Benlai Tang, Yang Zhang, Jitong Chen, Yuxuan Wang, Zejun Ma. “ByteSing: A Chinese Singing Voice Synthesis System Using Duration Allocated Encoder-Decoder Acoustic Models and WaveRNN Vocoders”. –– 2021. –– Vol. arXiv: 2004.11012. –– version 2. Access mode: https://arxiv.org/pdf/2004.11012.pdf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06" name="Google Shape;506;g2c0e88b713e_0_366"/>
          <p:cNvGrpSpPr/>
          <p:nvPr/>
        </p:nvGrpSpPr>
        <p:grpSpPr>
          <a:xfrm>
            <a:off x="189955" y="1234800"/>
            <a:ext cx="8421488" cy="2993400"/>
            <a:chOff x="168355" y="1307850"/>
            <a:chExt cx="8421488" cy="2993400"/>
          </a:xfrm>
        </p:grpSpPr>
        <p:pic>
          <p:nvPicPr>
            <p:cNvPr id="507" name="Google Shape;507;g2c0e88b713e_0_3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8355" y="1307850"/>
              <a:ext cx="4778114" cy="29932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8" name="Google Shape;508;g2c0e88b713e_0_3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72738" y="1307851"/>
              <a:ext cx="3317105" cy="29932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9" name="Google Shape;509;g2c0e88b713e_0_366"/>
            <p:cNvSpPr/>
            <p:nvPr/>
          </p:nvSpPr>
          <p:spPr>
            <a:xfrm>
              <a:off x="2011680" y="2055223"/>
              <a:ext cx="1044900" cy="635700"/>
            </a:xfrm>
            <a:prstGeom prst="rect">
              <a:avLst/>
            </a:prstGeom>
            <a:noFill/>
            <a:ln cap="flat" cmpd="sng" w="57150">
              <a:solidFill>
                <a:srgbClr val="0032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g2c0e88b713e_0_366"/>
            <p:cNvSpPr/>
            <p:nvPr/>
          </p:nvSpPr>
          <p:spPr>
            <a:xfrm>
              <a:off x="5272738" y="1307850"/>
              <a:ext cx="3317100" cy="2993400"/>
            </a:xfrm>
            <a:prstGeom prst="rect">
              <a:avLst/>
            </a:prstGeom>
            <a:noFill/>
            <a:ln cap="flat" cmpd="sng" w="57150">
              <a:solidFill>
                <a:srgbClr val="0032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c0e88b713e_0_41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200">
                <a:latin typeface="Golos Text"/>
                <a:ea typeface="Golos Text"/>
                <a:cs typeface="Golos Text"/>
                <a:sym typeface="Golos Text"/>
              </a:rPr>
              <a:t>Синтез певческого голоса</a:t>
            </a:r>
            <a:endParaRPr/>
          </a:p>
        </p:txBody>
      </p:sp>
      <p:sp>
        <p:nvSpPr>
          <p:cNvPr id="516" name="Google Shape;516;g2c0e88b713e_0_4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17" name="Google Shape;517;g2c0e88b713e_0_411"/>
          <p:cNvSpPr txBox="1"/>
          <p:nvPr/>
        </p:nvSpPr>
        <p:spPr>
          <a:xfrm>
            <a:off x="122842" y="4706128"/>
            <a:ext cx="202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Оригинальная статья</a:t>
            </a:r>
            <a:r>
              <a:rPr lang="ru-RU">
                <a:solidFill>
                  <a:schemeClr val="dk1"/>
                </a:solidFill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g2c0e88b713e_0_4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3024" y="902584"/>
            <a:ext cx="2530148" cy="4071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g2c0e88b713e_0_4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237" y="1264625"/>
            <a:ext cx="4451558" cy="3260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ba3d66f664_0_40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sz="2380"/>
              <a:t>ЛР4. MIR системы</a:t>
            </a:r>
            <a:endParaRPr sz="2380"/>
          </a:p>
        </p:txBody>
      </p:sp>
      <p:sp>
        <p:nvSpPr>
          <p:cNvPr id="526" name="Google Shape;526;g2ba3d66f664_0_40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27" name="Google Shape;527;g2ba3d66f664_0_408"/>
          <p:cNvSpPr txBox="1"/>
          <p:nvPr/>
        </p:nvSpPr>
        <p:spPr>
          <a:xfrm>
            <a:off x="296850" y="1160288"/>
            <a:ext cx="84231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Старт: 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12 марта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2024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Дедлайн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1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9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марта 2024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Ссылка на ЛР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u="sng">
                <a:solidFill>
                  <a:schemeClr val="hlink"/>
                </a:solidFill>
                <a:latin typeface="Golos Text"/>
                <a:ea typeface="Golos Text"/>
                <a:cs typeface="Golos Text"/>
                <a:sym typeface="Golos Text"/>
                <a:hlinkClick r:id="rId3"/>
              </a:rPr>
              <a:t>https://colab.research.google.com/drive/1HL3_7u7IlPg6PIJgGZasQGsLD5xSR8fu?usp=sharing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Баллы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0 - 10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Количество человек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1-2-3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528" name="Google Shape;528;g2ba3d66f664_0_4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9871" y="3392925"/>
            <a:ext cx="2039975" cy="126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5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sz="4400"/>
          </a:p>
        </p:txBody>
      </p:sp>
      <p:sp>
        <p:nvSpPr>
          <p:cNvPr id="534" name="Google Shape;534;p25"/>
          <p:cNvSpPr txBox="1"/>
          <p:nvPr/>
        </p:nvSpPr>
        <p:spPr>
          <a:xfrm>
            <a:off x="5606275" y="4158400"/>
            <a:ext cx="3499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abrosimov.kirill.1999@mail.ru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35" name="Google Shape;535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