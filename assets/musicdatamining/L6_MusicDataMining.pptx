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Golos Text"/>
      <p:regular r:id="rId53"/>
      <p:bold r:id="rId54"/>
    </p:embeddedFont>
    <p:embeddedFont>
      <p:font typeface="Lato"/>
      <p:regular r:id="rId55"/>
      <p:bold r:id="rId56"/>
      <p:italic r:id="rId57"/>
      <p:boldItalic r:id="rId58"/>
    </p:embeddedFont>
    <p:embeddedFont>
      <p:font typeface="Corbel"/>
      <p:regular r:id="rId59"/>
      <p:bold r:id="rId60"/>
      <p:italic r:id="rId61"/>
      <p:boldItalic r:id="rId62"/>
    </p:embeddedFont>
    <p:embeddedFont>
      <p:font typeface="Lustria"/>
      <p:regular r:id="rId63"/>
    </p:embeddedFont>
    <p:embeddedFont>
      <p:font typeface="Golos Text SemiBold"/>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1">
          <p15:clr>
            <a:srgbClr val="A4A3A4"/>
          </p15:clr>
        </p15:guide>
        <p15:guide id="2" pos="2874">
          <p15:clr>
            <a:srgbClr val="A4A3A4"/>
          </p15:clr>
        </p15:guide>
      </p15:sldGuideLst>
    </p:ext>
    <p:ext uri="GoogleSlidesCustomDataVersion2">
      <go:slidesCustomData xmlns:go="http://customooxmlschemas.google.com/" r:id="rId66" roundtripDataSignature="AMtx7mj2p7kyr+X1CTlDYc5HbsyqT+yQ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1" orient="horz"/>
        <p:guide pos="287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Corbel-boldItalic.fntdata"/><Relationship Id="rId61" Type="http://schemas.openxmlformats.org/officeDocument/2006/relationships/font" Target="fonts/Corbel-italic.fntdata"/><Relationship Id="rId20" Type="http://schemas.openxmlformats.org/officeDocument/2006/relationships/slide" Target="slides/slide15.xml"/><Relationship Id="rId64" Type="http://schemas.openxmlformats.org/officeDocument/2006/relationships/font" Target="fonts/GolosTextSemiBold-regular.fntdata"/><Relationship Id="rId63" Type="http://schemas.openxmlformats.org/officeDocument/2006/relationships/font" Target="fonts/Lustria-regular.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GolosTextSemiBold-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Corbel-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GolosText-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Lato-regular.fntdata"/><Relationship Id="rId10" Type="http://schemas.openxmlformats.org/officeDocument/2006/relationships/slide" Target="slides/slide5.xml"/><Relationship Id="rId54" Type="http://schemas.openxmlformats.org/officeDocument/2006/relationships/font" Target="fonts/GolosText-bold.fntdata"/><Relationship Id="rId13" Type="http://schemas.openxmlformats.org/officeDocument/2006/relationships/slide" Target="slides/slide8.xml"/><Relationship Id="rId57" Type="http://schemas.openxmlformats.org/officeDocument/2006/relationships/font" Target="fonts/Lato-italic.fntdata"/><Relationship Id="rId12" Type="http://schemas.openxmlformats.org/officeDocument/2006/relationships/slide" Target="slides/slide7.xml"/><Relationship Id="rId56" Type="http://schemas.openxmlformats.org/officeDocument/2006/relationships/font" Target="fonts/Lato-bold.fntdata"/><Relationship Id="rId15" Type="http://schemas.openxmlformats.org/officeDocument/2006/relationships/slide" Target="slides/slide10.xml"/><Relationship Id="rId59" Type="http://schemas.openxmlformats.org/officeDocument/2006/relationships/font" Target="fonts/Corbel-regular.fntdata"/><Relationship Id="rId14" Type="http://schemas.openxmlformats.org/officeDocument/2006/relationships/slide" Target="slides/slide9.xml"/><Relationship Id="rId58" Type="http://schemas.openxmlformats.org/officeDocument/2006/relationships/font" Target="fonts/La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2c83c1f8c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282c83c1f8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c39dba05ed_0_13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2c39dba05ed_0_13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c6577b9d4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2c6577b9d4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c6577b9d44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2c6577b9d44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c6577b9d44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2c6577b9d44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c6577b9d44_0_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2c6577b9d44_0_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c6577b9d44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2c6577b9d44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c6577b9d44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2c6577b9d44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c6577b9d44_0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2c6577b9d44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c6577b9d44_0_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2c6577b9d44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c6577b9d44_0_8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2c6577b9d44_0_8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c6577b9d44_0_8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2c6577b9d44_0_8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c6577b9d44_0_2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g2c6577b9d44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c6577b9d44_0_3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2c6577b9d44_0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c6577b9d44_0_3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g2c6577b9d44_0_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c6577b9d44_0_4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g2c6577b9d44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c6577b9d44_0_5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2c6577b9d44_0_5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g2c6577b9d44_0_5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c6577b9d44_0_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g2c6577b9d44_0_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g2c6577b9d44_0_6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c6577b9d44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7" name="Google Shape;937;g2c6577b9d44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c6577b9d44_0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2c6577b9d44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c6577b9d44_0_9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1" name="Google Shape;951;g2c6577b9d44_0_9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c6577b9d44_0_9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g2c6577b9d44_0_9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c6577b9d44_0_9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2c6577b9d44_0_9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c6577b9d44_0_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g2c6577b9d44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c6577b9d44_0_9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2c6577b9d44_0_9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c6577b9d44_0_9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5" name="Google Shape;995;g2c6577b9d44_0_9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c6577b9d44_0_9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3" name="Google Shape;1003;g2c6577b9d44_0_9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ru-RU"/>
              <a:t>Я расскажу немного больше о свойствах инвариантности, потому что я решил, что они самые важные. Большинство существующих подходов к составлению музыки на основе RNN инвариантны во времени, поскольку каждый временной шаг представляет собой единственную итерацию сети. Но они, как правило, не инвариантны в примечании. Обычно существует какой-то конкретный выходной узел, который представляет каждую ноту. Таким образом, транспонирование всего, скажем, на целый шаг, привело бы к совершенно другому результату. Для большинства последовательностей это то, что вам нужно: “hello” полностью отличается от “ifmmp”, который просто “транспонирует” одну букву. Но в музыке вы хотите подчеркнуть относительные отношения по сравнению с абсолютными позициями: аккорды до мажор больше похожи на аккорд ре мажор, чем на аккорд до минор, хотя аккорд до минор ближе по отношению к абсолютным позициям нот.Существует один вид широко используемых сегодня нейронных сетей, обладающих этим инвариантным свойством во многих направлениях: сверточные нейронные сети для распознавания изображений. Они работают, в основном изучая ядро свертки, а затем применяя это же ядро свертки к каждому пикселю входного изображения.</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ru-RU"/>
              <a:t>Гипотетически, что произойдет, если мы заменим ядро свертки чем-то другим? Скажем, рекуррентная нейронная сеть? Тогда каждый пиксель будет иметь свою собственную нейронную сеть, которая будет принимать входные данные из области вокруг пикселя. Каждая нейронная сеть, в свою очередь, будет иметь свои собственные ячейки памяти и повторяющиеся соединения во времени.Теперь замените пиксели заметками, и у нас есть идея, что мы можем сделать. Если мы создадим стек идентичных рекуррентных нейронных сетей, по одной для каждой выходной ноты, и дадим каждой из них локальное соседство (например, на одну октаву выше и ниже) вокруг ноты в качестве входных данных, то у нас будет система, инвариантная как во времени, так и в нотах: сеть может работать с относительные входные данные в обоих направлениях.</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2c6577b9d44_0_9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2" name="Google Shape;1012;g2c6577b9d44_0_9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c6577b9d44_0_9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2" name="Google Shape;1022;g2c6577b9d44_0_9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c6577b9d44_0_9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1" name="Google Shape;1031;g2c6577b9d44_0_9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c6577b9d44_0_9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2c6577b9d44_0_9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2c6577b9d44_0_12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7" name="Google Shape;1047;g2c6577b9d44_0_12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c6577b9d44_0_12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7" name="Google Shape;1057;g2c6577b9d44_0_12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c6577b9d44_0_1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5" name="Google Shape;1085;g2c6577b9d44_0_1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c6577b9d44_0_12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2c6577b9d44_0_1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c6577b9d44_0_13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2c6577b9d44_0_13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c6577b9d44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0" name="Google Shape;1130;g2c6577b9d44_0_13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c6577b9d44_0_1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2" name="Google Shape;1142;g2c6577b9d44_0_1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c6577b9d44_0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g2c6577b9d44_0_1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c6577b9d44_0_1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0" name="Google Shape;1280;g2c6577b9d44_0_1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c6577b9d44_0_15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8" name="Google Shape;1288;g2c6577b9d44_0_1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2c6577b9d44_0_1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1" name="Google Shape;1321;g2c6577b9d44_0_1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c6577b9d44_0_15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0" name="Google Shape;1330;g2c6577b9d44_0_15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2c6577b9d44_0_15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0" name="Google Shape;1340;g2c6577b9d44_0_15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2ba3d66f664_0_4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0" name="Google Shape;1350;g2ba3d66f664_0_4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1" name="Google Shape;1351;g2ba3d66f664_0_4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ru-RU"/>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9" name="Google Shape;135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txBox="1"/>
          <p:nvPr/>
        </p:nvSpPr>
        <p:spPr>
          <a:xfrm>
            <a:off x="5098416" y="49027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27"/>
          <p:cNvSpPr txBox="1"/>
          <p:nvPr/>
        </p:nvSpPr>
        <p:spPr>
          <a:xfrm>
            <a:off x="5910801" y="427239"/>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27"/>
          <p:cNvSpPr txBox="1"/>
          <p:nvPr/>
        </p:nvSpPr>
        <p:spPr>
          <a:xfrm>
            <a:off x="5098416" y="49027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27"/>
          <p:cNvSpPr txBox="1"/>
          <p:nvPr/>
        </p:nvSpPr>
        <p:spPr>
          <a:xfrm>
            <a:off x="5910801" y="427239"/>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27"/>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2" name="Google Shape;22;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8"/>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Golos Text"/>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28"/>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2c39dba05ed_0_282"/>
          <p:cNvSpPr txBox="1"/>
          <p:nvPr>
            <p:ph type="title"/>
          </p:nvPr>
        </p:nvSpPr>
        <p:spPr>
          <a:xfrm>
            <a:off x="1297500" y="393750"/>
            <a:ext cx="7038900" cy="914100"/>
          </a:xfrm>
          <a:prstGeom prst="rect">
            <a:avLst/>
          </a:prstGeom>
          <a:noFill/>
          <a:ln>
            <a:noFill/>
          </a:ln>
          <a:effectLst>
            <a:outerShdw blurRad="25400">
              <a:srgbClr val="000000">
                <a:alpha val="45490"/>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chemeClr val="lt2"/>
              </a:buClr>
              <a:buSzPts val="2400"/>
              <a:buFont typeface="Lustria"/>
              <a:buNone/>
              <a:defRPr sz="2400"/>
            </a:lvl1pPr>
            <a:lvl2pPr lvl="1" algn="l">
              <a:lnSpc>
                <a:spcPct val="100000"/>
              </a:lnSpc>
              <a:spcBef>
                <a:spcPts val="0"/>
              </a:spcBef>
              <a:spcAft>
                <a:spcPts val="0"/>
              </a:spcAft>
              <a:buClr>
                <a:schemeClr val="lt2"/>
              </a:buClr>
              <a:buSzPts val="2400"/>
              <a:buNone/>
              <a:defRPr sz="2400"/>
            </a:lvl2pPr>
            <a:lvl3pPr lvl="2" algn="l">
              <a:lnSpc>
                <a:spcPct val="100000"/>
              </a:lnSpc>
              <a:spcBef>
                <a:spcPts val="0"/>
              </a:spcBef>
              <a:spcAft>
                <a:spcPts val="0"/>
              </a:spcAft>
              <a:buClr>
                <a:schemeClr val="lt2"/>
              </a:buClr>
              <a:buSzPts val="2400"/>
              <a:buNone/>
              <a:defRPr sz="2400"/>
            </a:lvl3pPr>
            <a:lvl4pPr lvl="3" algn="l">
              <a:lnSpc>
                <a:spcPct val="100000"/>
              </a:lnSpc>
              <a:spcBef>
                <a:spcPts val="0"/>
              </a:spcBef>
              <a:spcAft>
                <a:spcPts val="0"/>
              </a:spcAft>
              <a:buClr>
                <a:schemeClr val="lt2"/>
              </a:buClr>
              <a:buSzPts val="2400"/>
              <a:buNone/>
              <a:defRPr sz="2400"/>
            </a:lvl4pPr>
            <a:lvl5pPr lvl="4" algn="l">
              <a:lnSpc>
                <a:spcPct val="100000"/>
              </a:lnSpc>
              <a:spcBef>
                <a:spcPts val="0"/>
              </a:spcBef>
              <a:spcAft>
                <a:spcPts val="0"/>
              </a:spcAft>
              <a:buClr>
                <a:schemeClr val="lt2"/>
              </a:buClr>
              <a:buSzPts val="2400"/>
              <a:buNone/>
              <a:defRPr sz="2400"/>
            </a:lvl5pPr>
            <a:lvl6pPr lvl="5" algn="l">
              <a:lnSpc>
                <a:spcPct val="100000"/>
              </a:lnSpc>
              <a:spcBef>
                <a:spcPts val="0"/>
              </a:spcBef>
              <a:spcAft>
                <a:spcPts val="0"/>
              </a:spcAft>
              <a:buClr>
                <a:schemeClr val="lt2"/>
              </a:buClr>
              <a:buSzPts val="2400"/>
              <a:buNone/>
              <a:defRPr sz="2400"/>
            </a:lvl6pPr>
            <a:lvl7pPr lvl="6" algn="l">
              <a:lnSpc>
                <a:spcPct val="100000"/>
              </a:lnSpc>
              <a:spcBef>
                <a:spcPts val="0"/>
              </a:spcBef>
              <a:spcAft>
                <a:spcPts val="0"/>
              </a:spcAft>
              <a:buClr>
                <a:schemeClr val="lt2"/>
              </a:buClr>
              <a:buSzPts val="2400"/>
              <a:buNone/>
              <a:defRPr sz="2400"/>
            </a:lvl7pPr>
            <a:lvl8pPr lvl="7" algn="l">
              <a:lnSpc>
                <a:spcPct val="100000"/>
              </a:lnSpc>
              <a:spcBef>
                <a:spcPts val="0"/>
              </a:spcBef>
              <a:spcAft>
                <a:spcPts val="0"/>
              </a:spcAft>
              <a:buClr>
                <a:schemeClr val="lt2"/>
              </a:buClr>
              <a:buSzPts val="2400"/>
              <a:buNone/>
              <a:defRPr sz="2400"/>
            </a:lvl8pPr>
            <a:lvl9pPr lvl="8" algn="l">
              <a:lnSpc>
                <a:spcPct val="100000"/>
              </a:lnSpc>
              <a:spcBef>
                <a:spcPts val="0"/>
              </a:spcBef>
              <a:spcAft>
                <a:spcPts val="0"/>
              </a:spcAft>
              <a:buClr>
                <a:schemeClr val="lt2"/>
              </a:buClr>
              <a:buSzPts val="2400"/>
              <a:buNone/>
              <a:defRPr sz="2400"/>
            </a:lvl9pPr>
          </a:lstStyle>
          <a:p/>
        </p:txBody>
      </p:sp>
      <p:sp>
        <p:nvSpPr>
          <p:cNvPr id="29" name="Google Shape;29;g2c39dba05ed_0_282"/>
          <p:cNvSpPr txBox="1"/>
          <p:nvPr>
            <p:ph idx="1" type="body"/>
          </p:nvPr>
        </p:nvSpPr>
        <p:spPr>
          <a:xfrm>
            <a:off x="1297500" y="1567550"/>
            <a:ext cx="7038900" cy="2911200"/>
          </a:xfrm>
          <a:prstGeom prst="rect">
            <a:avLst/>
          </a:prstGeom>
          <a:noFill/>
          <a:ln>
            <a:noFill/>
          </a:ln>
          <a:effectLst>
            <a:outerShdw blurRad="25400">
              <a:srgbClr val="000000">
                <a:alpha val="45490"/>
              </a:srgbClr>
            </a:outerShdw>
          </a:effectLst>
        </p:spPr>
        <p:txBody>
          <a:bodyPr anchorCtr="0" anchor="t" bIns="91425" lIns="91425" spcFirstLastPara="1" rIns="91425" wrap="square" tIns="91425">
            <a:normAutofit/>
          </a:bodyPr>
          <a:lstStyle>
            <a:lvl1pPr indent="-311150" lvl="0" marL="457200" algn="l">
              <a:lnSpc>
                <a:spcPct val="100000"/>
              </a:lnSpc>
              <a:spcBef>
                <a:spcPts val="0"/>
              </a:spcBef>
              <a:spcAft>
                <a:spcPts val="0"/>
              </a:spcAft>
              <a:buSzPts val="13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0" name="Google Shape;30;g2c39dba05ed_0_2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1pPr>
            <a:lvl2pPr indent="0" lvl="1"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2pPr>
            <a:lvl3pPr indent="0" lvl="2"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3pPr>
            <a:lvl4pPr indent="0" lvl="3"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4pPr>
            <a:lvl5pPr indent="0" lvl="4"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5pPr>
            <a:lvl6pPr indent="0" lvl="5"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6pPr>
            <a:lvl7pPr indent="0" lvl="6"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7pPr>
            <a:lvl8pPr indent="0" lvl="7"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8pPr>
            <a:lvl9pPr indent="0" lvl="8"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30"/>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0"/>
          <p:cNvSpPr txBox="1"/>
          <p:nvPr>
            <p:ph idx="1" type="body"/>
          </p:nvPr>
        </p:nvSpPr>
        <p:spPr>
          <a:xfrm>
            <a:off x="457201" y="963397"/>
            <a:ext cx="2532744" cy="188302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i="0" sz="18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30"/>
          <p:cNvSpPr/>
          <p:nvPr>
            <p:ph idx="2" type="pic"/>
          </p:nvPr>
        </p:nvSpPr>
        <p:spPr>
          <a:xfrm>
            <a:off x="3095171" y="963397"/>
            <a:ext cx="2532744" cy="1883023"/>
          </a:xfrm>
          <a:prstGeom prst="roundRect">
            <a:avLst>
              <a:gd fmla="val 11537" name="adj"/>
            </a:avLst>
          </a:prstGeom>
          <a:noFill/>
          <a:ln>
            <a:noFill/>
          </a:ln>
        </p:spPr>
      </p:sp>
      <p:sp>
        <p:nvSpPr>
          <p:cNvPr id="35" name="Google Shape;35;p30"/>
          <p:cNvSpPr/>
          <p:nvPr>
            <p:ph idx="3" type="pic"/>
          </p:nvPr>
        </p:nvSpPr>
        <p:spPr>
          <a:xfrm>
            <a:off x="5733141" y="966928"/>
            <a:ext cx="2532744" cy="1883023"/>
          </a:xfrm>
          <a:prstGeom prst="roundRect">
            <a:avLst>
              <a:gd fmla="val 11196" name="adj"/>
            </a:avLst>
          </a:prstGeom>
          <a:noFill/>
          <a:ln>
            <a:noFill/>
          </a:ln>
        </p:spPr>
      </p:sp>
      <p:sp>
        <p:nvSpPr>
          <p:cNvPr id="36" name="Google Shape;36;p30"/>
          <p:cNvSpPr/>
          <p:nvPr>
            <p:ph idx="4" type="pic"/>
          </p:nvPr>
        </p:nvSpPr>
        <p:spPr>
          <a:xfrm>
            <a:off x="5733141" y="2954042"/>
            <a:ext cx="2532744" cy="1883023"/>
          </a:xfrm>
          <a:prstGeom prst="roundRect">
            <a:avLst>
              <a:gd fmla="val 8802" name="adj"/>
            </a:avLst>
          </a:prstGeom>
          <a:noFill/>
          <a:ln>
            <a:noFill/>
          </a:ln>
        </p:spPr>
      </p:sp>
      <p:sp>
        <p:nvSpPr>
          <p:cNvPr id="37" name="Google Shape;37;p30"/>
          <p:cNvSpPr/>
          <p:nvPr>
            <p:ph idx="5" type="pic"/>
          </p:nvPr>
        </p:nvSpPr>
        <p:spPr>
          <a:xfrm>
            <a:off x="3095171" y="2960314"/>
            <a:ext cx="2532744" cy="1883023"/>
          </a:xfrm>
          <a:prstGeom prst="roundRect">
            <a:avLst>
              <a:gd fmla="val 8459" name="adj"/>
            </a:avLst>
          </a:prstGeom>
          <a:noFill/>
          <a:ln>
            <a:noFill/>
          </a:ln>
        </p:spPr>
      </p:sp>
      <p:sp>
        <p:nvSpPr>
          <p:cNvPr id="38" name="Google Shape;38;p30"/>
          <p:cNvSpPr/>
          <p:nvPr>
            <p:ph idx="6" type="pic"/>
          </p:nvPr>
        </p:nvSpPr>
        <p:spPr>
          <a:xfrm>
            <a:off x="457200" y="2960314"/>
            <a:ext cx="2532744" cy="1883023"/>
          </a:xfrm>
          <a:prstGeom prst="roundRect">
            <a:avLst>
              <a:gd fmla="val 10169" name="adj"/>
            </a:avLst>
          </a:prstGeom>
          <a:noFill/>
          <a:ln>
            <a:noFill/>
          </a:ln>
        </p:spPr>
      </p:sp>
      <p:sp>
        <p:nvSpPr>
          <p:cNvPr id="39" name="Google Shape;39;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Финал">
  <p:cSld name="Финал">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32"/>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Arial"/>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 name="Google Shape;42;p32"/>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kfql">
  <p:cSld name="Ckfql">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29"/>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 type="body"/>
          </p:nvPr>
        </p:nvSpPr>
        <p:spPr>
          <a:xfrm>
            <a:off x="457200" y="1211943"/>
            <a:ext cx="7467600" cy="344714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228600" lvl="4" marL="2286000" algn="l">
              <a:lnSpc>
                <a:spcPct val="100000"/>
              </a:lnSpc>
              <a:spcBef>
                <a:spcPts val="360"/>
              </a:spcBef>
              <a:spcAft>
                <a:spcPts val="0"/>
              </a:spcAft>
              <a:buClr>
                <a:schemeClr val="dk1"/>
              </a:buClr>
              <a:buSzPts val="1800"/>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7" name="Google Shape;4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31"/>
          <p:cNvSpPr/>
          <p:nvPr>
            <p:ph idx="2" type="pic"/>
          </p:nvPr>
        </p:nvSpPr>
        <p:spPr>
          <a:xfrm>
            <a:off x="457200" y="936852"/>
            <a:ext cx="4608513" cy="3842155"/>
          </a:xfrm>
          <a:prstGeom prst="roundRect">
            <a:avLst>
              <a:gd fmla="val 7784" name="adj"/>
            </a:avLst>
          </a:prstGeom>
          <a:noFill/>
          <a:ln>
            <a:noFill/>
          </a:ln>
        </p:spPr>
      </p:sp>
      <p:sp>
        <p:nvSpPr>
          <p:cNvPr id="50" name="Google Shape;50;p31"/>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 name="Google Shape;52;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ользовательский макет">
  <p:cSld name="Пользовательский макет">
    <p:bg>
      <p:bgPr>
        <a:solidFill>
          <a:srgbClr val="FFFFFF"/>
        </a:solidFill>
      </p:bgPr>
    </p:bg>
    <p:spTree>
      <p:nvGrpSpPr>
        <p:cNvPr id="53" name="Shape 53"/>
        <p:cNvGrpSpPr/>
        <p:nvPr/>
      </p:nvGrpSpPr>
      <p:grpSpPr>
        <a:xfrm>
          <a:off x="0" y="0"/>
          <a:ext cx="0" cy="0"/>
          <a:chOff x="0" y="0"/>
          <a:chExt cx="0" cy="0"/>
        </a:xfrm>
      </p:grpSpPr>
      <p:sp>
        <p:nvSpPr>
          <p:cNvPr id="54" name="Google Shape;54;p33"/>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p33"/>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 name="Google Shape;56;p33"/>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 name="Google Shape;57;p33"/>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 name="Google Shape;58;p33"/>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Пользовательский макет">
  <p:cSld name="6_Пользовательский макет">
    <p:bg>
      <p:bgPr>
        <a:solidFill>
          <a:srgbClr val="FFFFFF"/>
        </a:solidFill>
      </p:bgPr>
    </p:bg>
    <p:spTree>
      <p:nvGrpSpPr>
        <p:cNvPr id="60" name="Shape 60"/>
        <p:cNvGrpSpPr/>
        <p:nvPr/>
      </p:nvGrpSpPr>
      <p:grpSpPr>
        <a:xfrm>
          <a:off x="0" y="0"/>
          <a:ext cx="0" cy="0"/>
          <a:chOff x="0" y="0"/>
          <a:chExt cx="0" cy="0"/>
        </a:xfrm>
      </p:grpSpPr>
      <p:sp>
        <p:nvSpPr>
          <p:cNvPr id="61" name="Google Shape;61;p34"/>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4"/>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3" name="Google Shape;63;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bg>
      <p:bgPr>
        <a:blipFill>
          <a:blip r:embed="rId2">
            <a:alphaModFix/>
          </a:blip>
          <a:stretch>
            <a:fillRect/>
          </a:stretch>
        </a:blipFill>
      </p:bgPr>
    </p:bg>
    <p:spTree>
      <p:nvGrpSpPr>
        <p:cNvPr id="64" name="Shape 64"/>
        <p:cNvGrpSpPr/>
        <p:nvPr/>
      </p:nvGrpSpPr>
      <p:grpSpPr>
        <a:xfrm>
          <a:off x="0" y="0"/>
          <a:ext cx="0" cy="0"/>
          <a:chOff x="0" y="0"/>
          <a:chExt cx="0" cy="0"/>
        </a:xfrm>
      </p:grpSpPr>
      <p:sp>
        <p:nvSpPr>
          <p:cNvPr id="65" name="Google Shape;65;p35"/>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Golos Text"/>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 name="Google Shape;66;p35"/>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36"/>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 name="Google Shape;70;p36"/>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6"/>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6"/>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 name="Google Shape;73;p36"/>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Пользовательский макет">
  <p:cSld name="3_Пользовательский макет">
    <p:bg>
      <p:bgPr>
        <a:solidFill>
          <a:srgbClr val="FFFFFF"/>
        </a:solidFill>
      </p:bgPr>
    </p:bg>
    <p:spTree>
      <p:nvGrpSpPr>
        <p:cNvPr id="75" name="Shape 75"/>
        <p:cNvGrpSpPr/>
        <p:nvPr/>
      </p:nvGrpSpPr>
      <p:grpSpPr>
        <a:xfrm>
          <a:off x="0" y="0"/>
          <a:ext cx="0" cy="0"/>
          <a:chOff x="0" y="0"/>
          <a:chExt cx="0" cy="0"/>
        </a:xfrm>
      </p:grpSpPr>
      <p:sp>
        <p:nvSpPr>
          <p:cNvPr id="76" name="Google Shape;76;p37"/>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p:nvPr>
            <p:ph idx="2" type="pic"/>
          </p:nvPr>
        </p:nvSpPr>
        <p:spPr>
          <a:xfrm>
            <a:off x="457200" y="936852"/>
            <a:ext cx="4608513" cy="3842155"/>
          </a:xfrm>
          <a:prstGeom prst="roundRect">
            <a:avLst>
              <a:gd fmla="val 7952" name="adj"/>
            </a:avLst>
          </a:prstGeom>
          <a:noFill/>
          <a:ln>
            <a:noFill/>
          </a:ln>
        </p:spPr>
      </p:sp>
      <p:sp>
        <p:nvSpPr>
          <p:cNvPr id="78" name="Google Shape;78;p37"/>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Пользовательский макет">
  <p:cSld name="7_Пользовательский макет">
    <p:bg>
      <p:bgPr>
        <a:solidFill>
          <a:srgbClr val="FFFFFF"/>
        </a:solidFill>
      </p:bgPr>
    </p:bg>
    <p:spTree>
      <p:nvGrpSpPr>
        <p:cNvPr id="80" name="Shape 80"/>
        <p:cNvGrpSpPr/>
        <p:nvPr/>
      </p:nvGrpSpPr>
      <p:grpSpPr>
        <a:xfrm>
          <a:off x="0" y="0"/>
          <a:ext cx="0" cy="0"/>
          <a:chOff x="0" y="0"/>
          <a:chExt cx="0" cy="0"/>
        </a:xfrm>
      </p:grpSpPr>
      <p:sp>
        <p:nvSpPr>
          <p:cNvPr id="81" name="Google Shape;81;p38"/>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Пользовательский макет">
  <p:cSld name="1_Пользовательский макет">
    <p:bg>
      <p:bgPr>
        <a:solidFill>
          <a:srgbClr val="FFFFFF"/>
        </a:solidFill>
      </p:bgPr>
    </p:bg>
    <p:spTree>
      <p:nvGrpSpPr>
        <p:cNvPr id="84" name="Shape 84"/>
        <p:cNvGrpSpPr/>
        <p:nvPr/>
      </p:nvGrpSpPr>
      <p:grpSpPr>
        <a:xfrm>
          <a:off x="0" y="0"/>
          <a:ext cx="0" cy="0"/>
          <a:chOff x="0" y="0"/>
          <a:chExt cx="0" cy="0"/>
        </a:xfrm>
      </p:grpSpPr>
      <p:sp>
        <p:nvSpPr>
          <p:cNvPr id="85" name="Google Shape;85;p39"/>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39"/>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39"/>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8" name="Google Shape;88;p39"/>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p39"/>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Пользовательский макет">
  <p:cSld name="4_Пользовательский макет">
    <p:bg>
      <p:bgPr>
        <a:solidFill>
          <a:srgbClr val="FFFFFF"/>
        </a:solidFill>
      </p:bgPr>
    </p:bg>
    <p:spTree>
      <p:nvGrpSpPr>
        <p:cNvPr id="91" name="Shape 91"/>
        <p:cNvGrpSpPr/>
        <p:nvPr/>
      </p:nvGrpSpPr>
      <p:grpSpPr>
        <a:xfrm>
          <a:off x="0" y="0"/>
          <a:ext cx="0" cy="0"/>
          <a:chOff x="0" y="0"/>
          <a:chExt cx="0" cy="0"/>
        </a:xfrm>
      </p:grpSpPr>
      <p:sp>
        <p:nvSpPr>
          <p:cNvPr id="92" name="Google Shape;92;p40"/>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0"/>
          <p:cNvSpPr/>
          <p:nvPr>
            <p:ph idx="2" type="pic"/>
          </p:nvPr>
        </p:nvSpPr>
        <p:spPr>
          <a:xfrm>
            <a:off x="457200" y="936852"/>
            <a:ext cx="4608513" cy="3842155"/>
          </a:xfrm>
          <a:prstGeom prst="roundRect">
            <a:avLst>
              <a:gd fmla="val 8957" name="adj"/>
            </a:avLst>
          </a:prstGeom>
          <a:noFill/>
          <a:ln>
            <a:noFill/>
          </a:ln>
        </p:spPr>
      </p:sp>
      <p:sp>
        <p:nvSpPr>
          <p:cNvPr id="94" name="Google Shape;94;p40"/>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5" name="Google Shape;95;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Пользовательский макет">
  <p:cSld name="8_Пользовательский макет">
    <p:bg>
      <p:bgPr>
        <a:solidFill>
          <a:srgbClr val="FFFFFF"/>
        </a:solidFill>
      </p:bgPr>
    </p:bg>
    <p:spTree>
      <p:nvGrpSpPr>
        <p:cNvPr id="96" name="Shape 96"/>
        <p:cNvGrpSpPr/>
        <p:nvPr/>
      </p:nvGrpSpPr>
      <p:grpSpPr>
        <a:xfrm>
          <a:off x="0" y="0"/>
          <a:ext cx="0" cy="0"/>
          <a:chOff x="0" y="0"/>
          <a:chExt cx="0" cy="0"/>
        </a:xfrm>
      </p:grpSpPr>
      <p:sp>
        <p:nvSpPr>
          <p:cNvPr id="97" name="Google Shape;97;p41"/>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41"/>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9" name="Google Shape;99;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Пользовательский макет">
  <p:cSld name="2_Пользовательский макет">
    <p:bg>
      <p:bgPr>
        <a:solidFill>
          <a:srgbClr val="FFFFFF"/>
        </a:solidFill>
      </p:bgPr>
    </p:bg>
    <p:spTree>
      <p:nvGrpSpPr>
        <p:cNvPr id="100" name="Shape 100"/>
        <p:cNvGrpSpPr/>
        <p:nvPr/>
      </p:nvGrpSpPr>
      <p:grpSpPr>
        <a:xfrm>
          <a:off x="0" y="0"/>
          <a:ext cx="0" cy="0"/>
          <a:chOff x="0" y="0"/>
          <a:chExt cx="0" cy="0"/>
        </a:xfrm>
      </p:grpSpPr>
      <p:sp>
        <p:nvSpPr>
          <p:cNvPr id="101" name="Google Shape;101;p42"/>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42"/>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42"/>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p42"/>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5" name="Google Shape;105;p42"/>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Пользовательский макет">
  <p:cSld name="5_Пользовательский макет">
    <p:bg>
      <p:bgPr>
        <a:solidFill>
          <a:srgbClr val="FFFFFF"/>
        </a:solidFill>
      </p:bgPr>
    </p:bg>
    <p:spTree>
      <p:nvGrpSpPr>
        <p:cNvPr id="107" name="Shape 107"/>
        <p:cNvGrpSpPr/>
        <p:nvPr/>
      </p:nvGrpSpPr>
      <p:grpSpPr>
        <a:xfrm>
          <a:off x="0" y="0"/>
          <a:ext cx="0" cy="0"/>
          <a:chOff x="0" y="0"/>
          <a:chExt cx="0" cy="0"/>
        </a:xfrm>
      </p:grpSpPr>
      <p:sp>
        <p:nvSpPr>
          <p:cNvPr id="108" name="Google Shape;108;p43"/>
          <p:cNvSpPr/>
          <p:nvPr>
            <p:ph idx="2" type="pic"/>
          </p:nvPr>
        </p:nvSpPr>
        <p:spPr>
          <a:xfrm>
            <a:off x="457200" y="936852"/>
            <a:ext cx="4608513" cy="3842155"/>
          </a:xfrm>
          <a:prstGeom prst="roundRect">
            <a:avLst>
              <a:gd fmla="val 7617" name="adj"/>
            </a:avLst>
          </a:prstGeom>
          <a:noFill/>
          <a:ln>
            <a:noFill/>
          </a:ln>
        </p:spPr>
      </p:sp>
      <p:sp>
        <p:nvSpPr>
          <p:cNvPr id="109" name="Google Shape;109;p43"/>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3"/>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 name="Google Shape;111;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bg>
      <p:bgPr>
        <a:blipFill>
          <a:blip r:embed="rId2">
            <a:alphaModFix/>
          </a:blip>
          <a:stretch>
            <a:fillRect/>
          </a:stretch>
        </a:blipFill>
      </p:bgPr>
    </p:bg>
    <p:spTree>
      <p:nvGrpSpPr>
        <p:cNvPr id="112" name="Shape 112"/>
        <p:cNvGrpSpPr/>
        <p:nvPr/>
      </p:nvGrpSpPr>
      <p:grpSpPr>
        <a:xfrm>
          <a:off x="0" y="0"/>
          <a:ext cx="0" cy="0"/>
          <a:chOff x="0" y="0"/>
          <a:chExt cx="0" cy="0"/>
        </a:xfrm>
      </p:grpSpPr>
      <p:sp>
        <p:nvSpPr>
          <p:cNvPr id="113" name="Google Shape;113;p44"/>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4"/>
          <p:cNvSpPr txBox="1"/>
          <p:nvPr>
            <p:ph idx="1" type="body"/>
          </p:nvPr>
        </p:nvSpPr>
        <p:spPr>
          <a:xfrm>
            <a:off x="3102428" y="943208"/>
            <a:ext cx="5526315" cy="38755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5" name="Google Shape;115;p44"/>
          <p:cNvSpPr/>
          <p:nvPr>
            <p:ph idx="2" type="pic"/>
          </p:nvPr>
        </p:nvSpPr>
        <p:spPr>
          <a:xfrm>
            <a:off x="457200" y="943208"/>
            <a:ext cx="2532744" cy="1883023"/>
          </a:xfrm>
          <a:prstGeom prst="roundRect">
            <a:avLst>
              <a:gd fmla="val 11537" name="adj"/>
            </a:avLst>
          </a:prstGeom>
          <a:noFill/>
          <a:ln>
            <a:noFill/>
          </a:ln>
        </p:spPr>
      </p:sp>
      <p:sp>
        <p:nvSpPr>
          <p:cNvPr id="116" name="Google Shape;116;p44"/>
          <p:cNvSpPr/>
          <p:nvPr>
            <p:ph idx="3" type="pic"/>
          </p:nvPr>
        </p:nvSpPr>
        <p:spPr>
          <a:xfrm>
            <a:off x="457200" y="2935720"/>
            <a:ext cx="2532744" cy="1883023"/>
          </a:xfrm>
          <a:prstGeom prst="roundRect">
            <a:avLst>
              <a:gd fmla="val 11537" name="adj"/>
            </a:avLst>
          </a:prstGeom>
          <a:noFill/>
          <a:ln>
            <a:noFill/>
          </a:ln>
        </p:spPr>
      </p:sp>
      <p:sp>
        <p:nvSpPr>
          <p:cNvPr id="117" name="Google Shape;117;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Пользовательский макет">
  <p:cSld name="9_Пользовательский макет">
    <p:bg>
      <p:bgPr>
        <a:solidFill>
          <a:srgbClr val="FFFFFF"/>
        </a:solidFill>
      </p:bgPr>
    </p:bg>
    <p:spTree>
      <p:nvGrpSpPr>
        <p:cNvPr id="118" name="Shape 118"/>
        <p:cNvGrpSpPr/>
        <p:nvPr/>
      </p:nvGrpSpPr>
      <p:grpSpPr>
        <a:xfrm>
          <a:off x="0" y="0"/>
          <a:ext cx="0" cy="0"/>
          <a:chOff x="0" y="0"/>
          <a:chExt cx="0" cy="0"/>
        </a:xfrm>
      </p:grpSpPr>
      <p:sp>
        <p:nvSpPr>
          <p:cNvPr id="119" name="Google Shape;119;p45"/>
          <p:cNvSpPr txBox="1"/>
          <p:nvPr>
            <p:ph idx="1" type="body"/>
          </p:nvPr>
        </p:nvSpPr>
        <p:spPr>
          <a:xfrm>
            <a:off x="457201" y="1059322"/>
            <a:ext cx="3897086" cy="173467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0" name="Google Shape;120;p45"/>
          <p:cNvSpPr txBox="1"/>
          <p:nvPr>
            <p:ph idx="2" type="body"/>
          </p:nvPr>
        </p:nvSpPr>
        <p:spPr>
          <a:xfrm>
            <a:off x="457202" y="3105836"/>
            <a:ext cx="3897084" cy="16403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 name="Google Shape;121;p45"/>
          <p:cNvSpPr txBox="1"/>
          <p:nvPr>
            <p:ph idx="3" type="body"/>
          </p:nvPr>
        </p:nvSpPr>
        <p:spPr>
          <a:xfrm>
            <a:off x="4789714" y="1059322"/>
            <a:ext cx="3632201" cy="368684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 name="Google Shape;122;p45"/>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bg>
      <p:bgPr>
        <a:blipFill>
          <a:blip r:embed="rId2">
            <a:alphaModFix/>
          </a:blip>
          <a:stretch>
            <a:fillRect/>
          </a:stretch>
        </a:blipFill>
      </p:bgPr>
    </p:bg>
    <p:spTree>
      <p:nvGrpSpPr>
        <p:cNvPr id="124" name="Shape 124"/>
        <p:cNvGrpSpPr/>
        <p:nvPr/>
      </p:nvGrpSpPr>
      <p:grpSpPr>
        <a:xfrm>
          <a:off x="0" y="0"/>
          <a:ext cx="0" cy="0"/>
          <a:chOff x="0" y="0"/>
          <a:chExt cx="0" cy="0"/>
        </a:xfrm>
      </p:grpSpPr>
      <p:sp>
        <p:nvSpPr>
          <p:cNvPr id="125" name="Google Shape;125;p46"/>
          <p:cNvSpPr txBox="1"/>
          <p:nvPr>
            <p:ph idx="1" type="body"/>
          </p:nvPr>
        </p:nvSpPr>
        <p:spPr>
          <a:xfrm>
            <a:off x="457201"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46"/>
          <p:cNvSpPr txBox="1"/>
          <p:nvPr>
            <p:ph idx="2" type="body"/>
          </p:nvPr>
        </p:nvSpPr>
        <p:spPr>
          <a:xfrm>
            <a:off x="3209454"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 name="Google Shape;127;p46"/>
          <p:cNvSpPr txBox="1"/>
          <p:nvPr>
            <p:ph idx="3" type="body"/>
          </p:nvPr>
        </p:nvSpPr>
        <p:spPr>
          <a:xfrm>
            <a:off x="5969804"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 name="Google Shape;128;p46"/>
          <p:cNvSpPr txBox="1"/>
          <p:nvPr>
            <p:ph idx="4" type="body"/>
          </p:nvPr>
        </p:nvSpPr>
        <p:spPr>
          <a:xfrm>
            <a:off x="457200" y="3287828"/>
            <a:ext cx="2588883" cy="13955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330200" lvl="1" marL="914400" algn="l">
              <a:lnSpc>
                <a:spcPct val="100000"/>
              </a:lnSpc>
              <a:spcBef>
                <a:spcPts val="320"/>
              </a:spcBef>
              <a:spcAft>
                <a:spcPts val="0"/>
              </a:spcAft>
              <a:buClr>
                <a:schemeClr val="dk1"/>
              </a:buClr>
              <a:buSzPts val="1600"/>
              <a:buChar char="•"/>
              <a:defRPr sz="1600"/>
            </a:lvl2pPr>
            <a:lvl3pPr indent="-330200" lvl="2" marL="1371600" algn="l">
              <a:lnSpc>
                <a:spcPct val="100000"/>
              </a:lnSpc>
              <a:spcBef>
                <a:spcPts val="320"/>
              </a:spcBef>
              <a:spcAft>
                <a:spcPts val="0"/>
              </a:spcAft>
              <a:buClr>
                <a:schemeClr val="dk1"/>
              </a:buClr>
              <a:buSzPts val="1600"/>
              <a:buChar char="•"/>
              <a:defRPr sz="1600"/>
            </a:lvl3pPr>
            <a:lvl4pPr indent="-330200" lvl="3" marL="1828800" algn="l">
              <a:lnSpc>
                <a:spcPct val="100000"/>
              </a:lnSpc>
              <a:spcBef>
                <a:spcPts val="320"/>
              </a:spcBef>
              <a:spcAft>
                <a:spcPts val="0"/>
              </a:spcAft>
              <a:buClr>
                <a:schemeClr val="dk1"/>
              </a:buClr>
              <a:buSzPts val="1600"/>
              <a:buChar char="•"/>
              <a:defRPr sz="1600"/>
            </a:lvl4pPr>
            <a:lvl5pPr indent="-228600" lvl="4" marL="2286000" algn="l">
              <a:lnSpc>
                <a:spcPct val="100000"/>
              </a:lnSpc>
              <a:spcBef>
                <a:spcPts val="320"/>
              </a:spcBef>
              <a:spcAft>
                <a:spcPts val="0"/>
              </a:spcAft>
              <a:buClr>
                <a:schemeClr val="dk1"/>
              </a:buClr>
              <a:buSzPts val="1600"/>
              <a:buNone/>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29" name="Google Shape;129;p46"/>
          <p:cNvSpPr txBox="1"/>
          <p:nvPr>
            <p:ph idx="5" type="body"/>
          </p:nvPr>
        </p:nvSpPr>
        <p:spPr>
          <a:xfrm>
            <a:off x="3207251" y="3299578"/>
            <a:ext cx="2591416" cy="139554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None/>
              <a:defRPr sz="1200"/>
            </a:lvl1pPr>
            <a:lvl2pPr indent="-304800" lvl="1" marL="914400" algn="l">
              <a:lnSpc>
                <a:spcPct val="100000"/>
              </a:lnSpc>
              <a:spcBef>
                <a:spcPts val="240"/>
              </a:spcBef>
              <a:spcAft>
                <a:spcPts val="0"/>
              </a:spcAft>
              <a:buClr>
                <a:schemeClr val="dk1"/>
              </a:buClr>
              <a:buSzPts val="1200"/>
              <a:buChar char="•"/>
              <a:defRPr sz="1200"/>
            </a:lvl2pPr>
            <a:lvl3pPr indent="-304800" lvl="2" marL="1371600" algn="l">
              <a:lnSpc>
                <a:spcPct val="100000"/>
              </a:lnSpc>
              <a:spcBef>
                <a:spcPts val="240"/>
              </a:spcBef>
              <a:spcAft>
                <a:spcPts val="0"/>
              </a:spcAft>
              <a:buClr>
                <a:schemeClr val="dk1"/>
              </a:buClr>
              <a:buSzPts val="1200"/>
              <a:buChar char="•"/>
              <a:defRPr sz="1200"/>
            </a:lvl3pPr>
            <a:lvl4pPr indent="-304800" lvl="3" marL="1828800" algn="l">
              <a:lnSpc>
                <a:spcPct val="100000"/>
              </a:lnSpc>
              <a:spcBef>
                <a:spcPts val="240"/>
              </a:spcBef>
              <a:spcAft>
                <a:spcPts val="0"/>
              </a:spcAft>
              <a:buClr>
                <a:schemeClr val="dk1"/>
              </a:buClr>
              <a:buSzPts val="1200"/>
              <a:buChar char="•"/>
              <a:defRPr sz="1200"/>
            </a:lvl4pPr>
            <a:lvl5pPr indent="-228600" lvl="4" marL="2286000" algn="l">
              <a:lnSpc>
                <a:spcPct val="100000"/>
              </a:lnSpc>
              <a:spcBef>
                <a:spcPts val="240"/>
              </a:spcBef>
              <a:spcAft>
                <a:spcPts val="0"/>
              </a:spcAft>
              <a:buClr>
                <a:schemeClr val="dk1"/>
              </a:buClr>
              <a:buSzPts val="1200"/>
              <a:buNone/>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0" name="Google Shape;130;p46"/>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46"/>
          <p:cNvSpPr txBox="1"/>
          <p:nvPr>
            <p:ph idx="6" type="body"/>
          </p:nvPr>
        </p:nvSpPr>
        <p:spPr>
          <a:xfrm>
            <a:off x="5967600" y="3299578"/>
            <a:ext cx="2591416" cy="139554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None/>
              <a:defRPr sz="1200"/>
            </a:lvl1pPr>
            <a:lvl2pPr indent="-304800" lvl="1" marL="914400" algn="l">
              <a:lnSpc>
                <a:spcPct val="100000"/>
              </a:lnSpc>
              <a:spcBef>
                <a:spcPts val="240"/>
              </a:spcBef>
              <a:spcAft>
                <a:spcPts val="0"/>
              </a:spcAft>
              <a:buClr>
                <a:schemeClr val="dk1"/>
              </a:buClr>
              <a:buSzPts val="1200"/>
              <a:buChar char="•"/>
              <a:defRPr sz="1200"/>
            </a:lvl2pPr>
            <a:lvl3pPr indent="-304800" lvl="2" marL="1371600" algn="l">
              <a:lnSpc>
                <a:spcPct val="100000"/>
              </a:lnSpc>
              <a:spcBef>
                <a:spcPts val="240"/>
              </a:spcBef>
              <a:spcAft>
                <a:spcPts val="0"/>
              </a:spcAft>
              <a:buClr>
                <a:schemeClr val="dk1"/>
              </a:buClr>
              <a:buSzPts val="1200"/>
              <a:buChar char="•"/>
              <a:defRPr sz="1200"/>
            </a:lvl3pPr>
            <a:lvl4pPr indent="-304800" lvl="3" marL="1828800" algn="l">
              <a:lnSpc>
                <a:spcPct val="100000"/>
              </a:lnSpc>
              <a:spcBef>
                <a:spcPts val="240"/>
              </a:spcBef>
              <a:spcAft>
                <a:spcPts val="0"/>
              </a:spcAft>
              <a:buClr>
                <a:schemeClr val="dk1"/>
              </a:buClr>
              <a:buSzPts val="1200"/>
              <a:buChar char="•"/>
              <a:defRPr sz="1200"/>
            </a:lvl4pPr>
            <a:lvl5pPr indent="-228600" lvl="4" marL="2286000" algn="l">
              <a:lnSpc>
                <a:spcPct val="100000"/>
              </a:lnSpc>
              <a:spcBef>
                <a:spcPts val="240"/>
              </a:spcBef>
              <a:spcAft>
                <a:spcPts val="0"/>
              </a:spcAft>
              <a:buClr>
                <a:schemeClr val="dk1"/>
              </a:buClr>
              <a:buSzPts val="1200"/>
              <a:buNone/>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2" name="Google Shape;132;p46"/>
          <p:cNvSpPr/>
          <p:nvPr>
            <p:ph idx="7" type="pic"/>
          </p:nvPr>
        </p:nvSpPr>
        <p:spPr>
          <a:xfrm>
            <a:off x="469081" y="944463"/>
            <a:ext cx="2577001" cy="1883023"/>
          </a:xfrm>
          <a:prstGeom prst="roundRect">
            <a:avLst>
              <a:gd fmla="val 11537" name="adj"/>
            </a:avLst>
          </a:prstGeom>
          <a:noFill/>
          <a:ln>
            <a:noFill/>
          </a:ln>
        </p:spPr>
      </p:sp>
      <p:sp>
        <p:nvSpPr>
          <p:cNvPr id="133" name="Google Shape;133;p46"/>
          <p:cNvSpPr/>
          <p:nvPr>
            <p:ph idx="8" type="pic"/>
          </p:nvPr>
        </p:nvSpPr>
        <p:spPr>
          <a:xfrm>
            <a:off x="3221666" y="944462"/>
            <a:ext cx="2577001" cy="1883023"/>
          </a:xfrm>
          <a:prstGeom prst="roundRect">
            <a:avLst>
              <a:gd fmla="val 12905" name="adj"/>
            </a:avLst>
          </a:prstGeom>
          <a:noFill/>
          <a:ln>
            <a:noFill/>
          </a:ln>
        </p:spPr>
      </p:sp>
      <p:sp>
        <p:nvSpPr>
          <p:cNvPr id="134" name="Google Shape;134;p46"/>
          <p:cNvSpPr/>
          <p:nvPr>
            <p:ph idx="9" type="pic"/>
          </p:nvPr>
        </p:nvSpPr>
        <p:spPr>
          <a:xfrm>
            <a:off x="5980690" y="944463"/>
            <a:ext cx="2577001" cy="1883023"/>
          </a:xfrm>
          <a:prstGeom prst="roundRect">
            <a:avLst>
              <a:gd fmla="val 10512" name="adj"/>
            </a:avLst>
          </a:prstGeom>
          <a:noFill/>
          <a:ln>
            <a:noFill/>
          </a:ln>
        </p:spPr>
      </p:sp>
      <p:sp>
        <p:nvSpPr>
          <p:cNvPr id="135" name="Google Shape;135;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bg>
      <p:bgPr>
        <a:blipFill>
          <a:blip r:embed="rId2">
            <a:alphaModFix/>
          </a:blip>
          <a:stretch>
            <a:fillRect/>
          </a:stretch>
        </a:blipFill>
      </p:bgPr>
    </p:bg>
    <p:spTree>
      <p:nvGrpSpPr>
        <p:cNvPr id="136" name="Shape 136"/>
        <p:cNvGrpSpPr/>
        <p:nvPr/>
      </p:nvGrpSpPr>
      <p:grpSpPr>
        <a:xfrm>
          <a:off x="0" y="0"/>
          <a:ext cx="0" cy="0"/>
          <a:chOff x="0" y="0"/>
          <a:chExt cx="0" cy="0"/>
        </a:xfrm>
      </p:grpSpPr>
      <p:sp>
        <p:nvSpPr>
          <p:cNvPr id="137" name="Google Shape;137;p47"/>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7"/>
          <p:cNvSpPr txBox="1"/>
          <p:nvPr>
            <p:ph idx="1" type="body"/>
          </p:nvPr>
        </p:nvSpPr>
        <p:spPr>
          <a:xfrm>
            <a:off x="5733143" y="949330"/>
            <a:ext cx="2895600" cy="38957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b="0" i="0"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9" name="Google Shape;139;p47"/>
          <p:cNvSpPr/>
          <p:nvPr>
            <p:ph idx="2" type="pic"/>
          </p:nvPr>
        </p:nvSpPr>
        <p:spPr>
          <a:xfrm>
            <a:off x="457200" y="949329"/>
            <a:ext cx="2532744" cy="1883023"/>
          </a:xfrm>
          <a:prstGeom prst="roundRect">
            <a:avLst>
              <a:gd fmla="val 11537" name="adj"/>
            </a:avLst>
          </a:prstGeom>
          <a:noFill/>
          <a:ln>
            <a:noFill/>
          </a:ln>
        </p:spPr>
      </p:sp>
      <p:sp>
        <p:nvSpPr>
          <p:cNvPr id="140" name="Google Shape;140;p47"/>
          <p:cNvSpPr/>
          <p:nvPr>
            <p:ph idx="3" type="pic"/>
          </p:nvPr>
        </p:nvSpPr>
        <p:spPr>
          <a:xfrm>
            <a:off x="3095171" y="949328"/>
            <a:ext cx="2532744" cy="1883023"/>
          </a:xfrm>
          <a:prstGeom prst="roundRect">
            <a:avLst>
              <a:gd fmla="val 11879" name="adj"/>
            </a:avLst>
          </a:prstGeom>
          <a:noFill/>
          <a:ln>
            <a:noFill/>
          </a:ln>
        </p:spPr>
      </p:sp>
      <p:sp>
        <p:nvSpPr>
          <p:cNvPr id="141" name="Google Shape;141;p47"/>
          <p:cNvSpPr/>
          <p:nvPr>
            <p:ph idx="4" type="pic"/>
          </p:nvPr>
        </p:nvSpPr>
        <p:spPr>
          <a:xfrm>
            <a:off x="3095171" y="2962031"/>
            <a:ext cx="2532744" cy="1883023"/>
          </a:xfrm>
          <a:prstGeom prst="roundRect">
            <a:avLst>
              <a:gd fmla="val 11537" name="adj"/>
            </a:avLst>
          </a:prstGeom>
          <a:noFill/>
          <a:ln>
            <a:noFill/>
          </a:ln>
        </p:spPr>
      </p:sp>
      <p:sp>
        <p:nvSpPr>
          <p:cNvPr id="142" name="Google Shape;142;p47"/>
          <p:cNvSpPr/>
          <p:nvPr>
            <p:ph idx="5" type="pic"/>
          </p:nvPr>
        </p:nvSpPr>
        <p:spPr>
          <a:xfrm>
            <a:off x="457199" y="2962031"/>
            <a:ext cx="2532744" cy="1883023"/>
          </a:xfrm>
          <a:prstGeom prst="roundRect">
            <a:avLst>
              <a:gd fmla="val 11537" name="adj"/>
            </a:avLst>
          </a:prstGeom>
          <a:noFill/>
          <a:ln>
            <a:noFill/>
          </a:ln>
        </p:spPr>
      </p:sp>
      <p:sp>
        <p:nvSpPr>
          <p:cNvPr id="143" name="Google Shape;143;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48"/>
          <p:cNvSpPr txBox="1"/>
          <p:nvPr>
            <p:ph idx="1" type="body"/>
          </p:nvPr>
        </p:nvSpPr>
        <p:spPr>
          <a:xfrm>
            <a:off x="457201"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48"/>
          <p:cNvSpPr txBox="1"/>
          <p:nvPr>
            <p:ph idx="2" type="body"/>
          </p:nvPr>
        </p:nvSpPr>
        <p:spPr>
          <a:xfrm>
            <a:off x="3275819"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48"/>
          <p:cNvSpPr txBox="1"/>
          <p:nvPr>
            <p:ph idx="3" type="body"/>
          </p:nvPr>
        </p:nvSpPr>
        <p:spPr>
          <a:xfrm>
            <a:off x="6085706"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8" name="Google Shape;148;p48"/>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8"/>
          <p:cNvSpPr/>
          <p:nvPr>
            <p:ph idx="4" type="pic"/>
          </p:nvPr>
        </p:nvSpPr>
        <p:spPr>
          <a:xfrm>
            <a:off x="454050" y="952607"/>
            <a:ext cx="2589213" cy="1304294"/>
          </a:xfrm>
          <a:prstGeom prst="roundRect">
            <a:avLst>
              <a:gd fmla="val 9261" name="adj"/>
            </a:avLst>
          </a:prstGeom>
          <a:noFill/>
          <a:ln>
            <a:noFill/>
          </a:ln>
        </p:spPr>
      </p:sp>
      <p:sp>
        <p:nvSpPr>
          <p:cNvPr id="150" name="Google Shape;150;p48"/>
          <p:cNvSpPr/>
          <p:nvPr>
            <p:ph idx="5" type="pic"/>
          </p:nvPr>
        </p:nvSpPr>
        <p:spPr>
          <a:xfrm>
            <a:off x="3275818" y="952607"/>
            <a:ext cx="2589213" cy="1304294"/>
          </a:xfrm>
          <a:prstGeom prst="roundRect">
            <a:avLst>
              <a:gd fmla="val 11730" name="adj"/>
            </a:avLst>
          </a:prstGeom>
          <a:noFill/>
          <a:ln>
            <a:noFill/>
          </a:ln>
        </p:spPr>
      </p:sp>
      <p:sp>
        <p:nvSpPr>
          <p:cNvPr id="151" name="Google Shape;151;p48"/>
          <p:cNvSpPr/>
          <p:nvPr>
            <p:ph idx="6" type="pic"/>
          </p:nvPr>
        </p:nvSpPr>
        <p:spPr>
          <a:xfrm>
            <a:off x="6089789" y="952607"/>
            <a:ext cx="2589213" cy="1304294"/>
          </a:xfrm>
          <a:prstGeom prst="roundRect">
            <a:avLst>
              <a:gd fmla="val 10249" name="adj"/>
            </a:avLst>
          </a:prstGeom>
          <a:noFill/>
          <a:ln>
            <a:noFill/>
          </a:ln>
        </p:spPr>
      </p:sp>
      <p:sp>
        <p:nvSpPr>
          <p:cNvPr id="152" name="Google Shape;152;p48"/>
          <p:cNvSpPr txBox="1"/>
          <p:nvPr>
            <p:ph idx="7" type="body"/>
          </p:nvPr>
        </p:nvSpPr>
        <p:spPr>
          <a:xfrm>
            <a:off x="460352"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48"/>
          <p:cNvSpPr txBox="1"/>
          <p:nvPr>
            <p:ph idx="8" type="body"/>
          </p:nvPr>
        </p:nvSpPr>
        <p:spPr>
          <a:xfrm>
            <a:off x="3278970"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4" name="Google Shape;154;p48"/>
          <p:cNvSpPr txBox="1"/>
          <p:nvPr>
            <p:ph idx="9" type="body"/>
          </p:nvPr>
        </p:nvSpPr>
        <p:spPr>
          <a:xfrm>
            <a:off x="6088857"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5" name="Google Shape;155;p48"/>
          <p:cNvSpPr/>
          <p:nvPr>
            <p:ph idx="13" type="pic"/>
          </p:nvPr>
        </p:nvSpPr>
        <p:spPr>
          <a:xfrm>
            <a:off x="457201" y="2866358"/>
            <a:ext cx="2589213" cy="1304294"/>
          </a:xfrm>
          <a:prstGeom prst="roundRect">
            <a:avLst>
              <a:gd fmla="val 12224" name="adj"/>
            </a:avLst>
          </a:prstGeom>
          <a:noFill/>
          <a:ln>
            <a:noFill/>
          </a:ln>
        </p:spPr>
      </p:sp>
      <p:sp>
        <p:nvSpPr>
          <p:cNvPr id="156" name="Google Shape;156;p48"/>
          <p:cNvSpPr/>
          <p:nvPr>
            <p:ph idx="14" type="pic"/>
          </p:nvPr>
        </p:nvSpPr>
        <p:spPr>
          <a:xfrm>
            <a:off x="3278969" y="2866358"/>
            <a:ext cx="2589213" cy="1304294"/>
          </a:xfrm>
          <a:prstGeom prst="roundRect">
            <a:avLst>
              <a:gd fmla="val 11236" name="adj"/>
            </a:avLst>
          </a:prstGeom>
          <a:noFill/>
          <a:ln>
            <a:noFill/>
          </a:ln>
        </p:spPr>
      </p:sp>
      <p:sp>
        <p:nvSpPr>
          <p:cNvPr id="157" name="Google Shape;157;p48"/>
          <p:cNvSpPr/>
          <p:nvPr>
            <p:ph idx="15" type="pic"/>
          </p:nvPr>
        </p:nvSpPr>
        <p:spPr>
          <a:xfrm>
            <a:off x="6092940" y="2866358"/>
            <a:ext cx="2589213" cy="1304294"/>
          </a:xfrm>
          <a:prstGeom prst="roundRect">
            <a:avLst>
              <a:gd fmla="val 9755" name="adj"/>
            </a:avLst>
          </a:prstGeom>
          <a:noFill/>
          <a:ln>
            <a:noFill/>
          </a:ln>
        </p:spPr>
      </p:sp>
      <p:sp>
        <p:nvSpPr>
          <p:cNvPr id="158" name="Google Shape;158;p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59" name="Shape 159"/>
        <p:cNvGrpSpPr/>
        <p:nvPr/>
      </p:nvGrpSpPr>
      <p:grpSpPr>
        <a:xfrm>
          <a:off x="0" y="0"/>
          <a:ext cx="0" cy="0"/>
          <a:chOff x="0" y="0"/>
          <a:chExt cx="0" cy="0"/>
        </a:xfrm>
      </p:grpSpPr>
      <p:sp>
        <p:nvSpPr>
          <p:cNvPr id="160" name="Google Shape;160;g2c6577b9d44_0_880"/>
          <p:cNvSpPr txBox="1"/>
          <p:nvPr>
            <p:ph type="title"/>
          </p:nvPr>
        </p:nvSpPr>
        <p:spPr>
          <a:xfrm>
            <a:off x="1113233" y="514350"/>
            <a:ext cx="7514100" cy="1314600"/>
          </a:xfrm>
          <a:prstGeom prst="rect">
            <a:avLst/>
          </a:prstGeom>
          <a:noFill/>
          <a:ln>
            <a:noFill/>
          </a:ln>
        </p:spPr>
        <p:txBody>
          <a:bodyPr anchorCtr="0" anchor="ctr" bIns="34275" lIns="68575" spcFirstLastPara="1" rIns="68575" wrap="square" tIns="34275">
            <a:normAutofit/>
          </a:bodyPr>
          <a:lstStyle>
            <a:lvl1pPr lvl="0" rtl="0" algn="ctr">
              <a:spcBef>
                <a:spcPts val="0"/>
              </a:spcBef>
              <a:spcAft>
                <a:spcPts val="0"/>
              </a:spcAft>
              <a:buClr>
                <a:schemeClr val="dk1"/>
              </a:buClr>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1" name="Google Shape;161;g2c6577b9d44_0_880"/>
          <p:cNvSpPr txBox="1"/>
          <p:nvPr>
            <p:ph idx="1" type="body"/>
          </p:nvPr>
        </p:nvSpPr>
        <p:spPr>
          <a:xfrm>
            <a:off x="1113232" y="2000249"/>
            <a:ext cx="7514100" cy="2343300"/>
          </a:xfrm>
          <a:prstGeom prst="rect">
            <a:avLst/>
          </a:prstGeom>
          <a:noFill/>
          <a:ln>
            <a:noFill/>
          </a:ln>
        </p:spPr>
        <p:txBody>
          <a:bodyPr anchorCtr="0" anchor="ctr" bIns="34275" lIns="68575" spcFirstLastPara="1" rIns="68575" wrap="square" tIns="34275">
            <a:normAutofit/>
          </a:bodyPr>
          <a:lstStyle>
            <a:lvl1pPr indent="-228600" lvl="0" marL="457200" rtl="0" algn="l">
              <a:spcBef>
                <a:spcPts val="300"/>
              </a:spcBef>
              <a:spcAft>
                <a:spcPts val="0"/>
              </a:spcAft>
              <a:buSzPts val="2000"/>
              <a:buNone/>
              <a:defRPr/>
            </a:lvl1pPr>
            <a:lvl2pPr indent="-355600" lvl="1" marL="914400" rtl="0" algn="l">
              <a:spcBef>
                <a:spcPts val="500"/>
              </a:spcBef>
              <a:spcAft>
                <a:spcPts val="0"/>
              </a:spcAft>
              <a:buSzPts val="2000"/>
              <a:buChar char="•"/>
              <a:defRPr/>
            </a:lvl2pPr>
            <a:lvl3pPr indent="-355600" lvl="2" marL="1371600" rtl="0" algn="l">
              <a:spcBef>
                <a:spcPts val="500"/>
              </a:spcBef>
              <a:spcAft>
                <a:spcPts val="0"/>
              </a:spcAft>
              <a:buSzPts val="2000"/>
              <a:buChar char="•"/>
              <a:defRPr/>
            </a:lvl3pPr>
            <a:lvl4pPr indent="-355600" lvl="3" marL="1828800" rtl="0" algn="l">
              <a:spcBef>
                <a:spcPts val="500"/>
              </a:spcBef>
              <a:spcAft>
                <a:spcPts val="0"/>
              </a:spcAft>
              <a:buSzPts val="2000"/>
              <a:buChar char="•"/>
              <a:defRPr/>
            </a:lvl4pPr>
            <a:lvl5pPr indent="-228600" lvl="4" marL="2286000" rtl="0" algn="l">
              <a:spcBef>
                <a:spcPts val="500"/>
              </a:spcBef>
              <a:spcAft>
                <a:spcPts val="0"/>
              </a:spcAft>
              <a:buSzPts val="2000"/>
              <a:buNone/>
              <a:defRPr/>
            </a:lvl5pPr>
            <a:lvl6pPr indent="-355600" lvl="5" marL="2743200" rtl="0" algn="l">
              <a:spcBef>
                <a:spcPts val="500"/>
              </a:spcBef>
              <a:spcAft>
                <a:spcPts val="0"/>
              </a:spcAft>
              <a:buSzPts val="2000"/>
              <a:buChar char="•"/>
              <a:defRPr/>
            </a:lvl6pPr>
            <a:lvl7pPr indent="-355600" lvl="6" marL="3200400" rtl="0" algn="l">
              <a:spcBef>
                <a:spcPts val="500"/>
              </a:spcBef>
              <a:spcAft>
                <a:spcPts val="0"/>
              </a:spcAft>
              <a:buSzPts val="2000"/>
              <a:buChar char="•"/>
              <a:defRPr/>
            </a:lvl7pPr>
            <a:lvl8pPr indent="-355600" lvl="7" marL="3657600" rtl="0" algn="l">
              <a:spcBef>
                <a:spcPts val="500"/>
              </a:spcBef>
              <a:spcAft>
                <a:spcPts val="0"/>
              </a:spcAft>
              <a:buSzPts val="2000"/>
              <a:buChar char="•"/>
              <a:defRPr/>
            </a:lvl8pPr>
            <a:lvl9pPr indent="-355600" lvl="8" marL="4114800" rtl="0" algn="l">
              <a:spcBef>
                <a:spcPts val="500"/>
              </a:spcBef>
              <a:spcAft>
                <a:spcPts val="500"/>
              </a:spcAft>
              <a:buSzPts val="2000"/>
              <a:buChar char="•"/>
              <a:defRPr/>
            </a:lvl9pPr>
          </a:lstStyle>
          <a:p/>
        </p:txBody>
      </p:sp>
      <p:sp>
        <p:nvSpPr>
          <p:cNvPr id="162" name="Google Shape;162;g2c6577b9d44_0_880"/>
          <p:cNvSpPr txBox="1"/>
          <p:nvPr>
            <p:ph idx="10" type="dt"/>
          </p:nvPr>
        </p:nvSpPr>
        <p:spPr>
          <a:xfrm>
            <a:off x="7299492" y="4412456"/>
            <a:ext cx="8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63" name="Google Shape;163;g2c6577b9d44_0_880"/>
          <p:cNvSpPr txBox="1"/>
          <p:nvPr>
            <p:ph idx="11" type="ftr"/>
          </p:nvPr>
        </p:nvSpPr>
        <p:spPr>
          <a:xfrm>
            <a:off x="1929209" y="4412456"/>
            <a:ext cx="53133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64" name="Google Shape;164;g2c6577b9d44_0_880"/>
          <p:cNvSpPr txBox="1"/>
          <p:nvPr>
            <p:ph idx="12" type="sldNum"/>
          </p:nvPr>
        </p:nvSpPr>
        <p:spPr>
          <a:xfrm>
            <a:off x="8213892" y="4400348"/>
            <a:ext cx="413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306434"/>
            <a:ext cx="8229600" cy="62048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457200" y="1121912"/>
            <a:ext cx="8229600" cy="2899675"/>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Golos Text"/>
                <a:ea typeface="Golos Text"/>
                <a:cs typeface="Golos Text"/>
                <a:sym typeface="Golos Text"/>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olos Text"/>
                <a:ea typeface="Golos Text"/>
                <a:cs typeface="Golos Text"/>
                <a:sym typeface="Golos Text"/>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olos Text"/>
                <a:ea typeface="Golos Text"/>
                <a:cs typeface="Golos Text"/>
                <a:sym typeface="Golos Text"/>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olos Text"/>
                <a:ea typeface="Golos Text"/>
                <a:cs typeface="Golos Text"/>
                <a:sym typeface="Golos Text"/>
              </a:defRPr>
            </a:lvl4pPr>
            <a:lvl5pPr indent="-228600" lvl="4" marL="2286000" marR="0" rtl="0" algn="l">
              <a:lnSpc>
                <a:spcPct val="100000"/>
              </a:lnSpc>
              <a:spcBef>
                <a:spcPts val="320"/>
              </a:spcBef>
              <a:spcAft>
                <a:spcPts val="0"/>
              </a:spcAft>
              <a:buClr>
                <a:schemeClr val="dk1"/>
              </a:buClr>
              <a:buSzPts val="1600"/>
              <a:buFont typeface="Arial"/>
              <a:buNone/>
              <a:defRPr b="0" i="0" sz="1600" u="none" cap="none" strike="noStrike">
                <a:solidFill>
                  <a:schemeClr val="dk1"/>
                </a:solidFill>
                <a:latin typeface="Golos Text"/>
                <a:ea typeface="Golos Text"/>
                <a:cs typeface="Golos Text"/>
                <a:sym typeface="Golos Text"/>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6"/>
          <p:cNvSpPr txBox="1"/>
          <p:nvPr/>
        </p:nvSpPr>
        <p:spPr>
          <a:xfrm>
            <a:off x="-865051" y="4134125"/>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26"/>
          <p:cNvSpPr txBox="1"/>
          <p:nvPr/>
        </p:nvSpPr>
        <p:spPr>
          <a:xfrm>
            <a:off x="-865051" y="4134125"/>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hyperlink" Target="https://habr.com/ru/articles/114452/" TargetMode="External"/><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6.png"/><Relationship Id="rId8" Type="http://schemas.openxmlformats.org/officeDocument/2006/relationships/image" Target="../media/image4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purnasaigudikandula.medium.com/recurrent-neural-networks-and-lstm-explained-7f51c7f6bbb9" TargetMode="External"/><Relationship Id="rId4" Type="http://schemas.openxmlformats.org/officeDocument/2006/relationships/image" Target="../media/image19.png"/><Relationship Id="rId5"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neerc.ifmo.ru/wiki/index.php?title=%D0%94%D0%BE%D0%BB%D0%B3%D0%B0%D1%8F_%D0%BA%D1%80%D0%B0%D1%82%D0%BA%D0%BE%D1%81%D1%80%D0%BE%D1%87%D0%BD%D0%B0%D1%8F_%D0%BF%D0%B0%D0%BC%D1%8F%D1%82%D1%8C" TargetMode="External"/><Relationship Id="rId4" Type="http://schemas.openxmlformats.org/officeDocument/2006/relationships/image" Target="../media/image28.gif"/><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hyperlink" Target="https://towardsdatascience.com/nlp-sequence-to-sequence-networks-part-2-seq2seq-model-encoderdecoder-model-6c22e29fd7e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9.png"/><Relationship Id="rId4" Type="http://schemas.openxmlformats.org/officeDocument/2006/relationships/image" Target="../media/image24.png"/><Relationship Id="rId5"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danieldjohnson.com/2015/08/03/composing-music-with-recurrent-neural-networks/" TargetMode="Externa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6.png"/><Relationship Id="rId4" Type="http://schemas.openxmlformats.org/officeDocument/2006/relationships/hyperlink" Target="https://www.danieldjohnson.com/2015/08/03/composing-music-with-recurrent-neural-network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hyperlink" Target="https://www.danieldjohnson.com/2015/08/03/composing-music-with-recurrent-neural-network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65.png"/><Relationship Id="rId4" Type="http://schemas.openxmlformats.org/officeDocument/2006/relationships/hyperlink" Target="https://arxiv.org/ftp/arxiv/papers/1712/1712.01011.pd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63.png"/><Relationship Id="rId4" Type="http://schemas.openxmlformats.org/officeDocument/2006/relationships/hyperlink" Target="https://arxiv.org/ftp/arxiv/papers/1712/1712.01011.pdf"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arxiv.org/ftp/arxiv/papers/1712/1712.01011.pdf" TargetMode="External"/><Relationship Id="rId4" Type="http://schemas.openxmlformats.org/officeDocument/2006/relationships/image" Target="../media/image66.png"/><Relationship Id="rId5" Type="http://schemas.openxmlformats.org/officeDocument/2006/relationships/hyperlink" Target="http://marg.snu.ac.kr/chord_generation/#" TargetMode="External"/><Relationship Id="rId6"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8.png"/><Relationship Id="rId4" Type="http://schemas.openxmlformats.org/officeDocument/2006/relationships/hyperlink" Target="https://adasp.telecom-paris.fr/resources/2010-07-08-maps-database/" TargetMode="External"/><Relationship Id="rId5" Type="http://schemas.openxmlformats.org/officeDocument/2006/relationships/image" Target="../media/image37.png"/><Relationship Id="rId6"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4.png"/><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hyperlink" Target="https://colab.research.google.com/drive/1CdghLXfkttoKrWz1ZfAv3mWv7btJ_dWA?usp=sharing" TargetMode="External"/><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5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
          <p:cNvSpPr txBox="1"/>
          <p:nvPr>
            <p:ph type="title"/>
          </p:nvPr>
        </p:nvSpPr>
        <p:spPr>
          <a:xfrm>
            <a:off x="679879" y="1902925"/>
            <a:ext cx="7772400" cy="120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00"/>
              </a:buClr>
              <a:buSzPts val="3200"/>
              <a:buFont typeface="Arial"/>
              <a:buNone/>
            </a:pPr>
            <a:r>
              <a:rPr lang="ru-RU">
                <a:solidFill>
                  <a:srgbClr val="4A86E8"/>
                </a:solidFill>
                <a:latin typeface="Arial"/>
                <a:ea typeface="Arial"/>
                <a:cs typeface="Arial"/>
                <a:sym typeface="Arial"/>
              </a:rPr>
              <a:t>Введение а </a:t>
            </a:r>
            <a:br>
              <a:rPr lang="ru-RU">
                <a:solidFill>
                  <a:srgbClr val="4A86E8"/>
                </a:solidFill>
                <a:latin typeface="Arial"/>
                <a:ea typeface="Arial"/>
                <a:cs typeface="Arial"/>
                <a:sym typeface="Arial"/>
              </a:rPr>
            </a:br>
            <a:r>
              <a:rPr lang="ru-RU">
                <a:solidFill>
                  <a:srgbClr val="4A86E8"/>
                </a:solidFill>
                <a:latin typeface="Arial"/>
                <a:ea typeface="Arial"/>
                <a:cs typeface="Arial"/>
                <a:sym typeface="Arial"/>
              </a:rPr>
              <a:t>вычислительное музыковедение:</a:t>
            </a:r>
            <a:br>
              <a:rPr lang="ru-RU">
                <a:solidFill>
                  <a:srgbClr val="4A86E8"/>
                </a:solidFill>
                <a:latin typeface="Arial"/>
                <a:ea typeface="Arial"/>
                <a:cs typeface="Arial"/>
                <a:sym typeface="Arial"/>
              </a:rPr>
            </a:br>
            <a:r>
              <a:rPr lang="ru-RU">
                <a:solidFill>
                  <a:srgbClr val="4A86E8"/>
                </a:solidFill>
                <a:latin typeface="Arial"/>
                <a:ea typeface="Arial"/>
                <a:cs typeface="Arial"/>
                <a:sym typeface="Arial"/>
              </a:rPr>
              <a:t>Модели и методы Music Data Mining </a:t>
            </a:r>
            <a:endParaRPr>
              <a:solidFill>
                <a:srgbClr val="4A86E8"/>
              </a:solidFill>
              <a:latin typeface="Arial"/>
              <a:ea typeface="Arial"/>
              <a:cs typeface="Arial"/>
              <a:sym typeface="Arial"/>
            </a:endParaRPr>
          </a:p>
        </p:txBody>
      </p:sp>
      <p:sp>
        <p:nvSpPr>
          <p:cNvPr id="170" name="Google Shape;170;p1"/>
          <p:cNvSpPr txBox="1"/>
          <p:nvPr>
            <p:ph type="title"/>
          </p:nvPr>
        </p:nvSpPr>
        <p:spPr>
          <a:xfrm>
            <a:off x="672675" y="1836975"/>
            <a:ext cx="7772400" cy="120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00"/>
              </a:buClr>
              <a:buSzPts val="3200"/>
              <a:buFont typeface="Arial"/>
              <a:buNone/>
            </a:pPr>
            <a:r>
              <a:rPr lang="ru-RU">
                <a:solidFill>
                  <a:srgbClr val="FFFF00"/>
                </a:solidFill>
                <a:latin typeface="Arial"/>
                <a:ea typeface="Arial"/>
                <a:cs typeface="Arial"/>
                <a:sym typeface="Arial"/>
              </a:rPr>
              <a:t>Введение в </a:t>
            </a:r>
            <a:br>
              <a:rPr lang="ru-RU">
                <a:solidFill>
                  <a:srgbClr val="FFFF00"/>
                </a:solidFill>
                <a:latin typeface="Arial"/>
                <a:ea typeface="Arial"/>
                <a:cs typeface="Arial"/>
                <a:sym typeface="Arial"/>
              </a:rPr>
            </a:br>
            <a:r>
              <a:rPr lang="ru-RU">
                <a:solidFill>
                  <a:srgbClr val="FFFF00"/>
                </a:solidFill>
                <a:latin typeface="Arial"/>
                <a:ea typeface="Arial"/>
                <a:cs typeface="Arial"/>
                <a:sym typeface="Arial"/>
              </a:rPr>
              <a:t>вычислительное музыковедение: </a:t>
            </a:r>
            <a:br>
              <a:rPr lang="ru-RU">
                <a:solidFill>
                  <a:srgbClr val="FFFF00"/>
                </a:solidFill>
                <a:latin typeface="Arial"/>
                <a:ea typeface="Arial"/>
                <a:cs typeface="Arial"/>
                <a:sym typeface="Arial"/>
              </a:rPr>
            </a:br>
            <a:r>
              <a:rPr lang="ru-RU">
                <a:solidFill>
                  <a:srgbClr val="FFFF00"/>
                </a:solidFill>
                <a:latin typeface="Arial"/>
                <a:ea typeface="Arial"/>
                <a:cs typeface="Arial"/>
                <a:sym typeface="Arial"/>
              </a:rPr>
              <a:t>Модели и методы Music Data Mining</a:t>
            </a:r>
            <a:endParaRPr>
              <a:solidFill>
                <a:srgbClr val="FFFF00"/>
              </a:solidFill>
              <a:latin typeface="Arial"/>
              <a:ea typeface="Arial"/>
              <a:cs typeface="Arial"/>
              <a:sym typeface="Arial"/>
            </a:endParaRPr>
          </a:p>
        </p:txBody>
      </p:sp>
      <p:sp>
        <p:nvSpPr>
          <p:cNvPr id="171" name="Google Shape;171;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72" name="Google Shape;172;p1"/>
          <p:cNvSpPr txBox="1"/>
          <p:nvPr/>
        </p:nvSpPr>
        <p:spPr>
          <a:xfrm>
            <a:off x="2852500" y="4545575"/>
            <a:ext cx="3499200" cy="526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ru-RU" sz="1800" u="none" cap="none" strike="noStrike">
                <a:solidFill>
                  <a:schemeClr val="lt1"/>
                </a:solidFill>
                <a:latin typeface="Golos Text"/>
                <a:ea typeface="Golos Text"/>
                <a:cs typeface="Golos Text"/>
                <a:sym typeface="Golos Text"/>
              </a:rPr>
              <a:t>Абросимов Кирилл</a:t>
            </a:r>
            <a:br>
              <a:rPr b="0" i="0" lang="ru-RU" sz="1800" u="none" cap="none" strike="noStrike">
                <a:solidFill>
                  <a:schemeClr val="lt1"/>
                </a:solidFill>
                <a:latin typeface="Golos Text"/>
                <a:ea typeface="Golos Text"/>
                <a:cs typeface="Golos Text"/>
                <a:sym typeface="Golos Text"/>
              </a:rPr>
            </a:br>
            <a:r>
              <a:rPr b="0" i="0" lang="ru-RU" sz="1800" u="none" cap="none" strike="noStrike">
                <a:solidFill>
                  <a:schemeClr val="lt1"/>
                </a:solidFill>
                <a:latin typeface="Golos Text"/>
                <a:ea typeface="Golos Text"/>
                <a:cs typeface="Golos Text"/>
                <a:sym typeface="Golos Text"/>
              </a:rPr>
              <a:t>abrosimov.kirill.1999@mail.ru</a:t>
            </a:r>
            <a:endParaRPr b="0" i="0" sz="1800" u="none" cap="none" strike="noStrike">
              <a:solidFill>
                <a:schemeClr val="lt1"/>
              </a:solidFill>
              <a:latin typeface="Golos Text"/>
              <a:ea typeface="Golos Text"/>
              <a:cs typeface="Golos Text"/>
              <a:sym typeface="Golos Text"/>
            </a:endParaRPr>
          </a:p>
        </p:txBody>
      </p:sp>
      <p:sp>
        <p:nvSpPr>
          <p:cNvPr id="173" name="Google Shape;173;p1"/>
          <p:cNvSpPr txBox="1"/>
          <p:nvPr/>
        </p:nvSpPr>
        <p:spPr>
          <a:xfrm>
            <a:off x="0" y="3579450"/>
            <a:ext cx="9144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ru-RU" sz="2000" u="none" cap="none" strike="noStrike">
                <a:solidFill>
                  <a:srgbClr val="FFFF00"/>
                </a:solidFill>
                <a:latin typeface="Golos Text"/>
                <a:ea typeface="Golos Text"/>
                <a:cs typeface="Golos Text"/>
                <a:sym typeface="Golos Text"/>
              </a:rPr>
              <a:t>Основы глубокого обучения: </a:t>
            </a:r>
            <a:br>
              <a:rPr b="1" i="0" lang="ru-RU" sz="2000" u="none" cap="none" strike="noStrike">
                <a:solidFill>
                  <a:srgbClr val="FFFF00"/>
                </a:solidFill>
                <a:latin typeface="Golos Text"/>
                <a:ea typeface="Golos Text"/>
                <a:cs typeface="Golos Text"/>
                <a:sym typeface="Golos Text"/>
              </a:rPr>
            </a:br>
            <a:r>
              <a:rPr b="1" lang="ru-RU" sz="2000">
                <a:solidFill>
                  <a:srgbClr val="FFFF00"/>
                </a:solidFill>
                <a:latin typeface="Golos Text"/>
                <a:ea typeface="Golos Text"/>
                <a:cs typeface="Golos Text"/>
                <a:sym typeface="Golos Text"/>
              </a:rPr>
              <a:t>сверточные и рекуррентные</a:t>
            </a:r>
            <a:r>
              <a:rPr b="1" i="0" lang="ru-RU" sz="2000" u="none" cap="none" strike="noStrike">
                <a:solidFill>
                  <a:srgbClr val="FFFF00"/>
                </a:solidFill>
                <a:latin typeface="Golos Text"/>
                <a:ea typeface="Golos Text"/>
                <a:cs typeface="Golos Text"/>
                <a:sym typeface="Golos Text"/>
              </a:rPr>
              <a:t> нейронные сети</a:t>
            </a:r>
            <a:endParaRPr b="1" i="0" sz="2000" u="none" cap="none" strike="noStrike">
              <a:solidFill>
                <a:srgbClr val="FFFF00"/>
              </a:solidFill>
              <a:latin typeface="Golos Text"/>
              <a:ea typeface="Golos Text"/>
              <a:cs typeface="Golos Text"/>
              <a:sym typeface="Golos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82c83c1f8c_0_7"/>
          <p:cNvSpPr txBox="1"/>
          <p:nvPr>
            <p:ph type="title"/>
          </p:nvPr>
        </p:nvSpPr>
        <p:spPr>
          <a:xfrm>
            <a:off x="243401" y="306435"/>
            <a:ext cx="70383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Arial"/>
              <a:buNone/>
            </a:pPr>
            <a:r>
              <a:rPr lang="ru-RU">
                <a:latin typeface="Arial"/>
                <a:ea typeface="Arial"/>
                <a:cs typeface="Arial"/>
                <a:sym typeface="Arial"/>
              </a:rPr>
              <a:t>Agenda</a:t>
            </a:r>
            <a:endParaRPr/>
          </a:p>
        </p:txBody>
      </p:sp>
      <p:sp>
        <p:nvSpPr>
          <p:cNvPr id="179" name="Google Shape;179;g282c83c1f8c_0_7"/>
          <p:cNvSpPr txBox="1"/>
          <p:nvPr/>
        </p:nvSpPr>
        <p:spPr>
          <a:xfrm>
            <a:off x="325950" y="1329650"/>
            <a:ext cx="8492100" cy="18777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rgbClr val="000000"/>
              </a:buClr>
              <a:buSzPts val="2200"/>
              <a:buFont typeface="Golos Text"/>
              <a:buAutoNum type="arabicPeriod"/>
            </a:pPr>
            <a:r>
              <a:rPr lang="ru-RU" sz="2200">
                <a:latin typeface="Golos Text"/>
                <a:ea typeface="Golos Text"/>
                <a:cs typeface="Golos Text"/>
                <a:sym typeface="Golos Text"/>
              </a:rPr>
              <a:t>Сверточные нейронные сети</a:t>
            </a:r>
            <a:endParaRPr b="0" i="0" sz="2200" u="none" cap="none" strike="noStrike">
              <a:solidFill>
                <a:srgbClr val="000000"/>
              </a:solidFill>
              <a:latin typeface="Golos Text"/>
              <a:ea typeface="Golos Text"/>
              <a:cs typeface="Golos Text"/>
              <a:sym typeface="Golos Text"/>
            </a:endParaRPr>
          </a:p>
          <a:p>
            <a:pPr indent="-368300" lvl="0" marL="457200" marR="0" rtl="0" algn="l">
              <a:lnSpc>
                <a:spcPct val="100000"/>
              </a:lnSpc>
              <a:spcBef>
                <a:spcPts val="0"/>
              </a:spcBef>
              <a:spcAft>
                <a:spcPts val="0"/>
              </a:spcAft>
              <a:buClr>
                <a:srgbClr val="000000"/>
              </a:buClr>
              <a:buSzPts val="2200"/>
              <a:buFont typeface="Golos Text"/>
              <a:buAutoNum type="arabicPeriod"/>
            </a:pPr>
            <a:r>
              <a:rPr lang="ru-RU" sz="2200">
                <a:latin typeface="Golos Text"/>
                <a:ea typeface="Golos Text"/>
                <a:cs typeface="Golos Text"/>
                <a:sym typeface="Golos Text"/>
              </a:rPr>
              <a:t>Рекуррентные нейронные сети </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SzPts val="2200"/>
              <a:buFont typeface="Golos Text"/>
              <a:buAutoNum type="arabicPeriod"/>
            </a:pPr>
            <a:r>
              <a:rPr lang="ru-RU" sz="2200">
                <a:latin typeface="Golos Text"/>
                <a:ea typeface="Golos Text"/>
                <a:cs typeface="Golos Text"/>
                <a:sym typeface="Golos Text"/>
              </a:rPr>
              <a:t>Применение к алгоритмической композиции</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SzPts val="2200"/>
              <a:buFont typeface="Golos Text"/>
              <a:buAutoNum type="arabicPeriod"/>
            </a:pPr>
            <a:r>
              <a:rPr lang="ru-RU" sz="2200">
                <a:latin typeface="Golos Text"/>
                <a:ea typeface="Golos Text"/>
                <a:cs typeface="Golos Text"/>
                <a:sym typeface="Golos Text"/>
              </a:rPr>
              <a:t>Вычислительная лингвистика</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Clr>
                <a:srgbClr val="000000"/>
              </a:buClr>
              <a:buSzPts val="2200"/>
              <a:buFont typeface="Golos Text"/>
              <a:buAutoNum type="arabicPeriod"/>
            </a:pPr>
            <a:r>
              <a:rPr lang="ru-RU" sz="2200">
                <a:latin typeface="Golos Text"/>
                <a:ea typeface="Golos Text"/>
                <a:cs typeface="Golos Text"/>
                <a:sym typeface="Golos Text"/>
              </a:rPr>
              <a:t>Transfer Learning</a:t>
            </a:r>
            <a:endParaRPr b="0" i="0" sz="2200" u="none" cap="none" strike="noStrike">
              <a:solidFill>
                <a:srgbClr val="000000"/>
              </a:solidFill>
              <a:latin typeface="Golos Text"/>
              <a:ea typeface="Golos Text"/>
              <a:cs typeface="Golos Text"/>
              <a:sym typeface="Golos Text"/>
            </a:endParaRPr>
          </a:p>
        </p:txBody>
      </p:sp>
      <p:sp>
        <p:nvSpPr>
          <p:cNvPr id="180" name="Google Shape;180;g282c83c1f8c_0_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2c39dba05ed_0_1301"/>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CNN</a:t>
            </a:r>
            <a:endParaRPr/>
          </a:p>
        </p:txBody>
      </p:sp>
      <p:sp>
        <p:nvSpPr>
          <p:cNvPr id="186" name="Google Shape;186;g2c39dba05ed_0_13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187" name="Google Shape;187;g2c39dba05ed_0_1301"/>
          <p:cNvPicPr preferRelativeResize="0"/>
          <p:nvPr/>
        </p:nvPicPr>
        <p:blipFill>
          <a:blip r:embed="rId3">
            <a:alphaModFix/>
          </a:blip>
          <a:stretch>
            <a:fillRect/>
          </a:stretch>
        </p:blipFill>
        <p:spPr>
          <a:xfrm>
            <a:off x="2080425" y="306435"/>
            <a:ext cx="4448175" cy="1295400"/>
          </a:xfrm>
          <a:prstGeom prst="rect">
            <a:avLst/>
          </a:prstGeom>
          <a:noFill/>
          <a:ln>
            <a:noFill/>
          </a:ln>
        </p:spPr>
      </p:pic>
      <p:sp>
        <p:nvSpPr>
          <p:cNvPr id="188" name="Google Shape;188;g2c39dba05ed_0_1301"/>
          <p:cNvSpPr txBox="1"/>
          <p:nvPr/>
        </p:nvSpPr>
        <p:spPr>
          <a:xfrm>
            <a:off x="0" y="47851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900" u="sng">
                <a:solidFill>
                  <a:schemeClr val="hlink"/>
                </a:solidFill>
                <a:hlinkClick r:id="rId4"/>
              </a:rPr>
              <a:t>https://habr.com/ru/articles/114452/</a:t>
            </a:r>
            <a:r>
              <a:rPr lang="ru-RU" sz="900"/>
              <a:t> </a:t>
            </a:r>
            <a:endParaRPr sz="900"/>
          </a:p>
        </p:txBody>
      </p:sp>
      <p:pic>
        <p:nvPicPr>
          <p:cNvPr id="189" name="Google Shape;189;g2c39dba05ed_0_1301"/>
          <p:cNvPicPr preferRelativeResize="0"/>
          <p:nvPr/>
        </p:nvPicPr>
        <p:blipFill>
          <a:blip r:embed="rId5">
            <a:alphaModFix/>
          </a:blip>
          <a:stretch>
            <a:fillRect/>
          </a:stretch>
        </p:blipFill>
        <p:spPr>
          <a:xfrm>
            <a:off x="2946075" y="1662378"/>
            <a:ext cx="3314975" cy="3007925"/>
          </a:xfrm>
          <a:prstGeom prst="rect">
            <a:avLst/>
          </a:prstGeom>
          <a:noFill/>
          <a:ln>
            <a:noFill/>
          </a:ln>
        </p:spPr>
      </p:pic>
      <p:pic>
        <p:nvPicPr>
          <p:cNvPr id="190" name="Google Shape;190;g2c39dba05ed_0_1301"/>
          <p:cNvPicPr preferRelativeResize="0"/>
          <p:nvPr/>
        </p:nvPicPr>
        <p:blipFill>
          <a:blip r:embed="rId6">
            <a:alphaModFix/>
          </a:blip>
          <a:stretch>
            <a:fillRect/>
          </a:stretch>
        </p:blipFill>
        <p:spPr>
          <a:xfrm>
            <a:off x="193025" y="3203717"/>
            <a:ext cx="2613951" cy="1466575"/>
          </a:xfrm>
          <a:prstGeom prst="rect">
            <a:avLst/>
          </a:prstGeom>
          <a:noFill/>
          <a:ln>
            <a:noFill/>
          </a:ln>
        </p:spPr>
      </p:pic>
      <p:pic>
        <p:nvPicPr>
          <p:cNvPr id="191" name="Google Shape;191;g2c39dba05ed_0_1301"/>
          <p:cNvPicPr preferRelativeResize="0"/>
          <p:nvPr/>
        </p:nvPicPr>
        <p:blipFill>
          <a:blip r:embed="rId7">
            <a:alphaModFix/>
          </a:blip>
          <a:stretch>
            <a:fillRect/>
          </a:stretch>
        </p:blipFill>
        <p:spPr>
          <a:xfrm>
            <a:off x="116638" y="1601823"/>
            <a:ext cx="2766725" cy="1552276"/>
          </a:xfrm>
          <a:prstGeom prst="rect">
            <a:avLst/>
          </a:prstGeom>
          <a:noFill/>
          <a:ln>
            <a:noFill/>
          </a:ln>
        </p:spPr>
      </p:pic>
      <p:pic>
        <p:nvPicPr>
          <p:cNvPr descr="https://markoutte.me/wp-content/uploads/%D0%A1%D0%BD%D0%B8%D0%BC%D0%BE%D0%BA-%D1%8D%D0%BA%D1%80%D0%B0%D0%BD%D0%B0-2017-04-15-%D0%B2-10.58.20.png" id="192" name="Google Shape;192;g2c39dba05ed_0_1301"/>
          <p:cNvPicPr preferRelativeResize="0"/>
          <p:nvPr/>
        </p:nvPicPr>
        <p:blipFill rotWithShape="1">
          <a:blip r:embed="rId8">
            <a:alphaModFix/>
          </a:blip>
          <a:srcRect b="0" l="0" r="0" t="0"/>
          <a:stretch/>
        </p:blipFill>
        <p:spPr>
          <a:xfrm>
            <a:off x="6216701" y="1486200"/>
            <a:ext cx="2888765" cy="2611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c6577b9d44_0_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CNN</a:t>
            </a:r>
            <a:endParaRPr/>
          </a:p>
        </p:txBody>
      </p:sp>
      <p:sp>
        <p:nvSpPr>
          <p:cNvPr id="198" name="Google Shape;198;g2c6577b9d44_0_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99" name="Google Shape;199;g2c6577b9d44_0_0"/>
          <p:cNvSpPr txBox="1"/>
          <p:nvPr/>
        </p:nvSpPr>
        <p:spPr>
          <a:xfrm>
            <a:off x="0" y="4746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t>https://github.com/Dyakonov/DL</a:t>
            </a:r>
            <a:endParaRPr/>
          </a:p>
        </p:txBody>
      </p:sp>
      <p:pic>
        <p:nvPicPr>
          <p:cNvPr id="200" name="Google Shape;200;g2c6577b9d44_0_0"/>
          <p:cNvPicPr preferRelativeResize="0"/>
          <p:nvPr/>
        </p:nvPicPr>
        <p:blipFill rotWithShape="1">
          <a:blip r:embed="rId3">
            <a:alphaModFix/>
          </a:blip>
          <a:srcRect b="0" l="0" r="0" t="0"/>
          <a:stretch/>
        </p:blipFill>
        <p:spPr>
          <a:xfrm>
            <a:off x="237602" y="1260913"/>
            <a:ext cx="8274376" cy="30585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c6577b9d44_0_5"/>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Arial"/>
              <a:buNone/>
            </a:pPr>
            <a:r>
              <a:rPr b="0" lang="ru-RU" sz="2200">
                <a:latin typeface="Golos Text"/>
                <a:ea typeface="Golos Text"/>
                <a:cs typeface="Golos Text"/>
                <a:sym typeface="Golos Text"/>
              </a:rPr>
              <a:t>CNN</a:t>
            </a:r>
            <a:endParaRPr/>
          </a:p>
        </p:txBody>
      </p:sp>
      <p:sp>
        <p:nvSpPr>
          <p:cNvPr id="206" name="Google Shape;206;g2c6577b9d44_0_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207" name="Google Shape;207;g2c6577b9d44_0_5"/>
          <p:cNvPicPr preferRelativeResize="0"/>
          <p:nvPr/>
        </p:nvPicPr>
        <p:blipFill>
          <a:blip r:embed="rId3">
            <a:alphaModFix/>
          </a:blip>
          <a:stretch>
            <a:fillRect/>
          </a:stretch>
        </p:blipFill>
        <p:spPr>
          <a:xfrm>
            <a:off x="1026825" y="910210"/>
            <a:ext cx="6901902" cy="4004865"/>
          </a:xfrm>
          <a:prstGeom prst="rect">
            <a:avLst/>
          </a:prstGeom>
          <a:noFill/>
          <a:ln>
            <a:noFill/>
          </a:ln>
        </p:spPr>
      </p:pic>
      <p:sp>
        <p:nvSpPr>
          <p:cNvPr id="208" name="Google Shape;208;g2c6577b9d44_0_5"/>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1D Свертка</a:t>
            </a:r>
            <a:endParaRPr>
              <a:latin typeface="Golos Text"/>
              <a:ea typeface="Golos Text"/>
              <a:cs typeface="Golos Text"/>
              <a:sym typeface="Golos Tex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c6577b9d44_0_24"/>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214" name="Google Shape;214;g2c6577b9d44_0_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215" name="Google Shape;215;g2c6577b9d44_0_24"/>
          <p:cNvPicPr preferRelativeResize="0"/>
          <p:nvPr/>
        </p:nvPicPr>
        <p:blipFill>
          <a:blip r:embed="rId3">
            <a:alphaModFix/>
          </a:blip>
          <a:stretch>
            <a:fillRect/>
          </a:stretch>
        </p:blipFill>
        <p:spPr>
          <a:xfrm>
            <a:off x="988850" y="964510"/>
            <a:ext cx="6901902" cy="4004865"/>
          </a:xfrm>
          <a:prstGeom prst="rect">
            <a:avLst/>
          </a:prstGeom>
          <a:noFill/>
          <a:ln>
            <a:noFill/>
          </a:ln>
        </p:spPr>
      </p:pic>
      <p:sp>
        <p:nvSpPr>
          <p:cNvPr id="216" name="Google Shape;216;g2c6577b9d44_0_24"/>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Padding</a:t>
            </a:r>
            <a:endParaRPr>
              <a:latin typeface="Golos Text"/>
              <a:ea typeface="Golos Text"/>
              <a:cs typeface="Golos Text"/>
              <a:sym typeface="Golos Tex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2c6577b9d44_0_15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222" name="Google Shape;222;g2c6577b9d44_0_1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23" name="Google Shape;223;g2c6577b9d44_0_153"/>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Padding</a:t>
            </a:r>
            <a:endParaRPr>
              <a:latin typeface="Golos Text"/>
              <a:ea typeface="Golos Text"/>
              <a:cs typeface="Golos Text"/>
              <a:sym typeface="Golos Text"/>
            </a:endParaRPr>
          </a:p>
        </p:txBody>
      </p:sp>
      <p:sp>
        <p:nvSpPr>
          <p:cNvPr id="224" name="Google Shape;224;g2c6577b9d44_0_153"/>
          <p:cNvSpPr/>
          <p:nvPr/>
        </p:nvSpPr>
        <p:spPr>
          <a:xfrm>
            <a:off x="1907817" y="208315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-4</a:t>
            </a:r>
            <a:endParaRPr sz="3600">
              <a:solidFill>
                <a:srgbClr val="000000"/>
              </a:solidFill>
              <a:latin typeface="Corbel"/>
              <a:ea typeface="Corbel"/>
              <a:cs typeface="Corbel"/>
              <a:sym typeface="Corbel"/>
            </a:endParaRPr>
          </a:p>
        </p:txBody>
      </p:sp>
      <p:sp>
        <p:nvSpPr>
          <p:cNvPr id="225" name="Google Shape;225;g2c6577b9d44_0_153"/>
          <p:cNvSpPr/>
          <p:nvPr/>
        </p:nvSpPr>
        <p:spPr>
          <a:xfrm>
            <a:off x="2670683" y="208315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26" name="Google Shape;226;g2c6577b9d44_0_153"/>
          <p:cNvSpPr/>
          <p:nvPr/>
        </p:nvSpPr>
        <p:spPr>
          <a:xfrm>
            <a:off x="1144952" y="208315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2</a:t>
            </a:r>
            <a:endParaRPr sz="4400">
              <a:solidFill>
                <a:srgbClr val="000000"/>
              </a:solidFill>
              <a:latin typeface="Corbel"/>
              <a:ea typeface="Corbel"/>
              <a:cs typeface="Corbel"/>
              <a:sym typeface="Corbel"/>
            </a:endParaRPr>
          </a:p>
        </p:txBody>
      </p:sp>
      <p:sp>
        <p:nvSpPr>
          <p:cNvPr id="227" name="Google Shape;227;g2c6577b9d44_0_153"/>
          <p:cNvSpPr/>
          <p:nvPr/>
        </p:nvSpPr>
        <p:spPr>
          <a:xfrm>
            <a:off x="1907817" y="277274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-4</a:t>
            </a:r>
            <a:endParaRPr sz="3600">
              <a:solidFill>
                <a:srgbClr val="000000"/>
              </a:solidFill>
              <a:latin typeface="Corbel"/>
              <a:ea typeface="Corbel"/>
              <a:cs typeface="Corbel"/>
              <a:sym typeface="Corbel"/>
            </a:endParaRPr>
          </a:p>
        </p:txBody>
      </p:sp>
      <p:sp>
        <p:nvSpPr>
          <p:cNvPr id="228" name="Google Shape;228;g2c6577b9d44_0_153"/>
          <p:cNvSpPr/>
          <p:nvPr/>
        </p:nvSpPr>
        <p:spPr>
          <a:xfrm>
            <a:off x="2670683" y="277274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29" name="Google Shape;229;g2c6577b9d44_0_153"/>
          <p:cNvSpPr/>
          <p:nvPr/>
        </p:nvSpPr>
        <p:spPr>
          <a:xfrm>
            <a:off x="1144952" y="2772740"/>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2</a:t>
            </a:r>
            <a:endParaRPr sz="4400">
              <a:solidFill>
                <a:srgbClr val="000000"/>
              </a:solidFill>
              <a:latin typeface="Corbel"/>
              <a:ea typeface="Corbel"/>
              <a:cs typeface="Corbel"/>
              <a:sym typeface="Corbel"/>
            </a:endParaRPr>
          </a:p>
        </p:txBody>
      </p:sp>
      <p:sp>
        <p:nvSpPr>
          <p:cNvPr id="230" name="Google Shape;230;g2c6577b9d44_0_153"/>
          <p:cNvSpPr/>
          <p:nvPr/>
        </p:nvSpPr>
        <p:spPr>
          <a:xfrm>
            <a:off x="1907817" y="3466783"/>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-4</a:t>
            </a:r>
            <a:endParaRPr sz="3600">
              <a:solidFill>
                <a:srgbClr val="000000"/>
              </a:solidFill>
              <a:latin typeface="Corbel"/>
              <a:ea typeface="Corbel"/>
              <a:cs typeface="Corbel"/>
              <a:sym typeface="Corbel"/>
            </a:endParaRPr>
          </a:p>
        </p:txBody>
      </p:sp>
      <p:sp>
        <p:nvSpPr>
          <p:cNvPr id="231" name="Google Shape;231;g2c6577b9d44_0_153"/>
          <p:cNvSpPr/>
          <p:nvPr/>
        </p:nvSpPr>
        <p:spPr>
          <a:xfrm>
            <a:off x="2670683" y="3466783"/>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2" name="Google Shape;232;g2c6577b9d44_0_153"/>
          <p:cNvSpPr/>
          <p:nvPr/>
        </p:nvSpPr>
        <p:spPr>
          <a:xfrm>
            <a:off x="1144952" y="3466783"/>
            <a:ext cx="624300" cy="5475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2</a:t>
            </a:r>
            <a:endParaRPr sz="4400">
              <a:solidFill>
                <a:srgbClr val="000000"/>
              </a:solidFill>
              <a:latin typeface="Corbel"/>
              <a:ea typeface="Corbel"/>
              <a:cs typeface="Corbel"/>
              <a:sym typeface="Corbel"/>
            </a:endParaRPr>
          </a:p>
        </p:txBody>
      </p:sp>
      <p:sp>
        <p:nvSpPr>
          <p:cNvPr id="233" name="Google Shape;233;g2c6577b9d44_0_153"/>
          <p:cNvSpPr/>
          <p:nvPr/>
        </p:nvSpPr>
        <p:spPr>
          <a:xfrm>
            <a:off x="382086" y="2079747"/>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4" name="Google Shape;234;g2c6577b9d44_0_153"/>
          <p:cNvSpPr/>
          <p:nvPr/>
        </p:nvSpPr>
        <p:spPr>
          <a:xfrm>
            <a:off x="382086" y="2772740"/>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5" name="Google Shape;235;g2c6577b9d44_0_153"/>
          <p:cNvSpPr/>
          <p:nvPr/>
        </p:nvSpPr>
        <p:spPr>
          <a:xfrm>
            <a:off x="378850" y="346678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6" name="Google Shape;236;g2c6577b9d44_0_153"/>
          <p:cNvSpPr/>
          <p:nvPr/>
        </p:nvSpPr>
        <p:spPr>
          <a:xfrm>
            <a:off x="1144952" y="138910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7" name="Google Shape;237;g2c6577b9d44_0_153"/>
          <p:cNvSpPr/>
          <p:nvPr/>
        </p:nvSpPr>
        <p:spPr>
          <a:xfrm>
            <a:off x="378850" y="138570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8" name="Google Shape;238;g2c6577b9d44_0_153"/>
          <p:cNvSpPr/>
          <p:nvPr/>
        </p:nvSpPr>
        <p:spPr>
          <a:xfrm>
            <a:off x="1144952" y="416082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39" name="Google Shape;239;g2c6577b9d44_0_153"/>
          <p:cNvSpPr/>
          <p:nvPr/>
        </p:nvSpPr>
        <p:spPr>
          <a:xfrm>
            <a:off x="378850" y="416082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0" name="Google Shape;240;g2c6577b9d44_0_153"/>
          <p:cNvSpPr/>
          <p:nvPr/>
        </p:nvSpPr>
        <p:spPr>
          <a:xfrm>
            <a:off x="3436785" y="2079747"/>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1" name="Google Shape;241;g2c6577b9d44_0_153"/>
          <p:cNvSpPr/>
          <p:nvPr/>
        </p:nvSpPr>
        <p:spPr>
          <a:xfrm>
            <a:off x="3436785" y="2772740"/>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2" name="Google Shape;242;g2c6577b9d44_0_153"/>
          <p:cNvSpPr/>
          <p:nvPr/>
        </p:nvSpPr>
        <p:spPr>
          <a:xfrm>
            <a:off x="3433548" y="346678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3" name="Google Shape;243;g2c6577b9d44_0_153"/>
          <p:cNvSpPr/>
          <p:nvPr/>
        </p:nvSpPr>
        <p:spPr>
          <a:xfrm>
            <a:off x="3433548" y="138570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4" name="Google Shape;244;g2c6577b9d44_0_153"/>
          <p:cNvSpPr/>
          <p:nvPr/>
        </p:nvSpPr>
        <p:spPr>
          <a:xfrm>
            <a:off x="3433548" y="416082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5" name="Google Shape;245;g2c6577b9d44_0_153"/>
          <p:cNvSpPr/>
          <p:nvPr/>
        </p:nvSpPr>
        <p:spPr>
          <a:xfrm>
            <a:off x="2673919" y="1396962"/>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6" name="Google Shape;246;g2c6577b9d44_0_153"/>
          <p:cNvSpPr/>
          <p:nvPr/>
        </p:nvSpPr>
        <p:spPr>
          <a:xfrm>
            <a:off x="1907817" y="1393559"/>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7" name="Google Shape;247;g2c6577b9d44_0_153"/>
          <p:cNvSpPr/>
          <p:nvPr/>
        </p:nvSpPr>
        <p:spPr>
          <a:xfrm>
            <a:off x="2672301" y="4161002"/>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8" name="Google Shape;248;g2c6577b9d44_0_153"/>
          <p:cNvSpPr/>
          <p:nvPr/>
        </p:nvSpPr>
        <p:spPr>
          <a:xfrm>
            <a:off x="1906199" y="4157599"/>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49" name="Google Shape;249;g2c6577b9d44_0_153"/>
          <p:cNvSpPr/>
          <p:nvPr/>
        </p:nvSpPr>
        <p:spPr>
          <a:xfrm>
            <a:off x="6176867" y="208254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-4</a:t>
            </a:r>
            <a:endParaRPr sz="3600">
              <a:solidFill>
                <a:srgbClr val="000000"/>
              </a:solidFill>
              <a:latin typeface="Corbel"/>
              <a:ea typeface="Corbel"/>
              <a:cs typeface="Corbel"/>
              <a:sym typeface="Corbel"/>
            </a:endParaRPr>
          </a:p>
        </p:txBody>
      </p:sp>
      <p:sp>
        <p:nvSpPr>
          <p:cNvPr id="250" name="Google Shape;250;g2c6577b9d44_0_153"/>
          <p:cNvSpPr/>
          <p:nvPr/>
        </p:nvSpPr>
        <p:spPr>
          <a:xfrm>
            <a:off x="6939732" y="208254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9</a:t>
            </a:r>
            <a:endParaRPr/>
          </a:p>
        </p:txBody>
      </p:sp>
      <p:sp>
        <p:nvSpPr>
          <p:cNvPr id="251" name="Google Shape;251;g2c6577b9d44_0_153"/>
          <p:cNvSpPr/>
          <p:nvPr/>
        </p:nvSpPr>
        <p:spPr>
          <a:xfrm>
            <a:off x="5414001" y="208254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5</a:t>
            </a:r>
            <a:endParaRPr/>
          </a:p>
        </p:txBody>
      </p:sp>
      <p:sp>
        <p:nvSpPr>
          <p:cNvPr id="252" name="Google Shape;252;g2c6577b9d44_0_153"/>
          <p:cNvSpPr/>
          <p:nvPr/>
        </p:nvSpPr>
        <p:spPr>
          <a:xfrm>
            <a:off x="6176867" y="277213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-4</a:t>
            </a:r>
            <a:endParaRPr sz="3600">
              <a:solidFill>
                <a:srgbClr val="000000"/>
              </a:solidFill>
              <a:latin typeface="Corbel"/>
              <a:ea typeface="Corbel"/>
              <a:cs typeface="Corbel"/>
              <a:sym typeface="Corbel"/>
            </a:endParaRPr>
          </a:p>
        </p:txBody>
      </p:sp>
      <p:sp>
        <p:nvSpPr>
          <p:cNvPr id="253" name="Google Shape;253;g2c6577b9d44_0_153"/>
          <p:cNvSpPr/>
          <p:nvPr/>
        </p:nvSpPr>
        <p:spPr>
          <a:xfrm>
            <a:off x="6939732" y="277213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4</a:t>
            </a:r>
            <a:endParaRPr/>
          </a:p>
        </p:txBody>
      </p:sp>
      <p:sp>
        <p:nvSpPr>
          <p:cNvPr id="254" name="Google Shape;254;g2c6577b9d44_0_153"/>
          <p:cNvSpPr/>
          <p:nvPr/>
        </p:nvSpPr>
        <p:spPr>
          <a:xfrm>
            <a:off x="5414001" y="2772137"/>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2</a:t>
            </a:r>
            <a:endParaRPr sz="4400">
              <a:solidFill>
                <a:srgbClr val="000000"/>
              </a:solidFill>
              <a:latin typeface="Corbel"/>
              <a:ea typeface="Corbel"/>
              <a:cs typeface="Corbel"/>
              <a:sym typeface="Corbel"/>
            </a:endParaRPr>
          </a:p>
        </p:txBody>
      </p:sp>
      <p:sp>
        <p:nvSpPr>
          <p:cNvPr id="255" name="Google Shape;255;g2c6577b9d44_0_153"/>
          <p:cNvSpPr/>
          <p:nvPr/>
        </p:nvSpPr>
        <p:spPr>
          <a:xfrm>
            <a:off x="6176867" y="3466180"/>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600">
                <a:solidFill>
                  <a:srgbClr val="000000"/>
                </a:solidFill>
                <a:latin typeface="Corbel"/>
                <a:ea typeface="Corbel"/>
                <a:cs typeface="Corbel"/>
                <a:sym typeface="Corbel"/>
              </a:rPr>
              <a:t>5</a:t>
            </a:r>
            <a:endParaRPr/>
          </a:p>
        </p:txBody>
      </p:sp>
      <p:sp>
        <p:nvSpPr>
          <p:cNvPr id="256" name="Google Shape;256;g2c6577b9d44_0_153"/>
          <p:cNvSpPr/>
          <p:nvPr/>
        </p:nvSpPr>
        <p:spPr>
          <a:xfrm>
            <a:off x="6939732" y="3466180"/>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57" name="Google Shape;257;g2c6577b9d44_0_153"/>
          <p:cNvSpPr/>
          <p:nvPr/>
        </p:nvSpPr>
        <p:spPr>
          <a:xfrm>
            <a:off x="5414001" y="3466180"/>
            <a:ext cx="624300" cy="547500"/>
          </a:xfrm>
          <a:prstGeom prst="rect">
            <a:avLst/>
          </a:prstGeom>
          <a:solidFill>
            <a:srgbClr val="A5A5A5"/>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3900">
                <a:solidFill>
                  <a:srgbClr val="000000"/>
                </a:solidFill>
                <a:latin typeface="Corbel"/>
                <a:ea typeface="Corbel"/>
                <a:cs typeface="Corbel"/>
                <a:sym typeface="Corbel"/>
              </a:rPr>
              <a:t>-8</a:t>
            </a:r>
            <a:endParaRPr sz="3900">
              <a:solidFill>
                <a:srgbClr val="000000"/>
              </a:solidFill>
              <a:latin typeface="Corbel"/>
              <a:ea typeface="Corbel"/>
              <a:cs typeface="Corbel"/>
              <a:sym typeface="Corbel"/>
            </a:endParaRPr>
          </a:p>
        </p:txBody>
      </p:sp>
      <p:sp>
        <p:nvSpPr>
          <p:cNvPr id="258" name="Google Shape;258;g2c6577b9d44_0_153"/>
          <p:cNvSpPr/>
          <p:nvPr/>
        </p:nvSpPr>
        <p:spPr>
          <a:xfrm>
            <a:off x="4651136" y="2079144"/>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5</a:t>
            </a:r>
            <a:endParaRPr/>
          </a:p>
        </p:txBody>
      </p:sp>
      <p:sp>
        <p:nvSpPr>
          <p:cNvPr id="259" name="Google Shape;259;g2c6577b9d44_0_153"/>
          <p:cNvSpPr/>
          <p:nvPr/>
        </p:nvSpPr>
        <p:spPr>
          <a:xfrm>
            <a:off x="4651136" y="2772137"/>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2</a:t>
            </a:r>
            <a:endParaRPr/>
          </a:p>
        </p:txBody>
      </p:sp>
      <p:sp>
        <p:nvSpPr>
          <p:cNvPr id="260" name="Google Shape;260;g2c6577b9d44_0_153"/>
          <p:cNvSpPr/>
          <p:nvPr/>
        </p:nvSpPr>
        <p:spPr>
          <a:xfrm>
            <a:off x="4647899" y="3466180"/>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000">
                <a:solidFill>
                  <a:srgbClr val="000000"/>
                </a:solidFill>
                <a:latin typeface="Corbel"/>
                <a:ea typeface="Corbel"/>
                <a:cs typeface="Corbel"/>
                <a:sym typeface="Corbel"/>
              </a:rPr>
              <a:t>-8</a:t>
            </a:r>
            <a:endParaRPr sz="4000">
              <a:solidFill>
                <a:srgbClr val="000000"/>
              </a:solidFill>
              <a:latin typeface="Corbel"/>
              <a:ea typeface="Corbel"/>
              <a:cs typeface="Corbel"/>
              <a:sym typeface="Corbel"/>
            </a:endParaRPr>
          </a:p>
        </p:txBody>
      </p:sp>
      <p:sp>
        <p:nvSpPr>
          <p:cNvPr id="261" name="Google Shape;261;g2c6577b9d44_0_153"/>
          <p:cNvSpPr/>
          <p:nvPr/>
        </p:nvSpPr>
        <p:spPr>
          <a:xfrm>
            <a:off x="5414001" y="138850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5</a:t>
            </a:r>
            <a:endParaRPr/>
          </a:p>
        </p:txBody>
      </p:sp>
      <p:sp>
        <p:nvSpPr>
          <p:cNvPr id="262" name="Google Shape;262;g2c6577b9d44_0_153"/>
          <p:cNvSpPr/>
          <p:nvPr/>
        </p:nvSpPr>
        <p:spPr>
          <a:xfrm>
            <a:off x="4647899" y="1385101"/>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5</a:t>
            </a:r>
            <a:endParaRPr/>
          </a:p>
        </p:txBody>
      </p:sp>
      <p:sp>
        <p:nvSpPr>
          <p:cNvPr id="263" name="Google Shape;263;g2c6577b9d44_0_153"/>
          <p:cNvSpPr/>
          <p:nvPr/>
        </p:nvSpPr>
        <p:spPr>
          <a:xfrm>
            <a:off x="5414001" y="416022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000">
                <a:solidFill>
                  <a:srgbClr val="000000"/>
                </a:solidFill>
                <a:latin typeface="Corbel"/>
                <a:ea typeface="Corbel"/>
                <a:cs typeface="Corbel"/>
                <a:sym typeface="Corbel"/>
              </a:rPr>
              <a:t>-8</a:t>
            </a:r>
            <a:endParaRPr sz="4000">
              <a:solidFill>
                <a:srgbClr val="000000"/>
              </a:solidFill>
              <a:latin typeface="Corbel"/>
              <a:ea typeface="Corbel"/>
              <a:cs typeface="Corbel"/>
              <a:sym typeface="Corbel"/>
            </a:endParaRPr>
          </a:p>
        </p:txBody>
      </p:sp>
      <p:sp>
        <p:nvSpPr>
          <p:cNvPr id="264" name="Google Shape;264;g2c6577b9d44_0_153"/>
          <p:cNvSpPr/>
          <p:nvPr/>
        </p:nvSpPr>
        <p:spPr>
          <a:xfrm>
            <a:off x="4647899" y="416022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000">
                <a:solidFill>
                  <a:srgbClr val="000000"/>
                </a:solidFill>
                <a:latin typeface="Corbel"/>
                <a:ea typeface="Corbel"/>
                <a:cs typeface="Corbel"/>
                <a:sym typeface="Corbel"/>
              </a:rPr>
              <a:t>-8</a:t>
            </a:r>
            <a:endParaRPr sz="4000">
              <a:solidFill>
                <a:srgbClr val="000000"/>
              </a:solidFill>
              <a:latin typeface="Corbel"/>
              <a:ea typeface="Corbel"/>
              <a:cs typeface="Corbel"/>
              <a:sym typeface="Corbel"/>
            </a:endParaRPr>
          </a:p>
        </p:txBody>
      </p:sp>
      <p:sp>
        <p:nvSpPr>
          <p:cNvPr id="265" name="Google Shape;265;g2c6577b9d44_0_153"/>
          <p:cNvSpPr/>
          <p:nvPr/>
        </p:nvSpPr>
        <p:spPr>
          <a:xfrm>
            <a:off x="7705834" y="2079144"/>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9</a:t>
            </a:r>
            <a:endParaRPr/>
          </a:p>
        </p:txBody>
      </p:sp>
      <p:sp>
        <p:nvSpPr>
          <p:cNvPr id="266" name="Google Shape;266;g2c6577b9d44_0_153"/>
          <p:cNvSpPr/>
          <p:nvPr/>
        </p:nvSpPr>
        <p:spPr>
          <a:xfrm>
            <a:off x="7705834" y="2772137"/>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4</a:t>
            </a:r>
            <a:endParaRPr/>
          </a:p>
        </p:txBody>
      </p:sp>
      <p:sp>
        <p:nvSpPr>
          <p:cNvPr id="267" name="Google Shape;267;g2c6577b9d44_0_153"/>
          <p:cNvSpPr/>
          <p:nvPr/>
        </p:nvSpPr>
        <p:spPr>
          <a:xfrm>
            <a:off x="7702598" y="3466180"/>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68" name="Google Shape;268;g2c6577b9d44_0_153"/>
          <p:cNvSpPr/>
          <p:nvPr/>
        </p:nvSpPr>
        <p:spPr>
          <a:xfrm>
            <a:off x="7702598" y="1385101"/>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9</a:t>
            </a:r>
            <a:endParaRPr/>
          </a:p>
        </p:txBody>
      </p:sp>
      <p:sp>
        <p:nvSpPr>
          <p:cNvPr id="269" name="Google Shape;269;g2c6577b9d44_0_153"/>
          <p:cNvSpPr/>
          <p:nvPr/>
        </p:nvSpPr>
        <p:spPr>
          <a:xfrm>
            <a:off x="7702598" y="4160223"/>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70" name="Google Shape;270;g2c6577b9d44_0_153"/>
          <p:cNvSpPr/>
          <p:nvPr/>
        </p:nvSpPr>
        <p:spPr>
          <a:xfrm>
            <a:off x="6942969" y="1396359"/>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9</a:t>
            </a:r>
            <a:endParaRPr/>
          </a:p>
        </p:txBody>
      </p:sp>
      <p:sp>
        <p:nvSpPr>
          <p:cNvPr id="271" name="Google Shape;271;g2c6577b9d44_0_153"/>
          <p:cNvSpPr/>
          <p:nvPr/>
        </p:nvSpPr>
        <p:spPr>
          <a:xfrm>
            <a:off x="6176867" y="139295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000">
                <a:solidFill>
                  <a:srgbClr val="000000"/>
                </a:solidFill>
                <a:latin typeface="Corbel"/>
                <a:ea typeface="Corbel"/>
                <a:cs typeface="Corbel"/>
                <a:sym typeface="Corbel"/>
              </a:rPr>
              <a:t>-4</a:t>
            </a:r>
            <a:endParaRPr sz="4000">
              <a:solidFill>
                <a:srgbClr val="000000"/>
              </a:solidFill>
              <a:latin typeface="Corbel"/>
              <a:ea typeface="Corbel"/>
              <a:cs typeface="Corbel"/>
              <a:sym typeface="Corbel"/>
            </a:endParaRPr>
          </a:p>
        </p:txBody>
      </p:sp>
      <p:sp>
        <p:nvSpPr>
          <p:cNvPr id="272" name="Google Shape;272;g2c6577b9d44_0_153"/>
          <p:cNvSpPr/>
          <p:nvPr/>
        </p:nvSpPr>
        <p:spPr>
          <a:xfrm>
            <a:off x="6941351" y="4160399"/>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0</a:t>
            </a:r>
            <a:endParaRPr sz="4400">
              <a:solidFill>
                <a:srgbClr val="000000"/>
              </a:solidFill>
              <a:latin typeface="Corbel"/>
              <a:ea typeface="Corbel"/>
              <a:cs typeface="Corbel"/>
              <a:sym typeface="Corbel"/>
            </a:endParaRPr>
          </a:p>
        </p:txBody>
      </p:sp>
      <p:sp>
        <p:nvSpPr>
          <p:cNvPr id="273" name="Google Shape;273;g2c6577b9d44_0_153"/>
          <p:cNvSpPr/>
          <p:nvPr/>
        </p:nvSpPr>
        <p:spPr>
          <a:xfrm>
            <a:off x="6175248" y="4156996"/>
            <a:ext cx="624300" cy="5475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4400">
                <a:solidFill>
                  <a:srgbClr val="000000"/>
                </a:solidFill>
                <a:latin typeface="Corbel"/>
                <a:ea typeface="Corbel"/>
                <a:cs typeface="Corbel"/>
                <a:sym typeface="Corbel"/>
              </a:rPr>
              <a:t>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c6577b9d44_0_3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279" name="Google Shape;279;g2c6577b9d44_0_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80" name="Google Shape;280;g2c6577b9d44_0_30"/>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Stride</a:t>
            </a:r>
            <a:endParaRPr>
              <a:latin typeface="Golos Text"/>
              <a:ea typeface="Golos Text"/>
              <a:cs typeface="Golos Text"/>
              <a:sym typeface="Golos Text"/>
            </a:endParaRPr>
          </a:p>
        </p:txBody>
      </p:sp>
      <p:pic>
        <p:nvPicPr>
          <p:cNvPr id="281" name="Google Shape;281;g2c6577b9d44_0_30"/>
          <p:cNvPicPr preferRelativeResize="0"/>
          <p:nvPr/>
        </p:nvPicPr>
        <p:blipFill>
          <a:blip r:embed="rId3">
            <a:alphaModFix/>
          </a:blip>
          <a:stretch>
            <a:fillRect/>
          </a:stretch>
        </p:blipFill>
        <p:spPr>
          <a:xfrm>
            <a:off x="521750" y="980810"/>
            <a:ext cx="7967295" cy="40048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c6577b9d44_0_5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287" name="Google Shape;287;g2c6577b9d44_0_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88" name="Google Shape;288;g2c6577b9d44_0_50"/>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Dilation</a:t>
            </a:r>
            <a:endParaRPr>
              <a:latin typeface="Golos Text"/>
              <a:ea typeface="Golos Text"/>
              <a:cs typeface="Golos Text"/>
              <a:sym typeface="Golos Text"/>
            </a:endParaRPr>
          </a:p>
        </p:txBody>
      </p:sp>
      <p:pic>
        <p:nvPicPr>
          <p:cNvPr id="289" name="Google Shape;289;g2c6577b9d44_0_50"/>
          <p:cNvPicPr preferRelativeResize="0"/>
          <p:nvPr/>
        </p:nvPicPr>
        <p:blipFill>
          <a:blip r:embed="rId3">
            <a:alphaModFix/>
          </a:blip>
          <a:stretch>
            <a:fillRect/>
          </a:stretch>
        </p:blipFill>
        <p:spPr>
          <a:xfrm>
            <a:off x="337125" y="986235"/>
            <a:ext cx="8219662" cy="40048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c6577b9d44_0_36"/>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295" name="Google Shape;295;g2c6577b9d44_0_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96" name="Google Shape;296;g2c6577b9d44_0_36"/>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solidFill>
                  <a:schemeClr val="dk1"/>
                </a:solidFill>
                <a:latin typeface="Golos Text"/>
                <a:ea typeface="Golos Text"/>
                <a:cs typeface="Golos Text"/>
                <a:sym typeface="Golos Text"/>
              </a:rPr>
              <a:t>2</a:t>
            </a:r>
            <a:r>
              <a:rPr lang="ru-RU">
                <a:solidFill>
                  <a:schemeClr val="dk1"/>
                </a:solidFill>
                <a:latin typeface="Golos Text"/>
                <a:ea typeface="Golos Text"/>
                <a:cs typeface="Golos Text"/>
                <a:sym typeface="Golos Text"/>
              </a:rPr>
              <a:t>D Свертка</a:t>
            </a:r>
            <a:endParaRPr>
              <a:latin typeface="Golos Text"/>
              <a:ea typeface="Golos Text"/>
              <a:cs typeface="Golos Text"/>
              <a:sym typeface="Golos Text"/>
            </a:endParaRPr>
          </a:p>
        </p:txBody>
      </p:sp>
      <p:sp>
        <p:nvSpPr>
          <p:cNvPr id="297" name="Google Shape;297;g2c6577b9d44_0_36"/>
          <p:cNvSpPr/>
          <p:nvPr/>
        </p:nvSpPr>
        <p:spPr>
          <a:xfrm>
            <a:off x="834738" y="1600265"/>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298" name="Google Shape;298;g2c6577b9d44_0_36"/>
          <p:cNvSpPr/>
          <p:nvPr/>
        </p:nvSpPr>
        <p:spPr>
          <a:xfrm>
            <a:off x="1326671" y="1600265"/>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299" name="Google Shape;299;g2c6577b9d44_0_36"/>
          <p:cNvSpPr/>
          <p:nvPr/>
        </p:nvSpPr>
        <p:spPr>
          <a:xfrm>
            <a:off x="1818603" y="1600265"/>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0" name="Google Shape;300;g2c6577b9d44_0_36"/>
          <p:cNvSpPr/>
          <p:nvPr/>
        </p:nvSpPr>
        <p:spPr>
          <a:xfrm>
            <a:off x="2310536" y="1600265"/>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1" name="Google Shape;301;g2c6577b9d44_0_36"/>
          <p:cNvSpPr/>
          <p:nvPr/>
        </p:nvSpPr>
        <p:spPr>
          <a:xfrm>
            <a:off x="834738" y="2028003"/>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2" name="Google Shape;302;g2c6577b9d44_0_36"/>
          <p:cNvSpPr/>
          <p:nvPr/>
        </p:nvSpPr>
        <p:spPr>
          <a:xfrm>
            <a:off x="1326671" y="2028003"/>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03" name="Google Shape;303;g2c6577b9d44_0_36"/>
          <p:cNvSpPr/>
          <p:nvPr/>
        </p:nvSpPr>
        <p:spPr>
          <a:xfrm>
            <a:off x="1818603" y="2028003"/>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4" name="Google Shape;304;g2c6577b9d44_0_36"/>
          <p:cNvSpPr/>
          <p:nvPr/>
        </p:nvSpPr>
        <p:spPr>
          <a:xfrm>
            <a:off x="2310536" y="2028003"/>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5" name="Google Shape;305;g2c6577b9d44_0_36"/>
          <p:cNvSpPr/>
          <p:nvPr/>
        </p:nvSpPr>
        <p:spPr>
          <a:xfrm>
            <a:off x="834738" y="2455741"/>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6" name="Google Shape;306;g2c6577b9d44_0_36"/>
          <p:cNvSpPr/>
          <p:nvPr/>
        </p:nvSpPr>
        <p:spPr>
          <a:xfrm>
            <a:off x="1326671" y="245574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07" name="Google Shape;307;g2c6577b9d44_0_36"/>
          <p:cNvSpPr/>
          <p:nvPr/>
        </p:nvSpPr>
        <p:spPr>
          <a:xfrm>
            <a:off x="1818603" y="245574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08" name="Google Shape;308;g2c6577b9d44_0_36"/>
          <p:cNvSpPr/>
          <p:nvPr/>
        </p:nvSpPr>
        <p:spPr>
          <a:xfrm>
            <a:off x="2310536" y="2455741"/>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09" name="Google Shape;309;g2c6577b9d44_0_36"/>
          <p:cNvSpPr/>
          <p:nvPr/>
        </p:nvSpPr>
        <p:spPr>
          <a:xfrm>
            <a:off x="834738" y="2883479"/>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10" name="Google Shape;310;g2c6577b9d44_0_36"/>
          <p:cNvSpPr/>
          <p:nvPr/>
        </p:nvSpPr>
        <p:spPr>
          <a:xfrm>
            <a:off x="1326671" y="2883479"/>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11" name="Google Shape;311;g2c6577b9d44_0_36"/>
          <p:cNvSpPr/>
          <p:nvPr/>
        </p:nvSpPr>
        <p:spPr>
          <a:xfrm>
            <a:off x="1818603" y="288347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12" name="Google Shape;312;g2c6577b9d44_0_36"/>
          <p:cNvSpPr/>
          <p:nvPr/>
        </p:nvSpPr>
        <p:spPr>
          <a:xfrm>
            <a:off x="2310536" y="288347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13" name="Google Shape;313;g2c6577b9d44_0_36"/>
          <p:cNvSpPr/>
          <p:nvPr/>
        </p:nvSpPr>
        <p:spPr>
          <a:xfrm>
            <a:off x="4535152" y="1119590"/>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14" name="Google Shape;314;g2c6577b9d44_0_36"/>
          <p:cNvSpPr/>
          <p:nvPr/>
        </p:nvSpPr>
        <p:spPr>
          <a:xfrm>
            <a:off x="4041117" y="1119590"/>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15" name="Google Shape;315;g2c6577b9d44_0_36"/>
          <p:cNvSpPr/>
          <p:nvPr/>
        </p:nvSpPr>
        <p:spPr>
          <a:xfrm>
            <a:off x="4535152" y="1547328"/>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16" name="Google Shape;316;g2c6577b9d44_0_36"/>
          <p:cNvSpPr/>
          <p:nvPr/>
        </p:nvSpPr>
        <p:spPr>
          <a:xfrm>
            <a:off x="4041117" y="1547328"/>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17" name="Google Shape;317;g2c6577b9d44_0_36"/>
          <p:cNvSpPr txBox="1"/>
          <p:nvPr/>
        </p:nvSpPr>
        <p:spPr>
          <a:xfrm>
            <a:off x="623325" y="3240350"/>
            <a:ext cx="2851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Corbel"/>
                <a:ea typeface="Corbel"/>
                <a:cs typeface="Corbel"/>
                <a:sym typeface="Corbel"/>
              </a:rPr>
              <a:t>Исходное изображение</a:t>
            </a:r>
            <a:endParaRPr sz="1800">
              <a:solidFill>
                <a:srgbClr val="000000"/>
              </a:solidFill>
              <a:latin typeface="Corbel"/>
              <a:ea typeface="Corbel"/>
              <a:cs typeface="Corbel"/>
              <a:sym typeface="Corbel"/>
            </a:endParaRPr>
          </a:p>
        </p:txBody>
      </p:sp>
      <p:sp>
        <p:nvSpPr>
          <p:cNvPr id="318" name="Google Shape;318;g2c6577b9d44_0_36"/>
          <p:cNvSpPr/>
          <p:nvPr/>
        </p:nvSpPr>
        <p:spPr>
          <a:xfrm>
            <a:off x="4016577" y="294234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19" name="Google Shape;319;g2c6577b9d44_0_36"/>
          <p:cNvSpPr/>
          <p:nvPr/>
        </p:nvSpPr>
        <p:spPr>
          <a:xfrm>
            <a:off x="4508509" y="2942341"/>
            <a:ext cx="407100" cy="3570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FFFFFF"/>
                </a:solidFill>
                <a:latin typeface="Corbel"/>
                <a:ea typeface="Corbel"/>
                <a:cs typeface="Corbel"/>
                <a:sym typeface="Corbel"/>
              </a:rPr>
              <a:t>1</a:t>
            </a:r>
            <a:endParaRPr sz="2200">
              <a:solidFill>
                <a:srgbClr val="FFFFFF"/>
              </a:solidFill>
              <a:latin typeface="Corbel"/>
              <a:ea typeface="Corbel"/>
              <a:cs typeface="Corbel"/>
              <a:sym typeface="Corbel"/>
            </a:endParaRPr>
          </a:p>
        </p:txBody>
      </p:sp>
      <p:sp>
        <p:nvSpPr>
          <p:cNvPr id="320" name="Google Shape;320;g2c6577b9d44_0_36"/>
          <p:cNvSpPr/>
          <p:nvPr/>
        </p:nvSpPr>
        <p:spPr>
          <a:xfrm>
            <a:off x="4016577" y="337007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21" name="Google Shape;321;g2c6577b9d44_0_36"/>
          <p:cNvSpPr/>
          <p:nvPr/>
        </p:nvSpPr>
        <p:spPr>
          <a:xfrm>
            <a:off x="4508509" y="337007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200">
                <a:solidFill>
                  <a:srgbClr val="000000"/>
                </a:solidFill>
                <a:latin typeface="Corbel"/>
                <a:ea typeface="Corbel"/>
                <a:cs typeface="Corbel"/>
                <a:sym typeface="Corbel"/>
              </a:rPr>
              <a:t>-1</a:t>
            </a:r>
            <a:endParaRPr sz="2200">
              <a:solidFill>
                <a:srgbClr val="000000"/>
              </a:solidFill>
              <a:latin typeface="Corbel"/>
              <a:ea typeface="Corbel"/>
              <a:cs typeface="Corbel"/>
              <a:sym typeface="Corbel"/>
            </a:endParaRPr>
          </a:p>
        </p:txBody>
      </p:sp>
      <p:sp>
        <p:nvSpPr>
          <p:cNvPr id="322" name="Google Shape;322;g2c6577b9d44_0_36"/>
          <p:cNvSpPr txBox="1"/>
          <p:nvPr/>
        </p:nvSpPr>
        <p:spPr>
          <a:xfrm>
            <a:off x="3842926" y="3797800"/>
            <a:ext cx="1298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Corbel"/>
                <a:ea typeface="Corbel"/>
                <a:cs typeface="Corbel"/>
                <a:sym typeface="Corbel"/>
              </a:rPr>
              <a:t>Фильтры</a:t>
            </a:r>
            <a:endParaRPr sz="1800">
              <a:solidFill>
                <a:srgbClr val="000000"/>
              </a:solidFill>
              <a:latin typeface="Corbel"/>
              <a:ea typeface="Corbel"/>
              <a:cs typeface="Corbel"/>
              <a:sym typeface="Corbel"/>
            </a:endParaRPr>
          </a:p>
        </p:txBody>
      </p:sp>
      <p:sp>
        <p:nvSpPr>
          <p:cNvPr id="323" name="Google Shape;323;g2c6577b9d44_0_36"/>
          <p:cNvSpPr/>
          <p:nvPr/>
        </p:nvSpPr>
        <p:spPr>
          <a:xfrm>
            <a:off x="6691027" y="997050"/>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1200">
                <a:solidFill>
                  <a:srgbClr val="000000"/>
                </a:solidFill>
                <a:latin typeface="Corbel"/>
                <a:ea typeface="Corbel"/>
                <a:cs typeface="Corbel"/>
                <a:sym typeface="Corbel"/>
              </a:rPr>
              <a:t>-4</a:t>
            </a:r>
            <a:endParaRPr sz="1200">
              <a:solidFill>
                <a:srgbClr val="000000"/>
              </a:solidFill>
              <a:latin typeface="Corbel"/>
              <a:ea typeface="Corbel"/>
              <a:cs typeface="Corbel"/>
              <a:sym typeface="Corbel"/>
            </a:endParaRPr>
          </a:p>
        </p:txBody>
      </p:sp>
      <p:sp>
        <p:nvSpPr>
          <p:cNvPr id="324" name="Google Shape;324;g2c6577b9d44_0_36"/>
          <p:cNvSpPr/>
          <p:nvPr/>
        </p:nvSpPr>
        <p:spPr>
          <a:xfrm>
            <a:off x="7182960" y="997050"/>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0</a:t>
            </a:r>
            <a:endParaRPr sz="2000">
              <a:solidFill>
                <a:srgbClr val="000000"/>
              </a:solidFill>
              <a:latin typeface="Corbel"/>
              <a:ea typeface="Corbel"/>
              <a:cs typeface="Corbel"/>
              <a:sym typeface="Corbel"/>
            </a:endParaRPr>
          </a:p>
        </p:txBody>
      </p:sp>
      <p:sp>
        <p:nvSpPr>
          <p:cNvPr id="325" name="Google Shape;325;g2c6577b9d44_0_36"/>
          <p:cNvSpPr/>
          <p:nvPr/>
        </p:nvSpPr>
        <p:spPr>
          <a:xfrm>
            <a:off x="7182960" y="142478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26" name="Google Shape;326;g2c6577b9d44_0_36"/>
          <p:cNvSpPr/>
          <p:nvPr/>
        </p:nvSpPr>
        <p:spPr>
          <a:xfrm>
            <a:off x="7182960" y="1845720"/>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27" name="Google Shape;327;g2c6577b9d44_0_36"/>
          <p:cNvSpPr/>
          <p:nvPr/>
        </p:nvSpPr>
        <p:spPr>
          <a:xfrm>
            <a:off x="6199095" y="99642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28" name="Google Shape;328;g2c6577b9d44_0_36"/>
          <p:cNvSpPr/>
          <p:nvPr/>
        </p:nvSpPr>
        <p:spPr>
          <a:xfrm>
            <a:off x="6698755" y="1421826"/>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29" name="Google Shape;329;g2c6577b9d44_0_36"/>
          <p:cNvSpPr/>
          <p:nvPr/>
        </p:nvSpPr>
        <p:spPr>
          <a:xfrm>
            <a:off x="6214550" y="1421826"/>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4</a:t>
            </a:r>
            <a:endParaRPr sz="2000">
              <a:solidFill>
                <a:srgbClr val="000000"/>
              </a:solidFill>
              <a:latin typeface="Corbel"/>
              <a:ea typeface="Corbel"/>
              <a:cs typeface="Corbel"/>
              <a:sym typeface="Corbel"/>
            </a:endParaRPr>
          </a:p>
        </p:txBody>
      </p:sp>
      <p:sp>
        <p:nvSpPr>
          <p:cNvPr id="330" name="Google Shape;330;g2c6577b9d44_0_36"/>
          <p:cNvSpPr/>
          <p:nvPr/>
        </p:nvSpPr>
        <p:spPr>
          <a:xfrm>
            <a:off x="6215469" y="1847232"/>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31" name="Google Shape;331;g2c6577b9d44_0_36"/>
          <p:cNvSpPr/>
          <p:nvPr/>
        </p:nvSpPr>
        <p:spPr>
          <a:xfrm>
            <a:off x="6706624" y="1846602"/>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32" name="Google Shape;332;g2c6577b9d44_0_36"/>
          <p:cNvSpPr/>
          <p:nvPr/>
        </p:nvSpPr>
        <p:spPr>
          <a:xfrm>
            <a:off x="6706483" y="270504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33" name="Google Shape;333;g2c6577b9d44_0_36"/>
          <p:cNvSpPr/>
          <p:nvPr/>
        </p:nvSpPr>
        <p:spPr>
          <a:xfrm>
            <a:off x="7198415" y="270504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34" name="Google Shape;334;g2c6577b9d44_0_36"/>
          <p:cNvSpPr/>
          <p:nvPr/>
        </p:nvSpPr>
        <p:spPr>
          <a:xfrm>
            <a:off x="7198415" y="3132779"/>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0</a:t>
            </a:r>
            <a:endParaRPr sz="2000">
              <a:solidFill>
                <a:srgbClr val="000000"/>
              </a:solidFill>
              <a:latin typeface="Corbel"/>
              <a:ea typeface="Corbel"/>
              <a:cs typeface="Corbel"/>
              <a:sym typeface="Corbel"/>
            </a:endParaRPr>
          </a:p>
        </p:txBody>
      </p:sp>
      <p:sp>
        <p:nvSpPr>
          <p:cNvPr id="335" name="Google Shape;335;g2c6577b9d44_0_36"/>
          <p:cNvSpPr/>
          <p:nvPr/>
        </p:nvSpPr>
        <p:spPr>
          <a:xfrm>
            <a:off x="7198415" y="3553711"/>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4</a:t>
            </a:r>
            <a:endParaRPr sz="2000">
              <a:solidFill>
                <a:srgbClr val="000000"/>
              </a:solidFill>
              <a:latin typeface="Corbel"/>
              <a:ea typeface="Corbel"/>
              <a:cs typeface="Corbel"/>
              <a:sym typeface="Corbel"/>
            </a:endParaRPr>
          </a:p>
        </p:txBody>
      </p:sp>
      <p:sp>
        <p:nvSpPr>
          <p:cNvPr id="336" name="Google Shape;336;g2c6577b9d44_0_36"/>
          <p:cNvSpPr/>
          <p:nvPr/>
        </p:nvSpPr>
        <p:spPr>
          <a:xfrm>
            <a:off x="6214550" y="2704412"/>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0</a:t>
            </a:r>
            <a:endParaRPr sz="2000">
              <a:solidFill>
                <a:srgbClr val="000000"/>
              </a:solidFill>
              <a:latin typeface="Corbel"/>
              <a:ea typeface="Corbel"/>
              <a:cs typeface="Corbel"/>
              <a:sym typeface="Corbel"/>
            </a:endParaRPr>
          </a:p>
        </p:txBody>
      </p:sp>
      <p:sp>
        <p:nvSpPr>
          <p:cNvPr id="337" name="Google Shape;337;g2c6577b9d44_0_36"/>
          <p:cNvSpPr/>
          <p:nvPr/>
        </p:nvSpPr>
        <p:spPr>
          <a:xfrm>
            <a:off x="6714210" y="3129817"/>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4</a:t>
            </a:r>
            <a:endParaRPr sz="2000">
              <a:solidFill>
                <a:srgbClr val="000000"/>
              </a:solidFill>
              <a:latin typeface="Corbel"/>
              <a:ea typeface="Corbel"/>
              <a:cs typeface="Corbel"/>
              <a:sym typeface="Corbel"/>
            </a:endParaRPr>
          </a:p>
        </p:txBody>
      </p:sp>
      <p:sp>
        <p:nvSpPr>
          <p:cNvPr id="338" name="Google Shape;338;g2c6577b9d44_0_36"/>
          <p:cNvSpPr/>
          <p:nvPr/>
        </p:nvSpPr>
        <p:spPr>
          <a:xfrm>
            <a:off x="6230005" y="3129817"/>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-2</a:t>
            </a:r>
            <a:endParaRPr sz="2000">
              <a:solidFill>
                <a:srgbClr val="000000"/>
              </a:solidFill>
              <a:latin typeface="Corbel"/>
              <a:ea typeface="Corbel"/>
              <a:cs typeface="Corbel"/>
              <a:sym typeface="Corbel"/>
            </a:endParaRPr>
          </a:p>
        </p:txBody>
      </p:sp>
      <p:sp>
        <p:nvSpPr>
          <p:cNvPr id="339" name="Google Shape;339;g2c6577b9d44_0_36"/>
          <p:cNvSpPr/>
          <p:nvPr/>
        </p:nvSpPr>
        <p:spPr>
          <a:xfrm>
            <a:off x="6230925" y="3555222"/>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1200">
                <a:solidFill>
                  <a:srgbClr val="000000"/>
                </a:solidFill>
                <a:latin typeface="Corbel"/>
                <a:ea typeface="Corbel"/>
                <a:cs typeface="Corbel"/>
                <a:sym typeface="Corbel"/>
              </a:rPr>
              <a:t>-4</a:t>
            </a:r>
            <a:endParaRPr sz="1200">
              <a:solidFill>
                <a:srgbClr val="000000"/>
              </a:solidFill>
              <a:latin typeface="Corbel"/>
              <a:ea typeface="Corbel"/>
              <a:cs typeface="Corbel"/>
              <a:sym typeface="Corbel"/>
            </a:endParaRPr>
          </a:p>
        </p:txBody>
      </p:sp>
      <p:sp>
        <p:nvSpPr>
          <p:cNvPr id="340" name="Google Shape;340;g2c6577b9d44_0_36"/>
          <p:cNvSpPr/>
          <p:nvPr/>
        </p:nvSpPr>
        <p:spPr>
          <a:xfrm>
            <a:off x="6722079" y="3554593"/>
            <a:ext cx="407100" cy="3570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0</a:t>
            </a:r>
            <a:endParaRPr sz="2000">
              <a:solidFill>
                <a:srgbClr val="000000"/>
              </a:solidFill>
              <a:latin typeface="Corbel"/>
              <a:ea typeface="Corbel"/>
              <a:cs typeface="Corbel"/>
              <a:sym typeface="Corbel"/>
            </a:endParaRPr>
          </a:p>
        </p:txBody>
      </p:sp>
      <p:sp>
        <p:nvSpPr>
          <p:cNvPr id="341" name="Google Shape;341;g2c6577b9d44_0_36"/>
          <p:cNvSpPr txBox="1"/>
          <p:nvPr/>
        </p:nvSpPr>
        <p:spPr>
          <a:xfrm>
            <a:off x="6148779" y="3980625"/>
            <a:ext cx="1491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Corbel"/>
                <a:ea typeface="Corbel"/>
                <a:cs typeface="Corbel"/>
                <a:sym typeface="Corbel"/>
              </a:rPr>
              <a:t>Результаты фильтрации</a:t>
            </a:r>
            <a:endParaRPr sz="1800">
              <a:solidFill>
                <a:srgbClr val="000000"/>
              </a:solidFill>
              <a:latin typeface="Corbel"/>
              <a:ea typeface="Corbel"/>
              <a:cs typeface="Corbel"/>
              <a:sym typeface="Corbel"/>
            </a:endParaRPr>
          </a:p>
        </p:txBody>
      </p:sp>
      <p:cxnSp>
        <p:nvCxnSpPr>
          <p:cNvPr id="342" name="Google Shape;342;g2c6577b9d44_0_36"/>
          <p:cNvCxnSpPr/>
          <p:nvPr/>
        </p:nvCxnSpPr>
        <p:spPr>
          <a:xfrm flipH="1" rot="10800000">
            <a:off x="2735035" y="1547481"/>
            <a:ext cx="1281600" cy="883500"/>
          </a:xfrm>
          <a:prstGeom prst="straightConnector1">
            <a:avLst/>
          </a:prstGeom>
          <a:noFill/>
          <a:ln cap="flat" cmpd="sng" w="76200">
            <a:solidFill>
              <a:srgbClr val="000000"/>
            </a:solidFill>
            <a:prstDash val="solid"/>
            <a:round/>
            <a:headEnd len="sm" w="sm" type="none"/>
            <a:tailEnd len="med" w="med" type="triangle"/>
          </a:ln>
        </p:spPr>
      </p:cxnSp>
      <p:cxnSp>
        <p:nvCxnSpPr>
          <p:cNvPr id="343" name="Google Shape;343;g2c6577b9d44_0_36"/>
          <p:cNvCxnSpPr/>
          <p:nvPr/>
        </p:nvCxnSpPr>
        <p:spPr>
          <a:xfrm>
            <a:off x="2742278" y="2430981"/>
            <a:ext cx="1298700" cy="939000"/>
          </a:xfrm>
          <a:prstGeom prst="straightConnector1">
            <a:avLst/>
          </a:prstGeom>
          <a:noFill/>
          <a:ln cap="flat" cmpd="sng" w="76200">
            <a:solidFill>
              <a:srgbClr val="000000"/>
            </a:solidFill>
            <a:prstDash val="solid"/>
            <a:round/>
            <a:headEnd len="sm" w="sm" type="none"/>
            <a:tailEnd len="med" w="med" type="triangle"/>
          </a:ln>
        </p:spPr>
      </p:cxnSp>
      <p:cxnSp>
        <p:nvCxnSpPr>
          <p:cNvPr id="344" name="Google Shape;344;g2c6577b9d44_0_36"/>
          <p:cNvCxnSpPr/>
          <p:nvPr/>
        </p:nvCxnSpPr>
        <p:spPr>
          <a:xfrm>
            <a:off x="5068204" y="1481135"/>
            <a:ext cx="999000" cy="0"/>
          </a:xfrm>
          <a:prstGeom prst="straightConnector1">
            <a:avLst/>
          </a:prstGeom>
          <a:noFill/>
          <a:ln cap="flat" cmpd="sng" w="76200">
            <a:solidFill>
              <a:srgbClr val="000000"/>
            </a:solidFill>
            <a:prstDash val="solid"/>
            <a:round/>
            <a:headEnd len="sm" w="sm" type="none"/>
            <a:tailEnd len="med" w="med" type="triangle"/>
          </a:ln>
        </p:spPr>
      </p:cxnSp>
      <p:cxnSp>
        <p:nvCxnSpPr>
          <p:cNvPr id="345" name="Google Shape;345;g2c6577b9d44_0_36"/>
          <p:cNvCxnSpPr/>
          <p:nvPr/>
        </p:nvCxnSpPr>
        <p:spPr>
          <a:xfrm>
            <a:off x="5113298" y="3308256"/>
            <a:ext cx="999000" cy="0"/>
          </a:xfrm>
          <a:prstGeom prst="straightConnector1">
            <a:avLst/>
          </a:prstGeom>
          <a:noFill/>
          <a:ln cap="flat" cmpd="sng" w="76200">
            <a:solidFill>
              <a:srgbClr val="000000"/>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c6577b9d44_0_109"/>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sp>
        <p:nvSpPr>
          <p:cNvPr id="351" name="Google Shape;351;g2c6577b9d44_0_10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52" name="Google Shape;352;g2c6577b9d44_0_109"/>
          <p:cNvSpPr/>
          <p:nvPr/>
        </p:nvSpPr>
        <p:spPr>
          <a:xfrm>
            <a:off x="2703450" y="293300"/>
            <a:ext cx="3199200" cy="353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solidFill>
                  <a:schemeClr val="dk1"/>
                </a:solidFill>
                <a:latin typeface="Golos Text"/>
                <a:ea typeface="Golos Text"/>
                <a:cs typeface="Golos Text"/>
                <a:sym typeface="Golos Text"/>
              </a:rPr>
              <a:t>2D Свертка</a:t>
            </a:r>
            <a:endParaRPr>
              <a:latin typeface="Golos Text"/>
              <a:ea typeface="Golos Text"/>
              <a:cs typeface="Golos Text"/>
              <a:sym typeface="Golos Text"/>
            </a:endParaRPr>
          </a:p>
        </p:txBody>
      </p:sp>
      <p:sp>
        <p:nvSpPr>
          <p:cNvPr id="353" name="Google Shape;353;g2c6577b9d44_0_109"/>
          <p:cNvSpPr txBox="1"/>
          <p:nvPr/>
        </p:nvSpPr>
        <p:spPr>
          <a:xfrm>
            <a:off x="2198867" y="920823"/>
            <a:ext cx="5370600" cy="5214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ru-RU" sz="200">
                <a:latin typeface="Corbel"/>
                <a:ea typeface="Corbel"/>
                <a:cs typeface="Corbel"/>
                <a:sym typeface="Corbel"/>
              </a:rPr>
              <a:t> </a:t>
            </a:r>
            <a:endParaRPr sz="100"/>
          </a:p>
        </p:txBody>
      </p:sp>
      <p:sp>
        <p:nvSpPr>
          <p:cNvPr id="354" name="Google Shape;354;g2c6577b9d44_0_109"/>
          <p:cNvSpPr/>
          <p:nvPr/>
        </p:nvSpPr>
        <p:spPr>
          <a:xfrm>
            <a:off x="982851" y="2224359"/>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000">
                <a:solidFill>
                  <a:srgbClr val="000000"/>
                </a:solidFill>
                <a:latin typeface="Corbel"/>
                <a:ea typeface="Corbel"/>
                <a:cs typeface="Corbel"/>
                <a:sym typeface="Corbel"/>
              </a:rPr>
              <a:t>-4</a:t>
            </a:r>
            <a:endParaRPr sz="2000">
              <a:solidFill>
                <a:srgbClr val="000000"/>
              </a:solidFill>
              <a:latin typeface="Corbel"/>
              <a:ea typeface="Corbel"/>
              <a:cs typeface="Corbel"/>
              <a:sym typeface="Corbel"/>
            </a:endParaRPr>
          </a:p>
        </p:txBody>
      </p:sp>
      <p:sp>
        <p:nvSpPr>
          <p:cNvPr id="355" name="Google Shape;355;g2c6577b9d44_0_109"/>
          <p:cNvSpPr/>
          <p:nvPr/>
        </p:nvSpPr>
        <p:spPr>
          <a:xfrm>
            <a:off x="1567140" y="2224359"/>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0</a:t>
            </a:r>
            <a:endParaRPr sz="2800">
              <a:solidFill>
                <a:srgbClr val="000000"/>
              </a:solidFill>
              <a:latin typeface="Corbel"/>
              <a:ea typeface="Corbel"/>
              <a:cs typeface="Corbel"/>
              <a:sym typeface="Corbel"/>
            </a:endParaRPr>
          </a:p>
        </p:txBody>
      </p:sp>
      <p:sp>
        <p:nvSpPr>
          <p:cNvPr id="356" name="Google Shape;356;g2c6577b9d44_0_109"/>
          <p:cNvSpPr/>
          <p:nvPr/>
        </p:nvSpPr>
        <p:spPr>
          <a:xfrm>
            <a:off x="1567140" y="2732398"/>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57" name="Google Shape;357;g2c6577b9d44_0_109"/>
          <p:cNvSpPr/>
          <p:nvPr/>
        </p:nvSpPr>
        <p:spPr>
          <a:xfrm>
            <a:off x="1567140" y="3232354"/>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58" name="Google Shape;358;g2c6577b9d44_0_109"/>
          <p:cNvSpPr/>
          <p:nvPr/>
        </p:nvSpPr>
        <p:spPr>
          <a:xfrm>
            <a:off x="398563" y="2223611"/>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59" name="Google Shape;359;g2c6577b9d44_0_109"/>
          <p:cNvSpPr/>
          <p:nvPr/>
        </p:nvSpPr>
        <p:spPr>
          <a:xfrm>
            <a:off x="992029" y="2728880"/>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60" name="Google Shape;360;g2c6577b9d44_0_109"/>
          <p:cNvSpPr/>
          <p:nvPr/>
        </p:nvSpPr>
        <p:spPr>
          <a:xfrm>
            <a:off x="416920" y="2728880"/>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4</a:t>
            </a:r>
            <a:endParaRPr sz="2800">
              <a:solidFill>
                <a:srgbClr val="000000"/>
              </a:solidFill>
              <a:latin typeface="Corbel"/>
              <a:ea typeface="Corbel"/>
              <a:cs typeface="Corbel"/>
              <a:sym typeface="Corbel"/>
            </a:endParaRPr>
          </a:p>
        </p:txBody>
      </p:sp>
      <p:sp>
        <p:nvSpPr>
          <p:cNvPr id="361" name="Google Shape;361;g2c6577b9d44_0_109"/>
          <p:cNvSpPr/>
          <p:nvPr/>
        </p:nvSpPr>
        <p:spPr>
          <a:xfrm>
            <a:off x="418012" y="3234149"/>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62" name="Google Shape;362;g2c6577b9d44_0_109"/>
          <p:cNvSpPr/>
          <p:nvPr/>
        </p:nvSpPr>
        <p:spPr>
          <a:xfrm>
            <a:off x="1001376" y="3233401"/>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2</a:t>
            </a:r>
            <a:endParaRPr sz="2800">
              <a:solidFill>
                <a:srgbClr val="000000"/>
              </a:solidFill>
              <a:latin typeface="Corbel"/>
              <a:ea typeface="Corbel"/>
              <a:cs typeface="Corbel"/>
              <a:sym typeface="Corbel"/>
            </a:endParaRPr>
          </a:p>
        </p:txBody>
      </p:sp>
      <p:sp>
        <p:nvSpPr>
          <p:cNvPr id="363" name="Google Shape;363;g2c6577b9d44_0_109"/>
          <p:cNvSpPr/>
          <p:nvPr/>
        </p:nvSpPr>
        <p:spPr>
          <a:xfrm>
            <a:off x="2050791" y="2552446"/>
            <a:ext cx="2133000" cy="6801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ru-RU" sz="200">
                <a:latin typeface="Corbel"/>
                <a:ea typeface="Corbel"/>
                <a:cs typeface="Corbel"/>
                <a:sym typeface="Corbel"/>
              </a:rPr>
              <a:t> </a:t>
            </a:r>
            <a:endParaRPr sz="100"/>
          </a:p>
        </p:txBody>
      </p:sp>
      <p:sp>
        <p:nvSpPr>
          <p:cNvPr id="364" name="Google Shape;364;g2c6577b9d44_0_109"/>
          <p:cNvSpPr/>
          <p:nvPr/>
        </p:nvSpPr>
        <p:spPr>
          <a:xfrm>
            <a:off x="4146874" y="1999776"/>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65" name="Google Shape;365;g2c6577b9d44_0_109"/>
          <p:cNvSpPr/>
          <p:nvPr/>
        </p:nvSpPr>
        <p:spPr>
          <a:xfrm>
            <a:off x="4731162" y="2012689"/>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66" name="Google Shape;366;g2c6577b9d44_0_109"/>
          <p:cNvSpPr/>
          <p:nvPr/>
        </p:nvSpPr>
        <p:spPr>
          <a:xfrm>
            <a:off x="5315451" y="1999776"/>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67" name="Google Shape;367;g2c6577b9d44_0_109"/>
          <p:cNvSpPr/>
          <p:nvPr/>
        </p:nvSpPr>
        <p:spPr>
          <a:xfrm>
            <a:off x="5899740" y="1999776"/>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68" name="Google Shape;368;g2c6577b9d44_0_109"/>
          <p:cNvSpPr/>
          <p:nvPr/>
        </p:nvSpPr>
        <p:spPr>
          <a:xfrm>
            <a:off x="4146874" y="250781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69" name="Google Shape;369;g2c6577b9d44_0_109"/>
          <p:cNvSpPr/>
          <p:nvPr/>
        </p:nvSpPr>
        <p:spPr>
          <a:xfrm>
            <a:off x="4731162" y="250781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70" name="Google Shape;370;g2c6577b9d44_0_109"/>
          <p:cNvSpPr/>
          <p:nvPr/>
        </p:nvSpPr>
        <p:spPr>
          <a:xfrm>
            <a:off x="5315451" y="250781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1" name="Google Shape;371;g2c6577b9d44_0_109"/>
          <p:cNvSpPr/>
          <p:nvPr/>
        </p:nvSpPr>
        <p:spPr>
          <a:xfrm>
            <a:off x="5899740" y="250781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2" name="Google Shape;372;g2c6577b9d44_0_109"/>
          <p:cNvSpPr/>
          <p:nvPr/>
        </p:nvSpPr>
        <p:spPr>
          <a:xfrm>
            <a:off x="4146874" y="301585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3" name="Google Shape;373;g2c6577b9d44_0_109"/>
          <p:cNvSpPr/>
          <p:nvPr/>
        </p:nvSpPr>
        <p:spPr>
          <a:xfrm>
            <a:off x="4731162" y="301585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74" name="Google Shape;374;g2c6577b9d44_0_109"/>
          <p:cNvSpPr/>
          <p:nvPr/>
        </p:nvSpPr>
        <p:spPr>
          <a:xfrm>
            <a:off x="5315451" y="301585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75" name="Google Shape;375;g2c6577b9d44_0_109"/>
          <p:cNvSpPr/>
          <p:nvPr/>
        </p:nvSpPr>
        <p:spPr>
          <a:xfrm>
            <a:off x="5899740" y="301585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6" name="Google Shape;376;g2c6577b9d44_0_109"/>
          <p:cNvSpPr/>
          <p:nvPr/>
        </p:nvSpPr>
        <p:spPr>
          <a:xfrm>
            <a:off x="4146874" y="352389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7" name="Google Shape;377;g2c6577b9d44_0_109"/>
          <p:cNvSpPr/>
          <p:nvPr/>
        </p:nvSpPr>
        <p:spPr>
          <a:xfrm>
            <a:off x="4731162" y="352389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78" name="Google Shape;378;g2c6577b9d44_0_109"/>
          <p:cNvSpPr/>
          <p:nvPr/>
        </p:nvSpPr>
        <p:spPr>
          <a:xfrm>
            <a:off x="5315451" y="352389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79" name="Google Shape;379;g2c6577b9d44_0_109"/>
          <p:cNvSpPr/>
          <p:nvPr/>
        </p:nvSpPr>
        <p:spPr>
          <a:xfrm>
            <a:off x="5899740" y="352389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80" name="Google Shape;380;g2c6577b9d44_0_109"/>
          <p:cNvSpPr/>
          <p:nvPr/>
        </p:nvSpPr>
        <p:spPr>
          <a:xfrm>
            <a:off x="6393143" y="2484456"/>
            <a:ext cx="2352300" cy="8160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ru-RU" sz="200">
                <a:latin typeface="Corbel"/>
                <a:ea typeface="Corbel"/>
                <a:cs typeface="Corbel"/>
                <a:sym typeface="Corbel"/>
              </a:rPr>
              <a:t> </a:t>
            </a:r>
            <a:endParaRPr sz="100"/>
          </a:p>
        </p:txBody>
      </p:sp>
      <p:sp>
        <p:nvSpPr>
          <p:cNvPr id="381" name="Google Shape;381;g2c6577b9d44_0_109"/>
          <p:cNvSpPr/>
          <p:nvPr/>
        </p:nvSpPr>
        <p:spPr>
          <a:xfrm>
            <a:off x="7569286" y="2484456"/>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82" name="Google Shape;382;g2c6577b9d44_0_109"/>
          <p:cNvSpPr/>
          <p:nvPr/>
        </p:nvSpPr>
        <p:spPr>
          <a:xfrm>
            <a:off x="6982501" y="2484456"/>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83" name="Google Shape;383;g2c6577b9d44_0_109"/>
          <p:cNvSpPr/>
          <p:nvPr/>
        </p:nvSpPr>
        <p:spPr>
          <a:xfrm>
            <a:off x="7569286" y="2992495"/>
            <a:ext cx="483600" cy="423900"/>
          </a:xfrm>
          <a:prstGeom prst="rect">
            <a:avLst/>
          </a:prstGeom>
          <a:solidFill>
            <a:srgbClr val="FFFFFF"/>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000000"/>
                </a:solidFill>
                <a:latin typeface="Corbel"/>
                <a:ea typeface="Corbel"/>
                <a:cs typeface="Corbel"/>
                <a:sym typeface="Corbel"/>
              </a:rPr>
              <a:t>-1</a:t>
            </a:r>
            <a:endParaRPr sz="2800">
              <a:solidFill>
                <a:srgbClr val="000000"/>
              </a:solidFill>
              <a:latin typeface="Corbel"/>
              <a:ea typeface="Corbel"/>
              <a:cs typeface="Corbel"/>
              <a:sym typeface="Corbel"/>
            </a:endParaRPr>
          </a:p>
        </p:txBody>
      </p:sp>
      <p:sp>
        <p:nvSpPr>
          <p:cNvPr id="384" name="Google Shape;384;g2c6577b9d44_0_109"/>
          <p:cNvSpPr/>
          <p:nvPr/>
        </p:nvSpPr>
        <p:spPr>
          <a:xfrm>
            <a:off x="6982501" y="2992495"/>
            <a:ext cx="483600" cy="423900"/>
          </a:xfrm>
          <a:prstGeom prst="rect">
            <a:avLst/>
          </a:prstGeom>
          <a:solidFill>
            <a:srgbClr val="000000"/>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800">
                <a:solidFill>
                  <a:srgbClr val="FFFFFF"/>
                </a:solidFill>
                <a:latin typeface="Corbel"/>
                <a:ea typeface="Corbel"/>
                <a:cs typeface="Corbel"/>
                <a:sym typeface="Corbel"/>
              </a:rPr>
              <a:t>1</a:t>
            </a:r>
            <a:endParaRPr sz="2800">
              <a:solidFill>
                <a:srgbClr val="FFFFFF"/>
              </a:solidFill>
              <a:latin typeface="Corbel"/>
              <a:ea typeface="Corbel"/>
              <a:cs typeface="Corbel"/>
              <a:sym typeface="Corbel"/>
            </a:endParaRPr>
          </a:p>
        </p:txBody>
      </p:sp>
      <p:sp>
        <p:nvSpPr>
          <p:cNvPr id="385" name="Google Shape;385;g2c6577b9d44_0_109"/>
          <p:cNvSpPr/>
          <p:nvPr/>
        </p:nvSpPr>
        <p:spPr>
          <a:xfrm>
            <a:off x="1352984" y="4306760"/>
            <a:ext cx="5940000" cy="443100"/>
          </a:xfrm>
          <a:prstGeom prst="rect">
            <a:avLst/>
          </a:prstGeom>
          <a:solidFill>
            <a:srgbClr val="CDD0D1"/>
          </a:solidFill>
          <a:ln cap="rnd" cmpd="sng" w="158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ru-RU" sz="2100">
                <a:solidFill>
                  <a:srgbClr val="000000"/>
                </a:solidFill>
                <a:latin typeface="Corbel"/>
                <a:ea typeface="Corbel"/>
                <a:cs typeface="Corbel"/>
                <a:sym typeface="Corbel"/>
              </a:rPr>
              <a:t>1*(-1)+1*(-1)+(-1)*(-1)+1*(-1)=-1-1-1+1=1-3=-2</a:t>
            </a:r>
            <a:endParaRPr sz="2100">
              <a:solidFill>
                <a:srgbClr val="000000"/>
              </a:solidFill>
              <a:latin typeface="Corbel"/>
              <a:ea typeface="Corbel"/>
              <a:cs typeface="Corbel"/>
              <a:sym typeface="Corbel"/>
            </a:endParaRPr>
          </a:p>
        </p:txBody>
      </p:sp>
      <p:sp>
        <p:nvSpPr>
          <p:cNvPr id="386" name="Google Shape;386;g2c6577b9d44_0_109"/>
          <p:cNvSpPr/>
          <p:nvPr/>
        </p:nvSpPr>
        <p:spPr>
          <a:xfrm>
            <a:off x="1584740" y="3228835"/>
            <a:ext cx="484500" cy="42600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rgbClr val="FFFFFF"/>
              </a:solidFill>
              <a:latin typeface="Corbel"/>
              <a:ea typeface="Corbel"/>
              <a:cs typeface="Corbel"/>
              <a:sym typeface="Corbel"/>
            </a:endParaRPr>
          </a:p>
        </p:txBody>
      </p:sp>
      <p:sp>
        <p:nvSpPr>
          <p:cNvPr id="387" name="Google Shape;387;g2c6577b9d44_0_109"/>
          <p:cNvSpPr/>
          <p:nvPr/>
        </p:nvSpPr>
        <p:spPr>
          <a:xfrm>
            <a:off x="5284231" y="2976320"/>
            <a:ext cx="1086000" cy="96180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rgbClr val="FFFFFF"/>
              </a:solidFill>
              <a:latin typeface="Corbel"/>
              <a:ea typeface="Corbel"/>
              <a:cs typeface="Corbel"/>
              <a:sym typeface="Corbel"/>
            </a:endParaRPr>
          </a:p>
        </p:txBody>
      </p:sp>
      <p:sp>
        <p:nvSpPr>
          <p:cNvPr id="388" name="Google Shape;388;g2c6577b9d44_0_109"/>
          <p:cNvSpPr/>
          <p:nvPr/>
        </p:nvSpPr>
        <p:spPr>
          <a:xfrm>
            <a:off x="6984212" y="2477945"/>
            <a:ext cx="1086000" cy="96180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rgbClr val="FFFFFF"/>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2c6577b9d44_0_8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94" name="Google Shape;394;g2c6577b9d44_0_89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pic>
        <p:nvPicPr>
          <p:cNvPr id="395" name="Google Shape;395;g2c6577b9d44_0_890"/>
          <p:cNvPicPr preferRelativeResize="0"/>
          <p:nvPr/>
        </p:nvPicPr>
        <p:blipFill>
          <a:blip r:embed="rId3">
            <a:alphaModFix/>
          </a:blip>
          <a:stretch>
            <a:fillRect/>
          </a:stretch>
        </p:blipFill>
        <p:spPr>
          <a:xfrm>
            <a:off x="280988" y="942975"/>
            <a:ext cx="8582025" cy="3257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2c6577b9d44_0_8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01" name="Google Shape;401;g2c6577b9d44_0_897"/>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a:t>
            </a:r>
            <a:endParaRPr/>
          </a:p>
        </p:txBody>
      </p:sp>
      <p:pic>
        <p:nvPicPr>
          <p:cNvPr id="402" name="Google Shape;402;g2c6577b9d44_0_897"/>
          <p:cNvPicPr preferRelativeResize="0"/>
          <p:nvPr/>
        </p:nvPicPr>
        <p:blipFill>
          <a:blip r:embed="rId3">
            <a:alphaModFix/>
          </a:blip>
          <a:stretch>
            <a:fillRect/>
          </a:stretch>
        </p:blipFill>
        <p:spPr>
          <a:xfrm>
            <a:off x="904648" y="1014625"/>
            <a:ext cx="7315649" cy="3645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2c6577b9d44_0_221"/>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408" name="Google Shape;408;g2c6577b9d44_0_221"/>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09" name="Google Shape;409;g2c6577b9d44_0_221"/>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0" name="Google Shape;410;g2c6577b9d44_0_221"/>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1" name="Google Shape;411;g2c6577b9d44_0_221"/>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2" name="Google Shape;412;g2c6577b9d44_0_221"/>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3" name="Google Shape;413;g2c6577b9d44_0_221"/>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4" name="Google Shape;414;g2c6577b9d44_0_221"/>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5" name="Google Shape;415;g2c6577b9d44_0_221"/>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6" name="Google Shape;416;g2c6577b9d44_0_221"/>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7" name="Google Shape;417;g2c6577b9d44_0_221"/>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8" name="Google Shape;418;g2c6577b9d44_0_221"/>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19" name="Google Shape;419;g2c6577b9d44_0_221"/>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0" name="Google Shape;420;g2c6577b9d44_0_221"/>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1" name="Google Shape;421;g2c6577b9d44_0_221"/>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2" name="Google Shape;422;g2c6577b9d44_0_221"/>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3" name="Google Shape;423;g2c6577b9d44_0_221"/>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4" name="Google Shape;424;g2c6577b9d44_0_221"/>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5" name="Google Shape;425;g2c6577b9d44_0_221"/>
          <p:cNvSpPr/>
          <p:nvPr/>
        </p:nvSpPr>
        <p:spPr>
          <a:xfrm>
            <a:off x="3544679" y="88410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6" name="Google Shape;426;g2c6577b9d44_0_221"/>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7" name="Google Shape;427;g2c6577b9d44_0_221"/>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8" name="Google Shape;428;g2c6577b9d44_0_221"/>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29" name="Google Shape;429;g2c6577b9d44_0_221"/>
          <p:cNvSpPr/>
          <p:nvPr/>
        </p:nvSpPr>
        <p:spPr>
          <a:xfrm>
            <a:off x="3544679"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0" name="Google Shape;430;g2c6577b9d44_0_221"/>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1" name="Google Shape;431;g2c6577b9d44_0_221"/>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2" name="Google Shape;432;g2c6577b9d44_0_221"/>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3" name="Google Shape;433;g2c6577b9d44_0_221"/>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4" name="Google Shape;434;g2c6577b9d44_0_221"/>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5" name="Google Shape;435;g2c6577b9d44_0_221"/>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6" name="Google Shape;436;g2c6577b9d44_0_221"/>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7" name="Google Shape;437;g2c6577b9d44_0_221"/>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8" name="Google Shape;438;g2c6577b9d44_0_221"/>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39" name="Google Shape;439;g2c6577b9d44_0_221"/>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0" name="Google Shape;440;g2c6577b9d44_0_221"/>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1" name="Google Shape;441;g2c6577b9d44_0_221"/>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2" name="Google Shape;442;g2c6577b9d44_0_221"/>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3" name="Google Shape;443;g2c6577b9d44_0_221"/>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4" name="Google Shape;444;g2c6577b9d44_0_221"/>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5" name="Google Shape;445;g2c6577b9d44_0_221"/>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6" name="Google Shape;446;g2c6577b9d44_0_221"/>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7" name="Google Shape;447;g2c6577b9d44_0_221"/>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8" name="Google Shape;448;g2c6577b9d44_0_221"/>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49" name="Google Shape;449;g2c6577b9d44_0_221"/>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0" name="Google Shape;450;g2c6577b9d44_0_221"/>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1" name="Google Shape;451;g2c6577b9d44_0_221"/>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2" name="Google Shape;452;g2c6577b9d44_0_221"/>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3" name="Google Shape;453;g2c6577b9d44_0_221"/>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4" name="Google Shape;454;g2c6577b9d44_0_221"/>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5" name="Google Shape;455;g2c6577b9d44_0_221"/>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6" name="Google Shape;456;g2c6577b9d44_0_221"/>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7" name="Google Shape;457;g2c6577b9d44_0_221"/>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8" name="Google Shape;458;g2c6577b9d44_0_221"/>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59" name="Google Shape;459;g2c6577b9d44_0_221"/>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0" name="Google Shape;460;g2c6577b9d44_0_221"/>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1" name="Google Shape;461;g2c6577b9d44_0_221"/>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2" name="Google Shape;462;g2c6577b9d44_0_221"/>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3" name="Google Shape;463;g2c6577b9d44_0_221"/>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4" name="Google Shape;464;g2c6577b9d44_0_221"/>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5" name="Google Shape;465;g2c6577b9d44_0_221"/>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6" name="Google Shape;466;g2c6577b9d44_0_221"/>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7" name="Google Shape;467;g2c6577b9d44_0_221"/>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8" name="Google Shape;468;g2c6577b9d44_0_221"/>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69" name="Google Shape;469;g2c6577b9d44_0_221"/>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0" name="Google Shape;470;g2c6577b9d44_0_221"/>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1" name="Google Shape;471;g2c6577b9d44_0_221"/>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2" name="Google Shape;472;g2c6577b9d44_0_221"/>
          <p:cNvSpPr/>
          <p:nvPr/>
        </p:nvSpPr>
        <p:spPr>
          <a:xfrm>
            <a:off x="6279614"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3" name="Google Shape;473;g2c6577b9d44_0_221"/>
          <p:cNvSpPr/>
          <p:nvPr/>
        </p:nvSpPr>
        <p:spPr>
          <a:xfrm>
            <a:off x="6750586"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4" name="Google Shape;474;g2c6577b9d44_0_221"/>
          <p:cNvSpPr/>
          <p:nvPr/>
        </p:nvSpPr>
        <p:spPr>
          <a:xfrm>
            <a:off x="7221557" y="1821916"/>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5" name="Google Shape;475;g2c6577b9d44_0_221"/>
          <p:cNvSpPr/>
          <p:nvPr/>
        </p:nvSpPr>
        <p:spPr>
          <a:xfrm>
            <a:off x="7692529"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6" name="Google Shape;476;g2c6577b9d44_0_221"/>
          <p:cNvSpPr/>
          <p:nvPr/>
        </p:nvSpPr>
        <p:spPr>
          <a:xfrm>
            <a:off x="6279614"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7" name="Google Shape;477;g2c6577b9d44_0_221"/>
          <p:cNvSpPr/>
          <p:nvPr/>
        </p:nvSpPr>
        <p:spPr>
          <a:xfrm>
            <a:off x="6750586"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8" name="Google Shape;478;g2c6577b9d44_0_221"/>
          <p:cNvSpPr/>
          <p:nvPr/>
        </p:nvSpPr>
        <p:spPr>
          <a:xfrm>
            <a:off x="7221557"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79" name="Google Shape;479;g2c6577b9d44_0_221"/>
          <p:cNvSpPr/>
          <p:nvPr/>
        </p:nvSpPr>
        <p:spPr>
          <a:xfrm>
            <a:off x="7692529"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0" name="Google Shape;480;g2c6577b9d44_0_221"/>
          <p:cNvSpPr/>
          <p:nvPr/>
        </p:nvSpPr>
        <p:spPr>
          <a:xfrm>
            <a:off x="6279614"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1" name="Google Shape;481;g2c6577b9d44_0_221"/>
          <p:cNvSpPr/>
          <p:nvPr/>
        </p:nvSpPr>
        <p:spPr>
          <a:xfrm>
            <a:off x="6750586"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2" name="Google Shape;482;g2c6577b9d44_0_221"/>
          <p:cNvSpPr/>
          <p:nvPr/>
        </p:nvSpPr>
        <p:spPr>
          <a:xfrm>
            <a:off x="7221557"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3" name="Google Shape;483;g2c6577b9d44_0_221"/>
          <p:cNvSpPr/>
          <p:nvPr/>
        </p:nvSpPr>
        <p:spPr>
          <a:xfrm>
            <a:off x="7692529"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4" name="Google Shape;484;g2c6577b9d44_0_221"/>
          <p:cNvSpPr/>
          <p:nvPr/>
        </p:nvSpPr>
        <p:spPr>
          <a:xfrm>
            <a:off x="6279614"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5" name="Google Shape;485;g2c6577b9d44_0_221"/>
          <p:cNvSpPr/>
          <p:nvPr/>
        </p:nvSpPr>
        <p:spPr>
          <a:xfrm>
            <a:off x="6750586"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6" name="Google Shape;486;g2c6577b9d44_0_221"/>
          <p:cNvSpPr/>
          <p:nvPr/>
        </p:nvSpPr>
        <p:spPr>
          <a:xfrm>
            <a:off x="7221557"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87" name="Google Shape;487;g2c6577b9d44_0_221"/>
          <p:cNvSpPr/>
          <p:nvPr/>
        </p:nvSpPr>
        <p:spPr>
          <a:xfrm>
            <a:off x="7692529"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2c6577b9d44_0_305"/>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493" name="Google Shape;493;g2c6577b9d44_0_305"/>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4" name="Google Shape;494;g2c6577b9d44_0_305"/>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5" name="Google Shape;495;g2c6577b9d44_0_305"/>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6" name="Google Shape;496;g2c6577b9d44_0_305"/>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7" name="Google Shape;497;g2c6577b9d44_0_305"/>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8" name="Google Shape;498;g2c6577b9d44_0_305"/>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499" name="Google Shape;499;g2c6577b9d44_0_305"/>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0" name="Google Shape;500;g2c6577b9d44_0_305"/>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1" name="Google Shape;501;g2c6577b9d44_0_305"/>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2" name="Google Shape;502;g2c6577b9d44_0_305"/>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3" name="Google Shape;503;g2c6577b9d44_0_305"/>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4" name="Google Shape;504;g2c6577b9d44_0_305"/>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5" name="Google Shape;505;g2c6577b9d44_0_305"/>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6" name="Google Shape;506;g2c6577b9d44_0_305"/>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7" name="Google Shape;507;g2c6577b9d44_0_305"/>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8" name="Google Shape;508;g2c6577b9d44_0_305"/>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09" name="Google Shape;509;g2c6577b9d44_0_305"/>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0" name="Google Shape;510;g2c6577b9d44_0_305"/>
          <p:cNvSpPr/>
          <p:nvPr/>
        </p:nvSpPr>
        <p:spPr>
          <a:xfrm>
            <a:off x="3544679" y="88410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1" name="Google Shape;511;g2c6577b9d44_0_305"/>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2" name="Google Shape;512;g2c6577b9d44_0_305"/>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3" name="Google Shape;513;g2c6577b9d44_0_305"/>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4" name="Google Shape;514;g2c6577b9d44_0_305"/>
          <p:cNvSpPr/>
          <p:nvPr/>
        </p:nvSpPr>
        <p:spPr>
          <a:xfrm>
            <a:off x="3544679"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5" name="Google Shape;515;g2c6577b9d44_0_305"/>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6" name="Google Shape;516;g2c6577b9d44_0_305"/>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7" name="Google Shape;517;g2c6577b9d44_0_305"/>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8" name="Google Shape;518;g2c6577b9d44_0_305"/>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19" name="Google Shape;519;g2c6577b9d44_0_305"/>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0" name="Google Shape;520;g2c6577b9d44_0_305"/>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1" name="Google Shape;521;g2c6577b9d44_0_305"/>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2" name="Google Shape;522;g2c6577b9d44_0_305"/>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3" name="Google Shape;523;g2c6577b9d44_0_305"/>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4" name="Google Shape;524;g2c6577b9d44_0_305"/>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5" name="Google Shape;525;g2c6577b9d44_0_305"/>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6" name="Google Shape;526;g2c6577b9d44_0_305"/>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7" name="Google Shape;527;g2c6577b9d44_0_305"/>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8" name="Google Shape;528;g2c6577b9d44_0_305"/>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29" name="Google Shape;529;g2c6577b9d44_0_305"/>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0" name="Google Shape;530;g2c6577b9d44_0_305"/>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1" name="Google Shape;531;g2c6577b9d44_0_305"/>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2" name="Google Shape;532;g2c6577b9d44_0_305"/>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3" name="Google Shape;533;g2c6577b9d44_0_305"/>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4" name="Google Shape;534;g2c6577b9d44_0_305"/>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5" name="Google Shape;535;g2c6577b9d44_0_305"/>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6" name="Google Shape;536;g2c6577b9d44_0_305"/>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7" name="Google Shape;537;g2c6577b9d44_0_305"/>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8" name="Google Shape;538;g2c6577b9d44_0_305"/>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39" name="Google Shape;539;g2c6577b9d44_0_305"/>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0" name="Google Shape;540;g2c6577b9d44_0_305"/>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1" name="Google Shape;541;g2c6577b9d44_0_305"/>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2" name="Google Shape;542;g2c6577b9d44_0_305"/>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3" name="Google Shape;543;g2c6577b9d44_0_305"/>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4" name="Google Shape;544;g2c6577b9d44_0_305"/>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5" name="Google Shape;545;g2c6577b9d44_0_305"/>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6" name="Google Shape;546;g2c6577b9d44_0_305"/>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7" name="Google Shape;547;g2c6577b9d44_0_305"/>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8" name="Google Shape;548;g2c6577b9d44_0_305"/>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49" name="Google Shape;549;g2c6577b9d44_0_305"/>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0" name="Google Shape;550;g2c6577b9d44_0_305"/>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1" name="Google Shape;551;g2c6577b9d44_0_305"/>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2" name="Google Shape;552;g2c6577b9d44_0_305"/>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3" name="Google Shape;553;g2c6577b9d44_0_305"/>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4" name="Google Shape;554;g2c6577b9d44_0_305"/>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5" name="Google Shape;555;g2c6577b9d44_0_305"/>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6" name="Google Shape;556;g2c6577b9d44_0_305"/>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7" name="Google Shape;557;g2c6577b9d44_0_305"/>
          <p:cNvSpPr/>
          <p:nvPr/>
        </p:nvSpPr>
        <p:spPr>
          <a:xfrm>
            <a:off x="6279614"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8" name="Google Shape;558;g2c6577b9d44_0_305"/>
          <p:cNvSpPr/>
          <p:nvPr/>
        </p:nvSpPr>
        <p:spPr>
          <a:xfrm>
            <a:off x="6750586"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59" name="Google Shape;559;g2c6577b9d44_0_305"/>
          <p:cNvSpPr/>
          <p:nvPr/>
        </p:nvSpPr>
        <p:spPr>
          <a:xfrm>
            <a:off x="7221557" y="1821916"/>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0" name="Google Shape;560;g2c6577b9d44_0_305"/>
          <p:cNvSpPr/>
          <p:nvPr/>
        </p:nvSpPr>
        <p:spPr>
          <a:xfrm>
            <a:off x="7692529"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1" name="Google Shape;561;g2c6577b9d44_0_305"/>
          <p:cNvSpPr/>
          <p:nvPr/>
        </p:nvSpPr>
        <p:spPr>
          <a:xfrm>
            <a:off x="6279614"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2" name="Google Shape;562;g2c6577b9d44_0_305"/>
          <p:cNvSpPr/>
          <p:nvPr/>
        </p:nvSpPr>
        <p:spPr>
          <a:xfrm>
            <a:off x="6750586"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3" name="Google Shape;563;g2c6577b9d44_0_305"/>
          <p:cNvSpPr/>
          <p:nvPr/>
        </p:nvSpPr>
        <p:spPr>
          <a:xfrm>
            <a:off x="7221557"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4" name="Google Shape;564;g2c6577b9d44_0_305"/>
          <p:cNvSpPr/>
          <p:nvPr/>
        </p:nvSpPr>
        <p:spPr>
          <a:xfrm>
            <a:off x="7692529"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5" name="Google Shape;565;g2c6577b9d44_0_305"/>
          <p:cNvSpPr/>
          <p:nvPr/>
        </p:nvSpPr>
        <p:spPr>
          <a:xfrm>
            <a:off x="6279614"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6" name="Google Shape;566;g2c6577b9d44_0_305"/>
          <p:cNvSpPr/>
          <p:nvPr/>
        </p:nvSpPr>
        <p:spPr>
          <a:xfrm>
            <a:off x="6750586"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7" name="Google Shape;567;g2c6577b9d44_0_305"/>
          <p:cNvSpPr/>
          <p:nvPr/>
        </p:nvSpPr>
        <p:spPr>
          <a:xfrm>
            <a:off x="7221557"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8" name="Google Shape;568;g2c6577b9d44_0_305"/>
          <p:cNvSpPr/>
          <p:nvPr/>
        </p:nvSpPr>
        <p:spPr>
          <a:xfrm>
            <a:off x="7692529"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69" name="Google Shape;569;g2c6577b9d44_0_305"/>
          <p:cNvSpPr/>
          <p:nvPr/>
        </p:nvSpPr>
        <p:spPr>
          <a:xfrm>
            <a:off x="6279614"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0" name="Google Shape;570;g2c6577b9d44_0_305"/>
          <p:cNvSpPr/>
          <p:nvPr/>
        </p:nvSpPr>
        <p:spPr>
          <a:xfrm>
            <a:off x="6750586"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1" name="Google Shape;571;g2c6577b9d44_0_305"/>
          <p:cNvSpPr/>
          <p:nvPr/>
        </p:nvSpPr>
        <p:spPr>
          <a:xfrm>
            <a:off x="7221557"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2" name="Google Shape;572;g2c6577b9d44_0_305"/>
          <p:cNvSpPr/>
          <p:nvPr/>
        </p:nvSpPr>
        <p:spPr>
          <a:xfrm>
            <a:off x="7692529"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3" name="Google Shape;573;g2c6577b9d44_0_305"/>
          <p:cNvSpPr/>
          <p:nvPr/>
        </p:nvSpPr>
        <p:spPr>
          <a:xfrm>
            <a:off x="1177032" y="879972"/>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4" name="Google Shape;574;g2c6577b9d44_0_305"/>
          <p:cNvSpPr/>
          <p:nvPr/>
        </p:nvSpPr>
        <p:spPr>
          <a:xfrm>
            <a:off x="6299140" y="1821916"/>
            <a:ext cx="432000" cy="452700"/>
          </a:xfrm>
          <a:prstGeom prst="rect">
            <a:avLst/>
          </a:prstGeom>
          <a:solidFill>
            <a:srgbClr val="EAD1DC"/>
          </a:solid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75" name="Google Shape;575;g2c6577b9d44_0_305"/>
          <p:cNvSpPr txBox="1"/>
          <p:nvPr/>
        </p:nvSpPr>
        <p:spPr>
          <a:xfrm>
            <a:off x="5329936" y="3937157"/>
            <a:ext cx="3495600" cy="992700"/>
          </a:xfrm>
          <a:prstGeom prst="rect">
            <a:avLst/>
          </a:prstGeom>
          <a:noFill/>
          <a:ln>
            <a:noFill/>
          </a:ln>
        </p:spPr>
        <p:txBody>
          <a:bodyPr anchorCtr="0" anchor="t" bIns="34275" lIns="68575" spcFirstLastPara="1" rIns="68575" wrap="square" tIns="34275">
            <a:spAutoFit/>
          </a:bodyPr>
          <a:lstStyle/>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Max </a:t>
            </a:r>
            <a:endParaRPr sz="3000">
              <a:solidFill>
                <a:schemeClr val="dk1"/>
              </a:solidFill>
              <a:latin typeface="Corbel"/>
              <a:ea typeface="Corbel"/>
              <a:cs typeface="Corbel"/>
              <a:sym typeface="Corbel"/>
            </a:endParaRPr>
          </a:p>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Среднее значение</a:t>
            </a:r>
            <a:endParaRPr sz="3000">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2c6577b9d44_0_392"/>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581" name="Google Shape;581;g2c6577b9d44_0_392"/>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2" name="Google Shape;582;g2c6577b9d44_0_392"/>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3" name="Google Shape;583;g2c6577b9d44_0_392"/>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4" name="Google Shape;584;g2c6577b9d44_0_392"/>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5" name="Google Shape;585;g2c6577b9d44_0_392"/>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6" name="Google Shape;586;g2c6577b9d44_0_392"/>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7" name="Google Shape;587;g2c6577b9d44_0_392"/>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8" name="Google Shape;588;g2c6577b9d44_0_392"/>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89" name="Google Shape;589;g2c6577b9d44_0_392"/>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0" name="Google Shape;590;g2c6577b9d44_0_392"/>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1" name="Google Shape;591;g2c6577b9d44_0_392"/>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2" name="Google Shape;592;g2c6577b9d44_0_392"/>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3" name="Google Shape;593;g2c6577b9d44_0_392"/>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4" name="Google Shape;594;g2c6577b9d44_0_392"/>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5" name="Google Shape;595;g2c6577b9d44_0_392"/>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6" name="Google Shape;596;g2c6577b9d44_0_392"/>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7" name="Google Shape;597;g2c6577b9d44_0_392"/>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8" name="Google Shape;598;g2c6577b9d44_0_392"/>
          <p:cNvSpPr/>
          <p:nvPr/>
        </p:nvSpPr>
        <p:spPr>
          <a:xfrm>
            <a:off x="3544679" y="88410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599" name="Google Shape;599;g2c6577b9d44_0_392"/>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0" name="Google Shape;600;g2c6577b9d44_0_392"/>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1" name="Google Shape;601;g2c6577b9d44_0_392"/>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2" name="Google Shape;602;g2c6577b9d44_0_392"/>
          <p:cNvSpPr/>
          <p:nvPr/>
        </p:nvSpPr>
        <p:spPr>
          <a:xfrm>
            <a:off x="3544679"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3" name="Google Shape;603;g2c6577b9d44_0_392"/>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4" name="Google Shape;604;g2c6577b9d44_0_392"/>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5" name="Google Shape;605;g2c6577b9d44_0_392"/>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6" name="Google Shape;606;g2c6577b9d44_0_392"/>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7" name="Google Shape;607;g2c6577b9d44_0_392"/>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8" name="Google Shape;608;g2c6577b9d44_0_392"/>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09" name="Google Shape;609;g2c6577b9d44_0_392"/>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0" name="Google Shape;610;g2c6577b9d44_0_392"/>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1" name="Google Shape;611;g2c6577b9d44_0_392"/>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2" name="Google Shape;612;g2c6577b9d44_0_392"/>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3" name="Google Shape;613;g2c6577b9d44_0_392"/>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4" name="Google Shape;614;g2c6577b9d44_0_392"/>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5" name="Google Shape;615;g2c6577b9d44_0_392"/>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6" name="Google Shape;616;g2c6577b9d44_0_392"/>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7" name="Google Shape;617;g2c6577b9d44_0_392"/>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8" name="Google Shape;618;g2c6577b9d44_0_392"/>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19" name="Google Shape;619;g2c6577b9d44_0_392"/>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0" name="Google Shape;620;g2c6577b9d44_0_392"/>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1" name="Google Shape;621;g2c6577b9d44_0_392"/>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2" name="Google Shape;622;g2c6577b9d44_0_392"/>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3" name="Google Shape;623;g2c6577b9d44_0_392"/>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4" name="Google Shape;624;g2c6577b9d44_0_392"/>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5" name="Google Shape;625;g2c6577b9d44_0_392"/>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6" name="Google Shape;626;g2c6577b9d44_0_392"/>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7" name="Google Shape;627;g2c6577b9d44_0_392"/>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8" name="Google Shape;628;g2c6577b9d44_0_392"/>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29" name="Google Shape;629;g2c6577b9d44_0_392"/>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0" name="Google Shape;630;g2c6577b9d44_0_392"/>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1" name="Google Shape;631;g2c6577b9d44_0_392"/>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2" name="Google Shape;632;g2c6577b9d44_0_392"/>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3" name="Google Shape;633;g2c6577b9d44_0_392"/>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4" name="Google Shape;634;g2c6577b9d44_0_392"/>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5" name="Google Shape;635;g2c6577b9d44_0_392"/>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6" name="Google Shape;636;g2c6577b9d44_0_392"/>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7" name="Google Shape;637;g2c6577b9d44_0_392"/>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8" name="Google Shape;638;g2c6577b9d44_0_392"/>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39" name="Google Shape;639;g2c6577b9d44_0_392"/>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0" name="Google Shape;640;g2c6577b9d44_0_392"/>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1" name="Google Shape;641;g2c6577b9d44_0_392"/>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2" name="Google Shape;642;g2c6577b9d44_0_392"/>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3" name="Google Shape;643;g2c6577b9d44_0_392"/>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4" name="Google Shape;644;g2c6577b9d44_0_392"/>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5" name="Google Shape;645;g2c6577b9d44_0_392"/>
          <p:cNvSpPr/>
          <p:nvPr/>
        </p:nvSpPr>
        <p:spPr>
          <a:xfrm>
            <a:off x="6279614"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6" name="Google Shape;646;g2c6577b9d44_0_392"/>
          <p:cNvSpPr/>
          <p:nvPr/>
        </p:nvSpPr>
        <p:spPr>
          <a:xfrm>
            <a:off x="6750586"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7" name="Google Shape;647;g2c6577b9d44_0_392"/>
          <p:cNvSpPr/>
          <p:nvPr/>
        </p:nvSpPr>
        <p:spPr>
          <a:xfrm>
            <a:off x="7221557" y="1821916"/>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8" name="Google Shape;648;g2c6577b9d44_0_392"/>
          <p:cNvSpPr/>
          <p:nvPr/>
        </p:nvSpPr>
        <p:spPr>
          <a:xfrm>
            <a:off x="7692529"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49" name="Google Shape;649;g2c6577b9d44_0_392"/>
          <p:cNvSpPr/>
          <p:nvPr/>
        </p:nvSpPr>
        <p:spPr>
          <a:xfrm>
            <a:off x="6279614"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0" name="Google Shape;650;g2c6577b9d44_0_392"/>
          <p:cNvSpPr/>
          <p:nvPr/>
        </p:nvSpPr>
        <p:spPr>
          <a:xfrm>
            <a:off x="6750586"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1" name="Google Shape;651;g2c6577b9d44_0_392"/>
          <p:cNvSpPr/>
          <p:nvPr/>
        </p:nvSpPr>
        <p:spPr>
          <a:xfrm>
            <a:off x="7221557"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2" name="Google Shape;652;g2c6577b9d44_0_392"/>
          <p:cNvSpPr/>
          <p:nvPr/>
        </p:nvSpPr>
        <p:spPr>
          <a:xfrm>
            <a:off x="7692529"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3" name="Google Shape;653;g2c6577b9d44_0_392"/>
          <p:cNvSpPr/>
          <p:nvPr/>
        </p:nvSpPr>
        <p:spPr>
          <a:xfrm>
            <a:off x="6279614"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4" name="Google Shape;654;g2c6577b9d44_0_392"/>
          <p:cNvSpPr/>
          <p:nvPr/>
        </p:nvSpPr>
        <p:spPr>
          <a:xfrm>
            <a:off x="6750586"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5" name="Google Shape;655;g2c6577b9d44_0_392"/>
          <p:cNvSpPr/>
          <p:nvPr/>
        </p:nvSpPr>
        <p:spPr>
          <a:xfrm>
            <a:off x="7221557"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6" name="Google Shape;656;g2c6577b9d44_0_392"/>
          <p:cNvSpPr/>
          <p:nvPr/>
        </p:nvSpPr>
        <p:spPr>
          <a:xfrm>
            <a:off x="7692529"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7" name="Google Shape;657;g2c6577b9d44_0_392"/>
          <p:cNvSpPr/>
          <p:nvPr/>
        </p:nvSpPr>
        <p:spPr>
          <a:xfrm>
            <a:off x="6279614"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8" name="Google Shape;658;g2c6577b9d44_0_392"/>
          <p:cNvSpPr/>
          <p:nvPr/>
        </p:nvSpPr>
        <p:spPr>
          <a:xfrm>
            <a:off x="6750586"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59" name="Google Shape;659;g2c6577b9d44_0_392"/>
          <p:cNvSpPr/>
          <p:nvPr/>
        </p:nvSpPr>
        <p:spPr>
          <a:xfrm>
            <a:off x="7221557"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60" name="Google Shape;660;g2c6577b9d44_0_392"/>
          <p:cNvSpPr/>
          <p:nvPr/>
        </p:nvSpPr>
        <p:spPr>
          <a:xfrm>
            <a:off x="7692529"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61" name="Google Shape;661;g2c6577b9d44_0_392"/>
          <p:cNvSpPr/>
          <p:nvPr/>
        </p:nvSpPr>
        <p:spPr>
          <a:xfrm>
            <a:off x="1177032" y="879972"/>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62" name="Google Shape;662;g2c6577b9d44_0_392"/>
          <p:cNvSpPr/>
          <p:nvPr/>
        </p:nvSpPr>
        <p:spPr>
          <a:xfrm>
            <a:off x="6299140" y="1821916"/>
            <a:ext cx="432000" cy="4527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63" name="Google Shape;663;g2c6577b9d44_0_392"/>
          <p:cNvSpPr txBox="1"/>
          <p:nvPr/>
        </p:nvSpPr>
        <p:spPr>
          <a:xfrm>
            <a:off x="5329936" y="3937157"/>
            <a:ext cx="3495600" cy="992700"/>
          </a:xfrm>
          <a:prstGeom prst="rect">
            <a:avLst/>
          </a:prstGeom>
          <a:noFill/>
          <a:ln>
            <a:noFill/>
          </a:ln>
        </p:spPr>
        <p:txBody>
          <a:bodyPr anchorCtr="0" anchor="t" bIns="34275" lIns="68575" spcFirstLastPara="1" rIns="68575" wrap="square" tIns="34275">
            <a:spAutoFit/>
          </a:bodyPr>
          <a:lstStyle/>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Max </a:t>
            </a:r>
            <a:endParaRPr sz="3000">
              <a:solidFill>
                <a:schemeClr val="dk1"/>
              </a:solidFill>
              <a:latin typeface="Corbel"/>
              <a:ea typeface="Corbel"/>
              <a:cs typeface="Corbel"/>
              <a:sym typeface="Corbel"/>
            </a:endParaRPr>
          </a:p>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Среднее значение</a:t>
            </a:r>
            <a:endParaRPr sz="3000">
              <a:solidFill>
                <a:schemeClr val="dk1"/>
              </a:solidFill>
              <a:latin typeface="Corbel"/>
              <a:ea typeface="Corbel"/>
              <a:cs typeface="Corbel"/>
              <a:sym typeface="Corbel"/>
            </a:endParaRPr>
          </a:p>
        </p:txBody>
      </p:sp>
      <p:sp>
        <p:nvSpPr>
          <p:cNvPr id="664" name="Google Shape;664;g2c6577b9d44_0_392"/>
          <p:cNvSpPr/>
          <p:nvPr/>
        </p:nvSpPr>
        <p:spPr>
          <a:xfrm flipH="1">
            <a:off x="6465572" y="4020313"/>
            <a:ext cx="520500" cy="413100"/>
          </a:xfrm>
          <a:prstGeom prst="chevron">
            <a:avLst>
              <a:gd fmla="val 50000" name="adj"/>
            </a:avLst>
          </a:prstGeom>
          <a:solidFill>
            <a:srgbClr val="92D050"/>
          </a:solidFill>
          <a:ln cap="rnd" cmpd="sng" w="15875">
            <a:solidFill>
              <a:srgbClr val="00B05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orbel"/>
              <a:ea typeface="Corbel"/>
              <a:cs typeface="Corbel"/>
              <a:sym typeface="Corbe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g2c6577b9d44_0_480"/>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670" name="Google Shape;670;g2c6577b9d44_0_480"/>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1" name="Google Shape;671;g2c6577b9d44_0_480"/>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2" name="Google Shape;672;g2c6577b9d44_0_480"/>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3" name="Google Shape;673;g2c6577b9d44_0_480"/>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4" name="Google Shape;674;g2c6577b9d44_0_480"/>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5" name="Google Shape;675;g2c6577b9d44_0_480"/>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6" name="Google Shape;676;g2c6577b9d44_0_480"/>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7" name="Google Shape;677;g2c6577b9d44_0_480"/>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8" name="Google Shape;678;g2c6577b9d44_0_480"/>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79" name="Google Shape;679;g2c6577b9d44_0_480"/>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0" name="Google Shape;680;g2c6577b9d44_0_480"/>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1" name="Google Shape;681;g2c6577b9d44_0_480"/>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2" name="Google Shape;682;g2c6577b9d44_0_480"/>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3" name="Google Shape;683;g2c6577b9d44_0_480"/>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4" name="Google Shape;684;g2c6577b9d44_0_480"/>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5" name="Google Shape;685;g2c6577b9d44_0_480"/>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6" name="Google Shape;686;g2c6577b9d44_0_480"/>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7" name="Google Shape;687;g2c6577b9d44_0_480"/>
          <p:cNvSpPr/>
          <p:nvPr/>
        </p:nvSpPr>
        <p:spPr>
          <a:xfrm>
            <a:off x="3544679" y="88410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8" name="Google Shape;688;g2c6577b9d44_0_480"/>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89" name="Google Shape;689;g2c6577b9d44_0_480"/>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0" name="Google Shape;690;g2c6577b9d44_0_480"/>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1" name="Google Shape;691;g2c6577b9d44_0_480"/>
          <p:cNvSpPr/>
          <p:nvPr/>
        </p:nvSpPr>
        <p:spPr>
          <a:xfrm>
            <a:off x="3544679"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2" name="Google Shape;692;g2c6577b9d44_0_480"/>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3" name="Google Shape;693;g2c6577b9d44_0_480"/>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4" name="Google Shape;694;g2c6577b9d44_0_480"/>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5" name="Google Shape;695;g2c6577b9d44_0_480"/>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6" name="Google Shape;696;g2c6577b9d44_0_480"/>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7" name="Google Shape;697;g2c6577b9d44_0_480"/>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8" name="Google Shape;698;g2c6577b9d44_0_480"/>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699" name="Google Shape;699;g2c6577b9d44_0_480"/>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0" name="Google Shape;700;g2c6577b9d44_0_480"/>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1" name="Google Shape;701;g2c6577b9d44_0_480"/>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2" name="Google Shape;702;g2c6577b9d44_0_480"/>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3" name="Google Shape;703;g2c6577b9d44_0_480"/>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4" name="Google Shape;704;g2c6577b9d44_0_480"/>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5" name="Google Shape;705;g2c6577b9d44_0_480"/>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6" name="Google Shape;706;g2c6577b9d44_0_480"/>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7" name="Google Shape;707;g2c6577b9d44_0_480"/>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8" name="Google Shape;708;g2c6577b9d44_0_480"/>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09" name="Google Shape;709;g2c6577b9d44_0_480"/>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0" name="Google Shape;710;g2c6577b9d44_0_480"/>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1" name="Google Shape;711;g2c6577b9d44_0_480"/>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2" name="Google Shape;712;g2c6577b9d44_0_480"/>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3" name="Google Shape;713;g2c6577b9d44_0_480"/>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4" name="Google Shape;714;g2c6577b9d44_0_480"/>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5" name="Google Shape;715;g2c6577b9d44_0_480"/>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6" name="Google Shape;716;g2c6577b9d44_0_480"/>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7" name="Google Shape;717;g2c6577b9d44_0_480"/>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8" name="Google Shape;718;g2c6577b9d44_0_480"/>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19" name="Google Shape;719;g2c6577b9d44_0_480"/>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0" name="Google Shape;720;g2c6577b9d44_0_480"/>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1" name="Google Shape;721;g2c6577b9d44_0_480"/>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2" name="Google Shape;722;g2c6577b9d44_0_480"/>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3" name="Google Shape;723;g2c6577b9d44_0_480"/>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4" name="Google Shape;724;g2c6577b9d44_0_480"/>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5" name="Google Shape;725;g2c6577b9d44_0_480"/>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6" name="Google Shape;726;g2c6577b9d44_0_480"/>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7" name="Google Shape;727;g2c6577b9d44_0_480"/>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8" name="Google Shape;728;g2c6577b9d44_0_480"/>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29" name="Google Shape;729;g2c6577b9d44_0_480"/>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0" name="Google Shape;730;g2c6577b9d44_0_480"/>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1" name="Google Shape;731;g2c6577b9d44_0_480"/>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2" name="Google Shape;732;g2c6577b9d44_0_480"/>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3" name="Google Shape;733;g2c6577b9d44_0_480"/>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4" name="Google Shape;734;g2c6577b9d44_0_480"/>
          <p:cNvSpPr/>
          <p:nvPr/>
        </p:nvSpPr>
        <p:spPr>
          <a:xfrm>
            <a:off x="6279614"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5" name="Google Shape;735;g2c6577b9d44_0_480"/>
          <p:cNvSpPr/>
          <p:nvPr/>
        </p:nvSpPr>
        <p:spPr>
          <a:xfrm>
            <a:off x="6750586" y="182604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6" name="Google Shape;736;g2c6577b9d44_0_480"/>
          <p:cNvSpPr/>
          <p:nvPr/>
        </p:nvSpPr>
        <p:spPr>
          <a:xfrm>
            <a:off x="7221557"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7" name="Google Shape;737;g2c6577b9d44_0_480"/>
          <p:cNvSpPr/>
          <p:nvPr/>
        </p:nvSpPr>
        <p:spPr>
          <a:xfrm>
            <a:off x="7692529" y="182604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8" name="Google Shape;738;g2c6577b9d44_0_480"/>
          <p:cNvSpPr/>
          <p:nvPr/>
        </p:nvSpPr>
        <p:spPr>
          <a:xfrm>
            <a:off x="6279614"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39" name="Google Shape;739;g2c6577b9d44_0_480"/>
          <p:cNvSpPr/>
          <p:nvPr/>
        </p:nvSpPr>
        <p:spPr>
          <a:xfrm>
            <a:off x="6750586"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0" name="Google Shape;740;g2c6577b9d44_0_480"/>
          <p:cNvSpPr/>
          <p:nvPr/>
        </p:nvSpPr>
        <p:spPr>
          <a:xfrm>
            <a:off x="7221557"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1" name="Google Shape;741;g2c6577b9d44_0_480"/>
          <p:cNvSpPr/>
          <p:nvPr/>
        </p:nvSpPr>
        <p:spPr>
          <a:xfrm>
            <a:off x="7692529" y="2292887"/>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2" name="Google Shape;742;g2c6577b9d44_0_480"/>
          <p:cNvSpPr/>
          <p:nvPr/>
        </p:nvSpPr>
        <p:spPr>
          <a:xfrm>
            <a:off x="6279614"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3" name="Google Shape;743;g2c6577b9d44_0_480"/>
          <p:cNvSpPr/>
          <p:nvPr/>
        </p:nvSpPr>
        <p:spPr>
          <a:xfrm>
            <a:off x="6750586"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4" name="Google Shape;744;g2c6577b9d44_0_480"/>
          <p:cNvSpPr/>
          <p:nvPr/>
        </p:nvSpPr>
        <p:spPr>
          <a:xfrm>
            <a:off x="7221557"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5" name="Google Shape;745;g2c6577b9d44_0_480"/>
          <p:cNvSpPr/>
          <p:nvPr/>
        </p:nvSpPr>
        <p:spPr>
          <a:xfrm>
            <a:off x="7692529" y="276385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6" name="Google Shape;746;g2c6577b9d44_0_480"/>
          <p:cNvSpPr/>
          <p:nvPr/>
        </p:nvSpPr>
        <p:spPr>
          <a:xfrm>
            <a:off x="6279614"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7" name="Google Shape;747;g2c6577b9d44_0_480"/>
          <p:cNvSpPr/>
          <p:nvPr/>
        </p:nvSpPr>
        <p:spPr>
          <a:xfrm>
            <a:off x="6750586"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8" name="Google Shape;748;g2c6577b9d44_0_480"/>
          <p:cNvSpPr/>
          <p:nvPr/>
        </p:nvSpPr>
        <p:spPr>
          <a:xfrm>
            <a:off x="7221557"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49" name="Google Shape;749;g2c6577b9d44_0_480"/>
          <p:cNvSpPr/>
          <p:nvPr/>
        </p:nvSpPr>
        <p:spPr>
          <a:xfrm>
            <a:off x="7692529" y="3230699"/>
            <a:ext cx="471000" cy="471000"/>
          </a:xfrm>
          <a:prstGeom prst="rect">
            <a:avLst/>
          </a:prstGeom>
          <a:solidFill>
            <a:srgbClr val="EAD1DC"/>
          </a:solidFill>
          <a:ln cap="rnd" cmpd="sng" w="15875">
            <a:solidFill>
              <a:srgbClr val="237DA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50" name="Google Shape;750;g2c6577b9d44_0_480"/>
          <p:cNvSpPr/>
          <p:nvPr/>
        </p:nvSpPr>
        <p:spPr>
          <a:xfrm>
            <a:off x="2144894" y="879973"/>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51" name="Google Shape;751;g2c6577b9d44_0_480"/>
          <p:cNvSpPr/>
          <p:nvPr/>
        </p:nvSpPr>
        <p:spPr>
          <a:xfrm>
            <a:off x="6770111" y="1838182"/>
            <a:ext cx="432000" cy="4527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52" name="Google Shape;752;g2c6577b9d44_0_480"/>
          <p:cNvSpPr txBox="1"/>
          <p:nvPr/>
        </p:nvSpPr>
        <p:spPr>
          <a:xfrm>
            <a:off x="5329936" y="3937157"/>
            <a:ext cx="3495600" cy="992700"/>
          </a:xfrm>
          <a:prstGeom prst="rect">
            <a:avLst/>
          </a:prstGeom>
          <a:noFill/>
          <a:ln>
            <a:noFill/>
          </a:ln>
        </p:spPr>
        <p:txBody>
          <a:bodyPr anchorCtr="0" anchor="t" bIns="34275" lIns="68575" spcFirstLastPara="1" rIns="68575" wrap="square" tIns="34275">
            <a:spAutoFit/>
          </a:bodyPr>
          <a:lstStyle/>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Max </a:t>
            </a:r>
            <a:endParaRPr sz="3000">
              <a:solidFill>
                <a:schemeClr val="dk1"/>
              </a:solidFill>
              <a:latin typeface="Corbel"/>
              <a:ea typeface="Corbel"/>
              <a:cs typeface="Corbel"/>
              <a:sym typeface="Corbel"/>
            </a:endParaRPr>
          </a:p>
          <a:p>
            <a:pPr indent="-254000" lvl="0" marL="254000" marR="0" rtl="0" algn="l">
              <a:spcBef>
                <a:spcPts val="0"/>
              </a:spcBef>
              <a:spcAft>
                <a:spcPts val="0"/>
              </a:spcAft>
              <a:buClr>
                <a:schemeClr val="dk1"/>
              </a:buClr>
              <a:buSzPts val="3000"/>
              <a:buFont typeface="Corbel"/>
              <a:buAutoNum type="arabicParenR"/>
            </a:pPr>
            <a:r>
              <a:rPr lang="ru-RU" sz="3000">
                <a:solidFill>
                  <a:schemeClr val="dk1"/>
                </a:solidFill>
                <a:latin typeface="Corbel"/>
                <a:ea typeface="Corbel"/>
                <a:cs typeface="Corbel"/>
                <a:sym typeface="Corbel"/>
              </a:rPr>
              <a:t>Среднее значение</a:t>
            </a:r>
            <a:endParaRPr sz="3000">
              <a:solidFill>
                <a:schemeClr val="dk1"/>
              </a:solidFill>
              <a:latin typeface="Corbel"/>
              <a:ea typeface="Corbel"/>
              <a:cs typeface="Corbel"/>
              <a:sym typeface="Corbel"/>
            </a:endParaRPr>
          </a:p>
        </p:txBody>
      </p:sp>
      <p:sp>
        <p:nvSpPr>
          <p:cNvPr id="753" name="Google Shape;753;g2c6577b9d44_0_480"/>
          <p:cNvSpPr/>
          <p:nvPr/>
        </p:nvSpPr>
        <p:spPr>
          <a:xfrm flipH="1">
            <a:off x="6465572" y="4020313"/>
            <a:ext cx="520500" cy="413100"/>
          </a:xfrm>
          <a:prstGeom prst="chevron">
            <a:avLst>
              <a:gd fmla="val 50000" name="adj"/>
            </a:avLst>
          </a:prstGeom>
          <a:solidFill>
            <a:srgbClr val="92D050"/>
          </a:solidFill>
          <a:ln cap="rnd" cmpd="sng" w="15875">
            <a:solidFill>
              <a:srgbClr val="00B05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orbel"/>
              <a:ea typeface="Corbel"/>
              <a:cs typeface="Corbel"/>
              <a:sym typeface="Corbel"/>
            </a:endParaRPr>
          </a:p>
        </p:txBody>
      </p:sp>
      <p:sp>
        <p:nvSpPr>
          <p:cNvPr id="754" name="Google Shape;754;g2c6577b9d44_0_480"/>
          <p:cNvSpPr/>
          <p:nvPr/>
        </p:nvSpPr>
        <p:spPr>
          <a:xfrm>
            <a:off x="7250845" y="1837407"/>
            <a:ext cx="432000" cy="4527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55" name="Google Shape;755;g2c6577b9d44_0_480"/>
          <p:cNvSpPr/>
          <p:nvPr/>
        </p:nvSpPr>
        <p:spPr>
          <a:xfrm>
            <a:off x="3086837" y="885138"/>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2c6577b9d44_0_570"/>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762" name="Google Shape;762;g2c6577b9d44_0_570"/>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3" name="Google Shape;763;g2c6577b9d44_0_570"/>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4" name="Google Shape;764;g2c6577b9d44_0_570"/>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5" name="Google Shape;765;g2c6577b9d44_0_570"/>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6" name="Google Shape;766;g2c6577b9d44_0_570"/>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7" name="Google Shape;767;g2c6577b9d44_0_570"/>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8" name="Google Shape;768;g2c6577b9d44_0_570"/>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69" name="Google Shape;769;g2c6577b9d44_0_570"/>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0" name="Google Shape;770;g2c6577b9d44_0_570"/>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1" name="Google Shape;771;g2c6577b9d44_0_570"/>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2" name="Google Shape;772;g2c6577b9d44_0_570"/>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3" name="Google Shape;773;g2c6577b9d44_0_570"/>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4" name="Google Shape;774;g2c6577b9d44_0_570"/>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5" name="Google Shape;775;g2c6577b9d44_0_570"/>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6" name="Google Shape;776;g2c6577b9d44_0_570"/>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7" name="Google Shape;777;g2c6577b9d44_0_570"/>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78" name="Google Shape;778;g2c6577b9d44_0_570"/>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orbel"/>
              <a:ea typeface="Corbel"/>
              <a:cs typeface="Corbel"/>
              <a:sym typeface="Corbel"/>
            </a:endParaRPr>
          </a:p>
        </p:txBody>
      </p:sp>
      <p:sp>
        <p:nvSpPr>
          <p:cNvPr id="779" name="Google Shape;779;g2c6577b9d44_0_570"/>
          <p:cNvSpPr/>
          <p:nvPr/>
        </p:nvSpPr>
        <p:spPr>
          <a:xfrm>
            <a:off x="3544679" y="88410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0" name="Google Shape;780;g2c6577b9d44_0_570"/>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1" name="Google Shape;781;g2c6577b9d44_0_570"/>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2" name="Google Shape;782;g2c6577b9d44_0_570"/>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orbel"/>
              <a:ea typeface="Corbel"/>
              <a:cs typeface="Corbel"/>
              <a:sym typeface="Corbel"/>
            </a:endParaRPr>
          </a:p>
        </p:txBody>
      </p:sp>
      <p:sp>
        <p:nvSpPr>
          <p:cNvPr id="783" name="Google Shape;783;g2c6577b9d44_0_570"/>
          <p:cNvSpPr/>
          <p:nvPr/>
        </p:nvSpPr>
        <p:spPr>
          <a:xfrm>
            <a:off x="3544679"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4" name="Google Shape;784;g2c6577b9d44_0_570"/>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5" name="Google Shape;785;g2c6577b9d44_0_570"/>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6" name="Google Shape;786;g2c6577b9d44_0_570"/>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7" name="Google Shape;787;g2c6577b9d44_0_570"/>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8" name="Google Shape;788;g2c6577b9d44_0_570"/>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89" name="Google Shape;789;g2c6577b9d44_0_570"/>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0" name="Google Shape;790;g2c6577b9d44_0_570"/>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1" name="Google Shape;791;g2c6577b9d44_0_570"/>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2" name="Google Shape;792;g2c6577b9d44_0_570"/>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3" name="Google Shape;793;g2c6577b9d44_0_570"/>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4" name="Google Shape;794;g2c6577b9d44_0_570"/>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5" name="Google Shape;795;g2c6577b9d44_0_570"/>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6" name="Google Shape;796;g2c6577b9d44_0_570"/>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7" name="Google Shape;797;g2c6577b9d44_0_570"/>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8" name="Google Shape;798;g2c6577b9d44_0_570"/>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799" name="Google Shape;799;g2c6577b9d44_0_570"/>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0" name="Google Shape;800;g2c6577b9d44_0_570"/>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1" name="Google Shape;801;g2c6577b9d44_0_570"/>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2" name="Google Shape;802;g2c6577b9d44_0_570"/>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3" name="Google Shape;803;g2c6577b9d44_0_570"/>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4" name="Google Shape;804;g2c6577b9d44_0_570"/>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5" name="Google Shape;805;g2c6577b9d44_0_570"/>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6" name="Google Shape;806;g2c6577b9d44_0_570"/>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7" name="Google Shape;807;g2c6577b9d44_0_570"/>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8" name="Google Shape;808;g2c6577b9d44_0_570"/>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09" name="Google Shape;809;g2c6577b9d44_0_570"/>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0" name="Google Shape;810;g2c6577b9d44_0_570"/>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1" name="Google Shape;811;g2c6577b9d44_0_570"/>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2" name="Google Shape;812;g2c6577b9d44_0_570"/>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3" name="Google Shape;813;g2c6577b9d44_0_570"/>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4" name="Google Shape;814;g2c6577b9d44_0_570"/>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5" name="Google Shape;815;g2c6577b9d44_0_570"/>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6" name="Google Shape;816;g2c6577b9d44_0_570"/>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7" name="Google Shape;817;g2c6577b9d44_0_570"/>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8" name="Google Shape;818;g2c6577b9d44_0_570"/>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19" name="Google Shape;819;g2c6577b9d44_0_570"/>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0" name="Google Shape;820;g2c6577b9d44_0_570"/>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1" name="Google Shape;821;g2c6577b9d44_0_570"/>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2" name="Google Shape;822;g2c6577b9d44_0_570"/>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3" name="Google Shape;823;g2c6577b9d44_0_570"/>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4" name="Google Shape;824;g2c6577b9d44_0_570"/>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5" name="Google Shape;825;g2c6577b9d44_0_570"/>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6" name="Google Shape;826;g2c6577b9d44_0_570"/>
          <p:cNvSpPr/>
          <p:nvPr/>
        </p:nvSpPr>
        <p:spPr>
          <a:xfrm>
            <a:off x="6279614"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7" name="Google Shape;827;g2c6577b9d44_0_570"/>
          <p:cNvSpPr/>
          <p:nvPr/>
        </p:nvSpPr>
        <p:spPr>
          <a:xfrm>
            <a:off x="6750586" y="182604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28" name="Google Shape;828;g2c6577b9d44_0_570"/>
          <p:cNvSpPr/>
          <p:nvPr/>
        </p:nvSpPr>
        <p:spPr>
          <a:xfrm>
            <a:off x="7221557"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1400">
              <a:solidFill>
                <a:schemeClr val="dk1"/>
              </a:solidFill>
              <a:latin typeface="Corbel"/>
              <a:ea typeface="Corbel"/>
              <a:cs typeface="Corbel"/>
              <a:sym typeface="Corbel"/>
            </a:endParaRPr>
          </a:p>
        </p:txBody>
      </p:sp>
      <p:sp>
        <p:nvSpPr>
          <p:cNvPr id="829" name="Google Shape;829;g2c6577b9d44_0_570"/>
          <p:cNvSpPr/>
          <p:nvPr/>
        </p:nvSpPr>
        <p:spPr>
          <a:xfrm>
            <a:off x="7692529"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0" name="Google Shape;830;g2c6577b9d44_0_570"/>
          <p:cNvSpPr/>
          <p:nvPr/>
        </p:nvSpPr>
        <p:spPr>
          <a:xfrm>
            <a:off x="6279614" y="229288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1" name="Google Shape;831;g2c6577b9d44_0_570"/>
          <p:cNvSpPr/>
          <p:nvPr/>
        </p:nvSpPr>
        <p:spPr>
          <a:xfrm>
            <a:off x="6750586" y="229288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2" name="Google Shape;832;g2c6577b9d44_0_570"/>
          <p:cNvSpPr/>
          <p:nvPr/>
        </p:nvSpPr>
        <p:spPr>
          <a:xfrm>
            <a:off x="7221557" y="229288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3" name="Google Shape;833;g2c6577b9d44_0_570"/>
          <p:cNvSpPr/>
          <p:nvPr/>
        </p:nvSpPr>
        <p:spPr>
          <a:xfrm>
            <a:off x="7692529" y="229288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4" name="Google Shape;834;g2c6577b9d44_0_570"/>
          <p:cNvSpPr/>
          <p:nvPr/>
        </p:nvSpPr>
        <p:spPr>
          <a:xfrm>
            <a:off x="6279614"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5" name="Google Shape;835;g2c6577b9d44_0_570"/>
          <p:cNvSpPr/>
          <p:nvPr/>
        </p:nvSpPr>
        <p:spPr>
          <a:xfrm>
            <a:off x="675058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6" name="Google Shape;836;g2c6577b9d44_0_570"/>
          <p:cNvSpPr/>
          <p:nvPr/>
        </p:nvSpPr>
        <p:spPr>
          <a:xfrm>
            <a:off x="7221557"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7" name="Google Shape;837;g2c6577b9d44_0_570"/>
          <p:cNvSpPr/>
          <p:nvPr/>
        </p:nvSpPr>
        <p:spPr>
          <a:xfrm>
            <a:off x="769252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8" name="Google Shape;838;g2c6577b9d44_0_570"/>
          <p:cNvSpPr/>
          <p:nvPr/>
        </p:nvSpPr>
        <p:spPr>
          <a:xfrm>
            <a:off x="6279614"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39" name="Google Shape;839;g2c6577b9d44_0_570"/>
          <p:cNvSpPr/>
          <p:nvPr/>
        </p:nvSpPr>
        <p:spPr>
          <a:xfrm>
            <a:off x="675058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40" name="Google Shape;840;g2c6577b9d44_0_570"/>
          <p:cNvSpPr/>
          <p:nvPr/>
        </p:nvSpPr>
        <p:spPr>
          <a:xfrm>
            <a:off x="7221557"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41" name="Google Shape;841;g2c6577b9d44_0_570"/>
          <p:cNvSpPr/>
          <p:nvPr/>
        </p:nvSpPr>
        <p:spPr>
          <a:xfrm>
            <a:off x="7692529"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2c6577b9d44_0_655"/>
          <p:cNvSpPr txBox="1"/>
          <p:nvPr>
            <p:ph type="title"/>
          </p:nvPr>
        </p:nvSpPr>
        <p:spPr>
          <a:xfrm>
            <a:off x="1113232" y="126005"/>
            <a:ext cx="7514100" cy="64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2700"/>
              <a:buFont typeface="Corbel"/>
              <a:buNone/>
            </a:pPr>
            <a:r>
              <a:rPr lang="ru-RU" sz="2940"/>
              <a:t>Слой операции подвыборки (pooling).</a:t>
            </a:r>
            <a:endParaRPr sz="2940"/>
          </a:p>
        </p:txBody>
      </p:sp>
      <p:sp>
        <p:nvSpPr>
          <p:cNvPr id="848" name="Google Shape;848;g2c6577b9d44_0_655"/>
          <p:cNvSpPr/>
          <p:nvPr/>
        </p:nvSpPr>
        <p:spPr>
          <a:xfrm>
            <a:off x="1189822"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49" name="Google Shape;849;g2c6577b9d44_0_655"/>
          <p:cNvSpPr/>
          <p:nvPr/>
        </p:nvSpPr>
        <p:spPr>
          <a:xfrm>
            <a:off x="1660793"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0" name="Google Shape;850;g2c6577b9d44_0_655"/>
          <p:cNvSpPr/>
          <p:nvPr/>
        </p:nvSpPr>
        <p:spPr>
          <a:xfrm>
            <a:off x="2131765" y="879973"/>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1" name="Google Shape;851;g2c6577b9d44_0_655"/>
          <p:cNvSpPr/>
          <p:nvPr/>
        </p:nvSpPr>
        <p:spPr>
          <a:xfrm>
            <a:off x="2602736"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2" name="Google Shape;852;g2c6577b9d44_0_655"/>
          <p:cNvSpPr/>
          <p:nvPr/>
        </p:nvSpPr>
        <p:spPr>
          <a:xfrm>
            <a:off x="11898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3" name="Google Shape;853;g2c6577b9d44_0_655"/>
          <p:cNvSpPr/>
          <p:nvPr/>
        </p:nvSpPr>
        <p:spPr>
          <a:xfrm>
            <a:off x="1660793" y="135094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4" name="Google Shape;854;g2c6577b9d44_0_655"/>
          <p:cNvSpPr/>
          <p:nvPr/>
        </p:nvSpPr>
        <p:spPr>
          <a:xfrm>
            <a:off x="2131765"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5" name="Google Shape;855;g2c6577b9d44_0_655"/>
          <p:cNvSpPr/>
          <p:nvPr/>
        </p:nvSpPr>
        <p:spPr>
          <a:xfrm>
            <a:off x="2602736"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6" name="Google Shape;856;g2c6577b9d44_0_655"/>
          <p:cNvSpPr/>
          <p:nvPr/>
        </p:nvSpPr>
        <p:spPr>
          <a:xfrm>
            <a:off x="1189822"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7" name="Google Shape;857;g2c6577b9d44_0_655"/>
          <p:cNvSpPr/>
          <p:nvPr/>
        </p:nvSpPr>
        <p:spPr>
          <a:xfrm>
            <a:off x="1660793"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8" name="Google Shape;858;g2c6577b9d44_0_655"/>
          <p:cNvSpPr/>
          <p:nvPr/>
        </p:nvSpPr>
        <p:spPr>
          <a:xfrm>
            <a:off x="2131765"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59" name="Google Shape;859;g2c6577b9d44_0_655"/>
          <p:cNvSpPr/>
          <p:nvPr/>
        </p:nvSpPr>
        <p:spPr>
          <a:xfrm>
            <a:off x="2602736"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0" name="Google Shape;860;g2c6577b9d44_0_655"/>
          <p:cNvSpPr/>
          <p:nvPr/>
        </p:nvSpPr>
        <p:spPr>
          <a:xfrm>
            <a:off x="11898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1" name="Google Shape;861;g2c6577b9d44_0_655"/>
          <p:cNvSpPr/>
          <p:nvPr/>
        </p:nvSpPr>
        <p:spPr>
          <a:xfrm>
            <a:off x="1660793" y="228875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2" name="Google Shape;862;g2c6577b9d44_0_655"/>
          <p:cNvSpPr/>
          <p:nvPr/>
        </p:nvSpPr>
        <p:spPr>
          <a:xfrm>
            <a:off x="2131765"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3" name="Google Shape;863;g2c6577b9d44_0_655"/>
          <p:cNvSpPr/>
          <p:nvPr/>
        </p:nvSpPr>
        <p:spPr>
          <a:xfrm>
            <a:off x="2602736"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4" name="Google Shape;864;g2c6577b9d44_0_655"/>
          <p:cNvSpPr/>
          <p:nvPr/>
        </p:nvSpPr>
        <p:spPr>
          <a:xfrm>
            <a:off x="3073708" y="88410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ru-RU" sz="1400">
                <a:solidFill>
                  <a:schemeClr val="dk1"/>
                </a:solidFill>
                <a:latin typeface="Corbel"/>
                <a:ea typeface="Corbel"/>
                <a:cs typeface="Corbel"/>
                <a:sym typeface="Corbel"/>
              </a:rPr>
              <a:t>0</a:t>
            </a:r>
            <a:endParaRPr sz="1400">
              <a:solidFill>
                <a:schemeClr val="dk1"/>
              </a:solidFill>
              <a:latin typeface="Corbel"/>
              <a:ea typeface="Corbel"/>
              <a:cs typeface="Corbel"/>
              <a:sym typeface="Corbel"/>
            </a:endParaRPr>
          </a:p>
        </p:txBody>
      </p:sp>
      <p:sp>
        <p:nvSpPr>
          <p:cNvPr id="865" name="Google Shape;865;g2c6577b9d44_0_655"/>
          <p:cNvSpPr/>
          <p:nvPr/>
        </p:nvSpPr>
        <p:spPr>
          <a:xfrm>
            <a:off x="3544679" y="884104"/>
            <a:ext cx="471000" cy="471000"/>
          </a:xfrm>
          <a:prstGeom prst="rect">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ru-RU" sz="1400">
                <a:latin typeface="Corbel"/>
                <a:ea typeface="Corbel"/>
                <a:cs typeface="Corbel"/>
                <a:sym typeface="Corbel"/>
              </a:rPr>
              <a:t> </a:t>
            </a:r>
            <a:endParaRPr sz="1100"/>
          </a:p>
        </p:txBody>
      </p:sp>
      <p:sp>
        <p:nvSpPr>
          <p:cNvPr id="866" name="Google Shape;866;g2c6577b9d44_0_655"/>
          <p:cNvSpPr/>
          <p:nvPr/>
        </p:nvSpPr>
        <p:spPr>
          <a:xfrm>
            <a:off x="4015651" y="879973"/>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7" name="Google Shape;867;g2c6577b9d44_0_655"/>
          <p:cNvSpPr/>
          <p:nvPr/>
        </p:nvSpPr>
        <p:spPr>
          <a:xfrm>
            <a:off x="4486622" y="884104"/>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68" name="Google Shape;868;g2c6577b9d44_0_655"/>
          <p:cNvSpPr/>
          <p:nvPr/>
        </p:nvSpPr>
        <p:spPr>
          <a:xfrm>
            <a:off x="3073708" y="1350944"/>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ru-RU" sz="1400">
                <a:solidFill>
                  <a:schemeClr val="dk1"/>
                </a:solidFill>
                <a:latin typeface="Corbel"/>
                <a:ea typeface="Corbel"/>
                <a:cs typeface="Corbel"/>
                <a:sym typeface="Corbel"/>
              </a:rPr>
              <a:t>0</a:t>
            </a:r>
            <a:endParaRPr sz="1400">
              <a:solidFill>
                <a:schemeClr val="dk1"/>
              </a:solidFill>
              <a:latin typeface="Corbel"/>
              <a:ea typeface="Corbel"/>
              <a:cs typeface="Corbel"/>
              <a:sym typeface="Corbel"/>
            </a:endParaRPr>
          </a:p>
        </p:txBody>
      </p:sp>
      <p:sp>
        <p:nvSpPr>
          <p:cNvPr id="869" name="Google Shape;869;g2c6577b9d44_0_655"/>
          <p:cNvSpPr/>
          <p:nvPr/>
        </p:nvSpPr>
        <p:spPr>
          <a:xfrm>
            <a:off x="3544679" y="1350944"/>
            <a:ext cx="471000" cy="471000"/>
          </a:xfrm>
          <a:prstGeom prst="rect">
            <a:avLst/>
          </a:prstGeom>
          <a:blipFill rotWithShape="1">
            <a:blip r:embed="rId4">
              <a:alphaModFix/>
            </a:blip>
            <a:stretch>
              <a:fillRect b="0" l="0" r="0" t="0"/>
            </a:stretch>
          </a:blip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ru-RU" sz="1400">
                <a:latin typeface="Corbel"/>
                <a:ea typeface="Corbel"/>
                <a:cs typeface="Corbel"/>
                <a:sym typeface="Corbel"/>
              </a:rPr>
              <a:t> </a:t>
            </a:r>
            <a:endParaRPr sz="1100"/>
          </a:p>
        </p:txBody>
      </p:sp>
      <p:sp>
        <p:nvSpPr>
          <p:cNvPr id="870" name="Google Shape;870;g2c6577b9d44_0_655"/>
          <p:cNvSpPr/>
          <p:nvPr/>
        </p:nvSpPr>
        <p:spPr>
          <a:xfrm>
            <a:off x="4015651"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1" name="Google Shape;871;g2c6577b9d44_0_655"/>
          <p:cNvSpPr/>
          <p:nvPr/>
        </p:nvSpPr>
        <p:spPr>
          <a:xfrm>
            <a:off x="4486622" y="1350944"/>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2" name="Google Shape;872;g2c6577b9d44_0_655"/>
          <p:cNvSpPr/>
          <p:nvPr/>
        </p:nvSpPr>
        <p:spPr>
          <a:xfrm>
            <a:off x="3073708"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3" name="Google Shape;873;g2c6577b9d44_0_655"/>
          <p:cNvSpPr/>
          <p:nvPr/>
        </p:nvSpPr>
        <p:spPr>
          <a:xfrm>
            <a:off x="3544679" y="182191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4" name="Google Shape;874;g2c6577b9d44_0_655"/>
          <p:cNvSpPr/>
          <p:nvPr/>
        </p:nvSpPr>
        <p:spPr>
          <a:xfrm>
            <a:off x="4015651" y="182191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5" name="Google Shape;875;g2c6577b9d44_0_655"/>
          <p:cNvSpPr/>
          <p:nvPr/>
        </p:nvSpPr>
        <p:spPr>
          <a:xfrm>
            <a:off x="4486622" y="1821916"/>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6" name="Google Shape;876;g2c6577b9d44_0_655"/>
          <p:cNvSpPr/>
          <p:nvPr/>
        </p:nvSpPr>
        <p:spPr>
          <a:xfrm>
            <a:off x="3073708"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7" name="Google Shape;877;g2c6577b9d44_0_655"/>
          <p:cNvSpPr/>
          <p:nvPr/>
        </p:nvSpPr>
        <p:spPr>
          <a:xfrm>
            <a:off x="3544679" y="2288756"/>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8" name="Google Shape;878;g2c6577b9d44_0_655"/>
          <p:cNvSpPr/>
          <p:nvPr/>
        </p:nvSpPr>
        <p:spPr>
          <a:xfrm>
            <a:off x="4015651"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79" name="Google Shape;879;g2c6577b9d44_0_655"/>
          <p:cNvSpPr/>
          <p:nvPr/>
        </p:nvSpPr>
        <p:spPr>
          <a:xfrm>
            <a:off x="4486622" y="2288756"/>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0" name="Google Shape;880;g2c6577b9d44_0_655"/>
          <p:cNvSpPr/>
          <p:nvPr/>
        </p:nvSpPr>
        <p:spPr>
          <a:xfrm>
            <a:off x="1189822"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1" name="Google Shape;881;g2c6577b9d44_0_655"/>
          <p:cNvSpPr/>
          <p:nvPr/>
        </p:nvSpPr>
        <p:spPr>
          <a:xfrm>
            <a:off x="1660793"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2" name="Google Shape;882;g2c6577b9d44_0_655"/>
          <p:cNvSpPr/>
          <p:nvPr/>
        </p:nvSpPr>
        <p:spPr>
          <a:xfrm>
            <a:off x="2131765" y="2759728"/>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3" name="Google Shape;883;g2c6577b9d44_0_655"/>
          <p:cNvSpPr/>
          <p:nvPr/>
        </p:nvSpPr>
        <p:spPr>
          <a:xfrm>
            <a:off x="260273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4" name="Google Shape;884;g2c6577b9d44_0_655"/>
          <p:cNvSpPr/>
          <p:nvPr/>
        </p:nvSpPr>
        <p:spPr>
          <a:xfrm>
            <a:off x="1189822"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5" name="Google Shape;885;g2c6577b9d44_0_655"/>
          <p:cNvSpPr/>
          <p:nvPr/>
        </p:nvSpPr>
        <p:spPr>
          <a:xfrm>
            <a:off x="1660793"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6" name="Google Shape;886;g2c6577b9d44_0_655"/>
          <p:cNvSpPr/>
          <p:nvPr/>
        </p:nvSpPr>
        <p:spPr>
          <a:xfrm>
            <a:off x="2131765"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7" name="Google Shape;887;g2c6577b9d44_0_655"/>
          <p:cNvSpPr/>
          <p:nvPr/>
        </p:nvSpPr>
        <p:spPr>
          <a:xfrm>
            <a:off x="260273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8" name="Google Shape;888;g2c6577b9d44_0_655"/>
          <p:cNvSpPr/>
          <p:nvPr/>
        </p:nvSpPr>
        <p:spPr>
          <a:xfrm>
            <a:off x="1189822"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89" name="Google Shape;889;g2c6577b9d44_0_655"/>
          <p:cNvSpPr/>
          <p:nvPr/>
        </p:nvSpPr>
        <p:spPr>
          <a:xfrm>
            <a:off x="1660793" y="3701671"/>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0" name="Google Shape;890;g2c6577b9d44_0_655"/>
          <p:cNvSpPr/>
          <p:nvPr/>
        </p:nvSpPr>
        <p:spPr>
          <a:xfrm>
            <a:off x="2131765"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1" name="Google Shape;891;g2c6577b9d44_0_655"/>
          <p:cNvSpPr/>
          <p:nvPr/>
        </p:nvSpPr>
        <p:spPr>
          <a:xfrm>
            <a:off x="2602736"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2" name="Google Shape;892;g2c6577b9d44_0_655"/>
          <p:cNvSpPr/>
          <p:nvPr/>
        </p:nvSpPr>
        <p:spPr>
          <a:xfrm>
            <a:off x="11898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3" name="Google Shape;893;g2c6577b9d44_0_655"/>
          <p:cNvSpPr/>
          <p:nvPr/>
        </p:nvSpPr>
        <p:spPr>
          <a:xfrm>
            <a:off x="1660793"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4" name="Google Shape;894;g2c6577b9d44_0_655"/>
          <p:cNvSpPr/>
          <p:nvPr/>
        </p:nvSpPr>
        <p:spPr>
          <a:xfrm>
            <a:off x="2131765"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5" name="Google Shape;895;g2c6577b9d44_0_655"/>
          <p:cNvSpPr/>
          <p:nvPr/>
        </p:nvSpPr>
        <p:spPr>
          <a:xfrm>
            <a:off x="2602736"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6" name="Google Shape;896;g2c6577b9d44_0_655"/>
          <p:cNvSpPr/>
          <p:nvPr/>
        </p:nvSpPr>
        <p:spPr>
          <a:xfrm>
            <a:off x="3073708"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7" name="Google Shape;897;g2c6577b9d44_0_655"/>
          <p:cNvSpPr/>
          <p:nvPr/>
        </p:nvSpPr>
        <p:spPr>
          <a:xfrm>
            <a:off x="354467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8" name="Google Shape;898;g2c6577b9d44_0_655"/>
          <p:cNvSpPr/>
          <p:nvPr/>
        </p:nvSpPr>
        <p:spPr>
          <a:xfrm>
            <a:off x="4015651" y="2759728"/>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899" name="Google Shape;899;g2c6577b9d44_0_655"/>
          <p:cNvSpPr/>
          <p:nvPr/>
        </p:nvSpPr>
        <p:spPr>
          <a:xfrm>
            <a:off x="4486622"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0" name="Google Shape;900;g2c6577b9d44_0_655"/>
          <p:cNvSpPr/>
          <p:nvPr/>
        </p:nvSpPr>
        <p:spPr>
          <a:xfrm>
            <a:off x="3073708"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1" name="Google Shape;901;g2c6577b9d44_0_655"/>
          <p:cNvSpPr/>
          <p:nvPr/>
        </p:nvSpPr>
        <p:spPr>
          <a:xfrm>
            <a:off x="3544679"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2" name="Google Shape;902;g2c6577b9d44_0_655"/>
          <p:cNvSpPr/>
          <p:nvPr/>
        </p:nvSpPr>
        <p:spPr>
          <a:xfrm>
            <a:off x="4015651"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3" name="Google Shape;903;g2c6577b9d44_0_655"/>
          <p:cNvSpPr/>
          <p:nvPr/>
        </p:nvSpPr>
        <p:spPr>
          <a:xfrm>
            <a:off x="4486622"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4" name="Google Shape;904;g2c6577b9d44_0_655"/>
          <p:cNvSpPr/>
          <p:nvPr/>
        </p:nvSpPr>
        <p:spPr>
          <a:xfrm>
            <a:off x="3073708" y="3701671"/>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5" name="Google Shape;905;g2c6577b9d44_0_655"/>
          <p:cNvSpPr/>
          <p:nvPr/>
        </p:nvSpPr>
        <p:spPr>
          <a:xfrm>
            <a:off x="3544679"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6" name="Google Shape;906;g2c6577b9d44_0_655"/>
          <p:cNvSpPr/>
          <p:nvPr/>
        </p:nvSpPr>
        <p:spPr>
          <a:xfrm>
            <a:off x="4015651"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7" name="Google Shape;907;g2c6577b9d44_0_655"/>
          <p:cNvSpPr/>
          <p:nvPr/>
        </p:nvSpPr>
        <p:spPr>
          <a:xfrm>
            <a:off x="4486622" y="370167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8" name="Google Shape;908;g2c6577b9d44_0_655"/>
          <p:cNvSpPr/>
          <p:nvPr/>
        </p:nvSpPr>
        <p:spPr>
          <a:xfrm>
            <a:off x="3073708"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09" name="Google Shape;909;g2c6577b9d44_0_655"/>
          <p:cNvSpPr/>
          <p:nvPr/>
        </p:nvSpPr>
        <p:spPr>
          <a:xfrm>
            <a:off x="3544679"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0" name="Google Shape;910;g2c6577b9d44_0_655"/>
          <p:cNvSpPr/>
          <p:nvPr/>
        </p:nvSpPr>
        <p:spPr>
          <a:xfrm>
            <a:off x="4015651"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1" name="Google Shape;911;g2c6577b9d44_0_655"/>
          <p:cNvSpPr/>
          <p:nvPr/>
        </p:nvSpPr>
        <p:spPr>
          <a:xfrm>
            <a:off x="4486622" y="4168511"/>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2" name="Google Shape;912;g2c6577b9d44_0_655"/>
          <p:cNvSpPr/>
          <p:nvPr/>
        </p:nvSpPr>
        <p:spPr>
          <a:xfrm>
            <a:off x="6279614"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3" name="Google Shape;913;g2c6577b9d44_0_655"/>
          <p:cNvSpPr/>
          <p:nvPr/>
        </p:nvSpPr>
        <p:spPr>
          <a:xfrm>
            <a:off x="6750586" y="182604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4" name="Google Shape;914;g2c6577b9d44_0_655"/>
          <p:cNvSpPr/>
          <p:nvPr/>
        </p:nvSpPr>
        <p:spPr>
          <a:xfrm>
            <a:off x="7221557" y="1821916"/>
            <a:ext cx="471000" cy="471000"/>
          </a:xfrm>
          <a:prstGeom prst="rect">
            <a:avLst/>
          </a:prstGeom>
          <a:blipFill rotWithShape="1">
            <a:blip r:embed="rId5">
              <a:alphaModFix/>
            </a:blip>
            <a:stretch>
              <a:fillRect b="0" l="0" r="0" t="0"/>
            </a:stretch>
          </a:blip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ru-RU" sz="1400">
                <a:latin typeface="Corbel"/>
                <a:ea typeface="Corbel"/>
                <a:cs typeface="Corbel"/>
                <a:sym typeface="Corbel"/>
              </a:rPr>
              <a:t> </a:t>
            </a:r>
            <a:endParaRPr sz="1100"/>
          </a:p>
        </p:txBody>
      </p:sp>
      <p:sp>
        <p:nvSpPr>
          <p:cNvPr id="915" name="Google Shape;915;g2c6577b9d44_0_655"/>
          <p:cNvSpPr/>
          <p:nvPr/>
        </p:nvSpPr>
        <p:spPr>
          <a:xfrm>
            <a:off x="7692529" y="182604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6" name="Google Shape;916;g2c6577b9d44_0_655"/>
          <p:cNvSpPr/>
          <p:nvPr/>
        </p:nvSpPr>
        <p:spPr>
          <a:xfrm>
            <a:off x="6279614" y="229288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7" name="Google Shape;917;g2c6577b9d44_0_655"/>
          <p:cNvSpPr/>
          <p:nvPr/>
        </p:nvSpPr>
        <p:spPr>
          <a:xfrm>
            <a:off x="6750586" y="229288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8" name="Google Shape;918;g2c6577b9d44_0_655"/>
          <p:cNvSpPr/>
          <p:nvPr/>
        </p:nvSpPr>
        <p:spPr>
          <a:xfrm>
            <a:off x="7221557" y="2292887"/>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19" name="Google Shape;919;g2c6577b9d44_0_655"/>
          <p:cNvSpPr/>
          <p:nvPr/>
        </p:nvSpPr>
        <p:spPr>
          <a:xfrm>
            <a:off x="7692529" y="2292887"/>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0" name="Google Shape;920;g2c6577b9d44_0_655"/>
          <p:cNvSpPr/>
          <p:nvPr/>
        </p:nvSpPr>
        <p:spPr>
          <a:xfrm>
            <a:off x="6279614"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1" name="Google Shape;921;g2c6577b9d44_0_655"/>
          <p:cNvSpPr/>
          <p:nvPr/>
        </p:nvSpPr>
        <p:spPr>
          <a:xfrm>
            <a:off x="6750586" y="276385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2" name="Google Shape;922;g2c6577b9d44_0_655"/>
          <p:cNvSpPr/>
          <p:nvPr/>
        </p:nvSpPr>
        <p:spPr>
          <a:xfrm>
            <a:off x="7221557"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3" name="Google Shape;923;g2c6577b9d44_0_655"/>
          <p:cNvSpPr/>
          <p:nvPr/>
        </p:nvSpPr>
        <p:spPr>
          <a:xfrm>
            <a:off x="7692529" y="276385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4" name="Google Shape;924;g2c6577b9d44_0_655"/>
          <p:cNvSpPr/>
          <p:nvPr/>
        </p:nvSpPr>
        <p:spPr>
          <a:xfrm>
            <a:off x="6279614" y="3230699"/>
            <a:ext cx="471000" cy="471000"/>
          </a:xfrm>
          <a:prstGeom prst="rect">
            <a:avLst/>
          </a:prstGeom>
          <a:solidFill>
            <a:schemeClr val="dk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5" name="Google Shape;925;g2c6577b9d44_0_655"/>
          <p:cNvSpPr/>
          <p:nvPr/>
        </p:nvSpPr>
        <p:spPr>
          <a:xfrm>
            <a:off x="6750586"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6" name="Google Shape;926;g2c6577b9d44_0_655"/>
          <p:cNvSpPr/>
          <p:nvPr/>
        </p:nvSpPr>
        <p:spPr>
          <a:xfrm>
            <a:off x="7221557" y="3230699"/>
            <a:ext cx="471000" cy="471000"/>
          </a:xfrm>
          <a:prstGeom prst="rect">
            <a:avLst/>
          </a:prstGeom>
          <a:solidFill>
            <a:schemeClr val="lt2"/>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7" name="Google Shape;927;g2c6577b9d44_0_655"/>
          <p:cNvSpPr/>
          <p:nvPr/>
        </p:nvSpPr>
        <p:spPr>
          <a:xfrm>
            <a:off x="7692529" y="3230699"/>
            <a:ext cx="471000" cy="471000"/>
          </a:xfrm>
          <a:prstGeom prst="rect">
            <a:avLst/>
          </a:prstGeom>
          <a:solidFill>
            <a:schemeClr val="lt1"/>
          </a:solidFill>
          <a:ln cap="rnd"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28" name="Google Shape;928;g2c6577b9d44_0_655"/>
          <p:cNvSpPr txBox="1"/>
          <p:nvPr/>
        </p:nvSpPr>
        <p:spPr>
          <a:xfrm>
            <a:off x="4090879" y="3918291"/>
            <a:ext cx="5031300" cy="1038900"/>
          </a:xfrm>
          <a:prstGeom prst="rect">
            <a:avLst/>
          </a:prstGeom>
          <a:solidFill>
            <a:srgbClr val="92D05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ru-RU" sz="2100">
                <a:solidFill>
                  <a:schemeClr val="dk1"/>
                </a:solidFill>
                <a:latin typeface="Corbel"/>
                <a:ea typeface="Corbel"/>
                <a:cs typeface="Corbel"/>
                <a:sym typeface="Corbel"/>
              </a:rPr>
              <a:t>Два параметра:</a:t>
            </a:r>
            <a:endParaRPr sz="1100"/>
          </a:p>
          <a:p>
            <a:pPr indent="-552450" lvl="0" marL="558800" marR="0" rtl="0" algn="l">
              <a:spcBef>
                <a:spcPts val="0"/>
              </a:spcBef>
              <a:spcAft>
                <a:spcPts val="0"/>
              </a:spcAft>
              <a:buClr>
                <a:schemeClr val="dk1"/>
              </a:buClr>
              <a:buSzPts val="2100"/>
              <a:buFont typeface="Corbel"/>
              <a:buAutoNum type="arabicParenR"/>
            </a:pPr>
            <a:r>
              <a:rPr lang="ru-RU" sz="2100">
                <a:solidFill>
                  <a:schemeClr val="dk1"/>
                </a:solidFill>
                <a:latin typeface="Corbel"/>
                <a:ea typeface="Corbel"/>
                <a:cs typeface="Corbel"/>
                <a:sym typeface="Corbel"/>
              </a:rPr>
              <a:t>Простравнственная протяженность e</a:t>
            </a:r>
            <a:endParaRPr sz="2100">
              <a:solidFill>
                <a:schemeClr val="dk1"/>
              </a:solidFill>
              <a:latin typeface="Corbel"/>
              <a:ea typeface="Corbel"/>
              <a:cs typeface="Corbel"/>
              <a:sym typeface="Corbel"/>
            </a:endParaRPr>
          </a:p>
          <a:p>
            <a:pPr indent="-552450" lvl="0" marL="558800" marR="0" rtl="0" algn="l">
              <a:spcBef>
                <a:spcPts val="0"/>
              </a:spcBef>
              <a:spcAft>
                <a:spcPts val="0"/>
              </a:spcAft>
              <a:buClr>
                <a:schemeClr val="dk1"/>
              </a:buClr>
              <a:buSzPts val="2100"/>
              <a:buFont typeface="Corbel"/>
              <a:buAutoNum type="arabicParenR"/>
            </a:pPr>
            <a:r>
              <a:rPr lang="ru-RU" sz="2100">
                <a:solidFill>
                  <a:schemeClr val="dk1"/>
                </a:solidFill>
                <a:latin typeface="Corbel"/>
                <a:ea typeface="Corbel"/>
                <a:cs typeface="Corbel"/>
                <a:sym typeface="Corbel"/>
              </a:rPr>
              <a:t>Сдвиг s</a:t>
            </a:r>
            <a:endParaRPr sz="2100">
              <a:solidFill>
                <a:schemeClr val="dk1"/>
              </a:solidFill>
              <a:latin typeface="Corbel"/>
              <a:ea typeface="Corbel"/>
              <a:cs typeface="Corbel"/>
              <a:sym typeface="Corbel"/>
            </a:endParaRPr>
          </a:p>
        </p:txBody>
      </p:sp>
      <p:sp>
        <p:nvSpPr>
          <p:cNvPr id="929" name="Google Shape;929;g2c6577b9d44_0_655"/>
          <p:cNvSpPr/>
          <p:nvPr/>
        </p:nvSpPr>
        <p:spPr>
          <a:xfrm>
            <a:off x="2144894" y="879973"/>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30" name="Google Shape;930;g2c6577b9d44_0_655"/>
          <p:cNvSpPr/>
          <p:nvPr/>
        </p:nvSpPr>
        <p:spPr>
          <a:xfrm>
            <a:off x="3086837" y="885138"/>
            <a:ext cx="954600" cy="9573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31" name="Google Shape;931;g2c6577b9d44_0_655"/>
          <p:cNvSpPr txBox="1"/>
          <p:nvPr/>
        </p:nvSpPr>
        <p:spPr>
          <a:xfrm>
            <a:off x="1459775" y="733657"/>
            <a:ext cx="655500" cy="715800"/>
          </a:xfrm>
          <a:prstGeom prst="rect">
            <a:avLst/>
          </a:prstGeom>
          <a:solidFill>
            <a:srgbClr val="92D05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ru-RU" sz="2100">
                <a:solidFill>
                  <a:schemeClr val="dk1"/>
                </a:solidFill>
                <a:latin typeface="Corbel"/>
                <a:ea typeface="Corbel"/>
                <a:cs typeface="Corbel"/>
                <a:sym typeface="Corbel"/>
              </a:rPr>
              <a:t>e = 2</a:t>
            </a:r>
            <a:br>
              <a:rPr lang="ru-RU" sz="2100">
                <a:solidFill>
                  <a:schemeClr val="dk1"/>
                </a:solidFill>
                <a:latin typeface="Corbel"/>
                <a:ea typeface="Corbel"/>
                <a:cs typeface="Corbel"/>
                <a:sym typeface="Corbel"/>
              </a:rPr>
            </a:br>
            <a:r>
              <a:rPr lang="ru-RU" sz="2100">
                <a:solidFill>
                  <a:schemeClr val="dk1"/>
                </a:solidFill>
                <a:latin typeface="Corbel"/>
                <a:ea typeface="Corbel"/>
                <a:cs typeface="Corbel"/>
                <a:sym typeface="Corbel"/>
              </a:rPr>
              <a:t>s = 2</a:t>
            </a:r>
            <a:endParaRPr sz="2100">
              <a:solidFill>
                <a:schemeClr val="dk1"/>
              </a:solidFill>
              <a:latin typeface="Corbel"/>
              <a:ea typeface="Corbel"/>
              <a:cs typeface="Corbel"/>
              <a:sym typeface="Corbel"/>
            </a:endParaRPr>
          </a:p>
        </p:txBody>
      </p:sp>
      <p:sp>
        <p:nvSpPr>
          <p:cNvPr id="932" name="Google Shape;932;g2c6577b9d44_0_655"/>
          <p:cNvSpPr/>
          <p:nvPr/>
        </p:nvSpPr>
        <p:spPr>
          <a:xfrm>
            <a:off x="1190161" y="3234831"/>
            <a:ext cx="1412700" cy="1393800"/>
          </a:xfrm>
          <a:prstGeom prst="rect">
            <a:avLst/>
          </a:prstGeom>
          <a:noFill/>
          <a:ln cap="flat" cmpd="sng" w="7620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33" name="Google Shape;933;g2c6577b9d44_0_655"/>
          <p:cNvSpPr/>
          <p:nvPr/>
        </p:nvSpPr>
        <p:spPr>
          <a:xfrm>
            <a:off x="2131425" y="3240183"/>
            <a:ext cx="1412700" cy="1393800"/>
          </a:xfrm>
          <a:prstGeom prst="rect">
            <a:avLst/>
          </a:prstGeom>
          <a:noFill/>
          <a:ln cap="flat" cmpd="sng" w="76200">
            <a:solidFill>
              <a:srgbClr val="FFC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orbel"/>
              <a:ea typeface="Corbel"/>
              <a:cs typeface="Corbel"/>
              <a:sym typeface="Corbel"/>
            </a:endParaRPr>
          </a:p>
        </p:txBody>
      </p:sp>
      <p:sp>
        <p:nvSpPr>
          <p:cNvPr id="934" name="Google Shape;934;g2c6577b9d44_0_655"/>
          <p:cNvSpPr txBox="1"/>
          <p:nvPr/>
        </p:nvSpPr>
        <p:spPr>
          <a:xfrm>
            <a:off x="1166678" y="2495294"/>
            <a:ext cx="655500" cy="715800"/>
          </a:xfrm>
          <a:prstGeom prst="rect">
            <a:avLst/>
          </a:prstGeom>
          <a:solidFill>
            <a:srgbClr val="92D05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ru-RU" sz="2100">
                <a:solidFill>
                  <a:schemeClr val="dk1"/>
                </a:solidFill>
                <a:latin typeface="Corbel"/>
                <a:ea typeface="Corbel"/>
                <a:cs typeface="Corbel"/>
                <a:sym typeface="Corbel"/>
              </a:rPr>
              <a:t>e = 3</a:t>
            </a:r>
            <a:br>
              <a:rPr lang="ru-RU" sz="2100">
                <a:solidFill>
                  <a:schemeClr val="dk1"/>
                </a:solidFill>
                <a:latin typeface="Corbel"/>
                <a:ea typeface="Corbel"/>
                <a:cs typeface="Corbel"/>
                <a:sym typeface="Corbel"/>
              </a:rPr>
            </a:br>
            <a:r>
              <a:rPr lang="ru-RU" sz="2100">
                <a:solidFill>
                  <a:schemeClr val="dk1"/>
                </a:solidFill>
                <a:latin typeface="Corbel"/>
                <a:ea typeface="Corbel"/>
                <a:cs typeface="Corbel"/>
                <a:sym typeface="Corbel"/>
              </a:rPr>
              <a:t>s = 2</a:t>
            </a:r>
            <a:endParaRPr sz="2100">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g2c6577b9d44_0_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940" name="Google Shape;940;g2c6577b9d44_0_1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200"/>
              <a:buNone/>
            </a:pPr>
            <a:r>
              <a:rPr b="0" lang="ru-RU" sz="2200">
                <a:latin typeface="Golos Text"/>
                <a:ea typeface="Golos Text"/>
                <a:cs typeface="Golos Text"/>
                <a:sym typeface="Golos Text"/>
              </a:rPr>
              <a:t>CNN (классическая архитектура)</a:t>
            </a:r>
            <a:endParaRPr/>
          </a:p>
        </p:txBody>
      </p:sp>
      <p:pic>
        <p:nvPicPr>
          <p:cNvPr id="941" name="Google Shape;941;g2c6577b9d44_0_10"/>
          <p:cNvPicPr preferRelativeResize="0"/>
          <p:nvPr/>
        </p:nvPicPr>
        <p:blipFill>
          <a:blip r:embed="rId3">
            <a:alphaModFix/>
          </a:blip>
          <a:stretch>
            <a:fillRect/>
          </a:stretch>
        </p:blipFill>
        <p:spPr>
          <a:xfrm>
            <a:off x="652725" y="969935"/>
            <a:ext cx="7481819" cy="40048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2c6577b9d44_0_211"/>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CNN</a:t>
            </a:r>
            <a:endParaRPr/>
          </a:p>
        </p:txBody>
      </p:sp>
      <p:sp>
        <p:nvSpPr>
          <p:cNvPr id="947" name="Google Shape;947;g2c6577b9d44_0_2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948" name="Google Shape;948;g2c6577b9d44_0_211"/>
          <p:cNvPicPr preferRelativeResize="0"/>
          <p:nvPr/>
        </p:nvPicPr>
        <p:blipFill rotWithShape="1">
          <a:blip r:embed="rId3">
            <a:alphaModFix/>
          </a:blip>
          <a:srcRect b="0" l="0" r="0" t="0"/>
          <a:stretch/>
        </p:blipFill>
        <p:spPr>
          <a:xfrm>
            <a:off x="457201" y="1518880"/>
            <a:ext cx="7815600" cy="2077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g2c6577b9d44_0_939"/>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CNN - ResNet как борьба с переобучением</a:t>
            </a:r>
            <a:endParaRPr/>
          </a:p>
        </p:txBody>
      </p:sp>
      <p:sp>
        <p:nvSpPr>
          <p:cNvPr id="954" name="Google Shape;954;g2c6577b9d44_0_9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955" name="Google Shape;955;g2c6577b9d44_0_939"/>
          <p:cNvPicPr preferRelativeResize="0"/>
          <p:nvPr/>
        </p:nvPicPr>
        <p:blipFill>
          <a:blip r:embed="rId3">
            <a:alphaModFix/>
          </a:blip>
          <a:stretch>
            <a:fillRect/>
          </a:stretch>
        </p:blipFill>
        <p:spPr>
          <a:xfrm>
            <a:off x="4942825" y="1485899"/>
            <a:ext cx="4073175" cy="2288926"/>
          </a:xfrm>
          <a:prstGeom prst="rect">
            <a:avLst/>
          </a:prstGeom>
          <a:noFill/>
          <a:ln>
            <a:noFill/>
          </a:ln>
        </p:spPr>
      </p:pic>
      <p:pic>
        <p:nvPicPr>
          <p:cNvPr id="956" name="Google Shape;956;g2c6577b9d44_0_939"/>
          <p:cNvPicPr preferRelativeResize="0"/>
          <p:nvPr/>
        </p:nvPicPr>
        <p:blipFill>
          <a:blip r:embed="rId4">
            <a:alphaModFix/>
          </a:blip>
          <a:stretch>
            <a:fillRect/>
          </a:stretch>
        </p:blipFill>
        <p:spPr>
          <a:xfrm>
            <a:off x="457200" y="796110"/>
            <a:ext cx="4004865" cy="40048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2c6577b9d44_0_905"/>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RNN</a:t>
            </a:r>
            <a:endParaRPr/>
          </a:p>
        </p:txBody>
      </p:sp>
      <p:sp>
        <p:nvSpPr>
          <p:cNvPr id="962" name="Google Shape;962;g2c6577b9d44_0_9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963" name="Google Shape;963;g2c6577b9d44_0_905"/>
          <p:cNvSpPr txBox="1"/>
          <p:nvPr/>
        </p:nvSpPr>
        <p:spPr>
          <a:xfrm>
            <a:off x="1052325" y="4693175"/>
            <a:ext cx="666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Рекуррентные нейронные сети [</a:t>
            </a:r>
            <a:r>
              <a:rPr b="0" i="0" lang="ru-RU" sz="1400" u="sng" cap="none" strike="noStrike">
                <a:solidFill>
                  <a:schemeClr val="dk1"/>
                </a:solidFill>
                <a:latin typeface="Lato"/>
                <a:ea typeface="Lato"/>
                <a:cs typeface="Lato"/>
                <a:sym typeface="Lato"/>
                <a:hlinkClick r:id="rId3">
                  <a:extLst>
                    <a:ext uri="{A12FA001-AC4F-418D-AE19-62706E023703}">
                      <ahyp:hlinkClr val="tx"/>
                    </a:ext>
                  </a:extLst>
                </a:hlinkClick>
              </a:rPr>
              <a:t>Статья с шикарной визуализацией</a:t>
            </a:r>
            <a:r>
              <a:rPr b="0" i="0" lang="ru-RU" sz="1400" u="none" cap="none" strike="noStrike">
                <a:solidFill>
                  <a:schemeClr val="dk1"/>
                </a:solidFill>
                <a:latin typeface="Lato"/>
                <a:ea typeface="Lato"/>
                <a:cs typeface="Lato"/>
                <a:sym typeface="Lato"/>
              </a:rPr>
              <a:t>]</a:t>
            </a:r>
            <a:endParaRPr b="0" i="0" sz="1400" u="none" cap="none" strike="noStrike">
              <a:solidFill>
                <a:schemeClr val="dk1"/>
              </a:solidFill>
              <a:latin typeface="Lato"/>
              <a:ea typeface="Lato"/>
              <a:cs typeface="Lato"/>
              <a:sym typeface="Lato"/>
            </a:endParaRPr>
          </a:p>
        </p:txBody>
      </p:sp>
      <p:sp>
        <p:nvSpPr>
          <p:cNvPr id="964" name="Google Shape;964;g2c6577b9d44_0_905"/>
          <p:cNvSpPr/>
          <p:nvPr/>
        </p:nvSpPr>
        <p:spPr>
          <a:xfrm>
            <a:off x="181775" y="994475"/>
            <a:ext cx="8839500" cy="3668700"/>
          </a:xfrm>
          <a:prstGeom prst="rect">
            <a:avLst/>
          </a:prstGeom>
          <a:solidFill>
            <a:srgbClr val="82C7A5"/>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5" name="Google Shape;965;g2c6577b9d44_0_905"/>
          <p:cNvPicPr preferRelativeResize="0"/>
          <p:nvPr/>
        </p:nvPicPr>
        <p:blipFill rotWithShape="1">
          <a:blip r:embed="rId4">
            <a:alphaModFix/>
          </a:blip>
          <a:srcRect b="0" l="0" r="0" t="0"/>
          <a:stretch/>
        </p:blipFill>
        <p:spPr>
          <a:xfrm>
            <a:off x="2961750" y="994475"/>
            <a:ext cx="6059526" cy="1588950"/>
          </a:xfrm>
          <a:prstGeom prst="rect">
            <a:avLst/>
          </a:prstGeom>
          <a:noFill/>
          <a:ln>
            <a:noFill/>
          </a:ln>
        </p:spPr>
      </p:pic>
      <p:pic>
        <p:nvPicPr>
          <p:cNvPr id="966" name="Google Shape;966;g2c6577b9d44_0_905"/>
          <p:cNvPicPr preferRelativeResize="0"/>
          <p:nvPr/>
        </p:nvPicPr>
        <p:blipFill rotWithShape="1">
          <a:blip r:embed="rId5">
            <a:alphaModFix/>
          </a:blip>
          <a:srcRect b="0" l="0" r="0" t="0"/>
          <a:stretch/>
        </p:blipFill>
        <p:spPr>
          <a:xfrm>
            <a:off x="181773" y="2693348"/>
            <a:ext cx="5246826" cy="1966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2c6577b9d44_0_91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RNN</a:t>
            </a:r>
            <a:endParaRPr/>
          </a:p>
        </p:txBody>
      </p:sp>
      <p:sp>
        <p:nvSpPr>
          <p:cNvPr id="972" name="Google Shape;972;g2c6577b9d44_0_9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973" name="Google Shape;973;g2c6577b9d44_0_910"/>
          <p:cNvSpPr txBox="1"/>
          <p:nvPr/>
        </p:nvSpPr>
        <p:spPr>
          <a:xfrm>
            <a:off x="6257875" y="874088"/>
            <a:ext cx="22989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2"/>
                </a:solidFill>
                <a:latin typeface="Lato"/>
                <a:ea typeface="Lato"/>
                <a:cs typeface="Lato"/>
                <a:sym typeface="Lato"/>
              </a:rPr>
              <a:t>Рекуррентные нейронные сети - LSTM</a:t>
            </a:r>
            <a:r>
              <a:rPr b="0" i="0" lang="ru-RU" sz="1400" u="none" cap="none" strike="noStrike">
                <a:solidFill>
                  <a:srgbClr val="FFFFFF"/>
                </a:solidFill>
                <a:latin typeface="Lato"/>
                <a:ea typeface="Lato"/>
                <a:cs typeface="Lato"/>
                <a:sym typeface="Lato"/>
              </a:rPr>
              <a:t> [</a:t>
            </a:r>
            <a:r>
              <a:rPr b="0" i="0" lang="ru-RU" sz="1400" u="sng" cap="none" strike="noStrike">
                <a:solidFill>
                  <a:srgbClr val="7890CD"/>
                </a:solidFill>
                <a:latin typeface="Lato"/>
                <a:ea typeface="Lato"/>
                <a:cs typeface="Lato"/>
                <a:sym typeface="Lato"/>
                <a:hlinkClick r:id="rId3">
                  <a:extLst>
                    <a:ext uri="{A12FA001-AC4F-418D-AE19-62706E023703}">
                      <ahyp:hlinkClr val="tx"/>
                    </a:ext>
                  </a:extLst>
                </a:hlinkClick>
              </a:rPr>
              <a:t>Статья на рус.яз. с пошаговым объяснением гейтов</a:t>
            </a:r>
            <a:r>
              <a:rPr b="0" i="0" lang="ru-RU" sz="1400" u="none" cap="none" strike="noStrike">
                <a:solidFill>
                  <a:srgbClr val="FFFFFF"/>
                </a:solidFill>
                <a:latin typeface="Lato"/>
                <a:ea typeface="Lato"/>
                <a:cs typeface="Lato"/>
                <a:sym typeface="Lato"/>
              </a:rPr>
              <a:t>]</a:t>
            </a:r>
            <a:endParaRPr b="0" i="0" sz="1400" u="none" cap="none" strike="noStrike">
              <a:solidFill>
                <a:srgbClr val="FFFFFF"/>
              </a:solidFill>
              <a:latin typeface="Lato"/>
              <a:ea typeface="Lato"/>
              <a:cs typeface="Lato"/>
              <a:sym typeface="Lato"/>
            </a:endParaRPr>
          </a:p>
        </p:txBody>
      </p:sp>
      <p:pic>
        <p:nvPicPr>
          <p:cNvPr id="974" name="Google Shape;974;g2c6577b9d44_0_910"/>
          <p:cNvPicPr preferRelativeResize="0"/>
          <p:nvPr/>
        </p:nvPicPr>
        <p:blipFill rotWithShape="1">
          <a:blip r:embed="rId4">
            <a:alphaModFix/>
          </a:blip>
          <a:srcRect b="0" l="0" r="0" t="0"/>
          <a:stretch/>
        </p:blipFill>
        <p:spPr>
          <a:xfrm>
            <a:off x="128325" y="1098351"/>
            <a:ext cx="5977575" cy="3958476"/>
          </a:xfrm>
          <a:prstGeom prst="rect">
            <a:avLst/>
          </a:prstGeom>
          <a:noFill/>
          <a:ln>
            <a:noFill/>
          </a:ln>
        </p:spPr>
      </p:pic>
      <p:pic>
        <p:nvPicPr>
          <p:cNvPr id="975" name="Google Shape;975;g2c6577b9d44_0_910"/>
          <p:cNvPicPr preferRelativeResize="0"/>
          <p:nvPr/>
        </p:nvPicPr>
        <p:blipFill rotWithShape="1">
          <a:blip r:embed="rId5">
            <a:alphaModFix/>
          </a:blip>
          <a:srcRect b="0" l="27071" r="30942" t="0"/>
          <a:stretch/>
        </p:blipFill>
        <p:spPr>
          <a:xfrm>
            <a:off x="6169325" y="2176438"/>
            <a:ext cx="2746124" cy="2455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g2c6577b9d44_0_216"/>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Encoder Decoder</a:t>
            </a:r>
            <a:endParaRPr/>
          </a:p>
        </p:txBody>
      </p:sp>
      <p:sp>
        <p:nvSpPr>
          <p:cNvPr id="981" name="Google Shape;981;g2c6577b9d44_0_2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982" name="Google Shape;982;g2c6577b9d44_0_216"/>
          <p:cNvPicPr preferRelativeResize="0"/>
          <p:nvPr/>
        </p:nvPicPr>
        <p:blipFill rotWithShape="1">
          <a:blip r:embed="rId3">
            <a:alphaModFix/>
          </a:blip>
          <a:srcRect b="0" l="0" r="0" t="0"/>
          <a:stretch/>
        </p:blipFill>
        <p:spPr>
          <a:xfrm>
            <a:off x="722054" y="956125"/>
            <a:ext cx="7094242" cy="3530850"/>
          </a:xfrm>
          <a:prstGeom prst="rect">
            <a:avLst/>
          </a:prstGeom>
          <a:noFill/>
          <a:ln>
            <a:noFill/>
          </a:ln>
        </p:spPr>
      </p:pic>
      <p:sp>
        <p:nvSpPr>
          <p:cNvPr id="983" name="Google Shape;983;g2c6577b9d44_0_216"/>
          <p:cNvSpPr txBox="1"/>
          <p:nvPr/>
        </p:nvSpPr>
        <p:spPr>
          <a:xfrm>
            <a:off x="2190075" y="4609275"/>
            <a:ext cx="50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Encoder-decoder архитектура</a:t>
            </a:r>
            <a:r>
              <a:rPr b="0" i="0" lang="ru-RU" sz="1400" u="none" cap="none" strike="noStrike">
                <a:solidFill>
                  <a:srgbClr val="FFFFFF"/>
                </a:solidFill>
                <a:latin typeface="Lato"/>
                <a:ea typeface="Lato"/>
                <a:cs typeface="Lato"/>
                <a:sym typeface="Lato"/>
              </a:rPr>
              <a:t> [</a:t>
            </a:r>
            <a:r>
              <a:rPr b="0" i="0" lang="ru-RU" sz="1400" u="sng" cap="none" strike="noStrike">
                <a:solidFill>
                  <a:srgbClr val="7890CD"/>
                </a:solidFill>
                <a:latin typeface="Lato"/>
                <a:ea typeface="Lato"/>
                <a:cs typeface="Lato"/>
                <a:sym typeface="Lato"/>
                <a:hlinkClick r:id="rId4">
                  <a:extLst>
                    <a:ext uri="{A12FA001-AC4F-418D-AE19-62706E023703}">
                      <ahyp:hlinkClr val="tx"/>
                    </a:ext>
                  </a:extLst>
                </a:hlinkClick>
              </a:rPr>
              <a:t>Статейка</a:t>
            </a:r>
            <a:r>
              <a:rPr b="0" i="0" lang="ru-RU" sz="1400" u="none" cap="none" strike="noStrike">
                <a:solidFill>
                  <a:srgbClr val="FFFFFF"/>
                </a:solidFill>
                <a:latin typeface="Lato"/>
                <a:ea typeface="Lato"/>
                <a:cs typeface="Lato"/>
                <a:sym typeface="Lato"/>
              </a:rPr>
              <a:t>]</a:t>
            </a:r>
            <a:endParaRPr b="0" i="0" sz="1400" u="none" cap="none" strike="noStrike">
              <a:solidFill>
                <a:srgbClr val="FFFFFF"/>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2c6577b9d44_0_921"/>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Алгоритмическая композиция</a:t>
            </a:r>
            <a:endParaRPr/>
          </a:p>
        </p:txBody>
      </p:sp>
      <p:sp>
        <p:nvSpPr>
          <p:cNvPr id="989" name="Google Shape;989;g2c6577b9d44_0_9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990" name="Google Shape;990;g2c6577b9d44_0_921"/>
          <p:cNvPicPr preferRelativeResize="0"/>
          <p:nvPr/>
        </p:nvPicPr>
        <p:blipFill rotWithShape="1">
          <a:blip r:embed="rId3">
            <a:alphaModFix/>
          </a:blip>
          <a:srcRect b="0" l="0" r="0" t="0"/>
          <a:stretch/>
        </p:blipFill>
        <p:spPr>
          <a:xfrm>
            <a:off x="763384" y="1016539"/>
            <a:ext cx="2421390" cy="3843477"/>
          </a:xfrm>
          <a:prstGeom prst="rect">
            <a:avLst/>
          </a:prstGeom>
          <a:noFill/>
          <a:ln>
            <a:noFill/>
          </a:ln>
        </p:spPr>
      </p:pic>
      <p:pic>
        <p:nvPicPr>
          <p:cNvPr id="991" name="Google Shape;991;g2c6577b9d44_0_921"/>
          <p:cNvPicPr preferRelativeResize="0"/>
          <p:nvPr/>
        </p:nvPicPr>
        <p:blipFill rotWithShape="1">
          <a:blip r:embed="rId4">
            <a:alphaModFix/>
          </a:blip>
          <a:srcRect b="0" l="0" r="0" t="0"/>
          <a:stretch/>
        </p:blipFill>
        <p:spPr>
          <a:xfrm>
            <a:off x="3453721" y="1020042"/>
            <a:ext cx="2507739" cy="3839974"/>
          </a:xfrm>
          <a:prstGeom prst="rect">
            <a:avLst/>
          </a:prstGeom>
          <a:noFill/>
          <a:ln>
            <a:noFill/>
          </a:ln>
        </p:spPr>
      </p:pic>
      <p:pic>
        <p:nvPicPr>
          <p:cNvPr id="992" name="Google Shape;992;g2c6577b9d44_0_921"/>
          <p:cNvPicPr preferRelativeResize="0"/>
          <p:nvPr/>
        </p:nvPicPr>
        <p:blipFill rotWithShape="1">
          <a:blip r:embed="rId5">
            <a:alphaModFix/>
          </a:blip>
          <a:srcRect b="0" l="0" r="0" t="0"/>
          <a:stretch/>
        </p:blipFill>
        <p:spPr>
          <a:xfrm>
            <a:off x="6230407" y="1016538"/>
            <a:ext cx="2486188" cy="384347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2c6577b9d44_0_95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Hexahedral Polyphony Symbolic Music</a:t>
            </a:r>
            <a:br>
              <a:rPr lang="ru-RU"/>
            </a:br>
            <a:r>
              <a:rPr lang="ru-RU"/>
              <a:t>Generation Architecture</a:t>
            </a:r>
            <a:endParaRPr/>
          </a:p>
        </p:txBody>
      </p:sp>
      <p:sp>
        <p:nvSpPr>
          <p:cNvPr id="998" name="Google Shape;998;g2c6577b9d44_0_952"/>
          <p:cNvSpPr txBox="1"/>
          <p:nvPr>
            <p:ph idx="1" type="body"/>
          </p:nvPr>
        </p:nvSpPr>
        <p:spPr>
          <a:xfrm>
            <a:off x="3166532" y="1403958"/>
            <a:ext cx="5169900" cy="34812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1200"/>
              </a:spcAft>
              <a:buSzPct val="64999"/>
              <a:buNone/>
            </a:pPr>
            <a:r>
              <a:rPr lang="ru-RU"/>
              <a:t>Полифо́ни́я — склад многоголосной музыки, определяющийся функциональным равноправием отдельных голосов (мелодических линий, мелодий в широком смысле) многоголосной фактуры. В музыкальной пьесе полифонического склада (например, в каноне Жоскена Депре, в фуге И. С. Баха) голоса равноправны в композиционно-техническом (одинаковые для всех голосов приёмы мотивно-мелодической разработки) и логическом (равноправные носители «музыкальной мысли») отношениях. Словом «полифония» также именуется музыкально-теоретическая дисциплина, которая преподаётся в курсах среднего и высшего музыкального образования для композиторов и музыковедов. Главная задача дисциплины полифонии — практическое изучение полифонических композиций.</a:t>
            </a:r>
            <a:endParaRPr/>
          </a:p>
        </p:txBody>
      </p:sp>
      <p:sp>
        <p:nvSpPr>
          <p:cNvPr id="999" name="Google Shape;999;g2c6577b9d44_0_9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pic>
        <p:nvPicPr>
          <p:cNvPr id="1000" name="Google Shape;1000;g2c6577b9d44_0_952"/>
          <p:cNvPicPr preferRelativeResize="0"/>
          <p:nvPr/>
        </p:nvPicPr>
        <p:blipFill rotWithShape="1">
          <a:blip r:embed="rId3">
            <a:alphaModFix/>
          </a:blip>
          <a:srcRect b="0" l="0" r="0" t="0"/>
          <a:stretch/>
        </p:blipFill>
        <p:spPr>
          <a:xfrm>
            <a:off x="731400" y="1980671"/>
            <a:ext cx="2095500" cy="1724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2c6577b9d44_0_95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Hexahedral Polyphony Symbolic Music</a:t>
            </a:r>
            <a:br>
              <a:rPr lang="ru-RU"/>
            </a:br>
            <a:r>
              <a:rPr lang="ru-RU"/>
              <a:t>Generation Architecture</a:t>
            </a:r>
            <a:endParaRPr/>
          </a:p>
        </p:txBody>
      </p:sp>
      <p:sp>
        <p:nvSpPr>
          <p:cNvPr id="1006" name="Google Shape;1006;g2c6577b9d44_0_959"/>
          <p:cNvSpPr txBox="1"/>
          <p:nvPr>
            <p:ph idx="1" type="body"/>
          </p:nvPr>
        </p:nvSpPr>
        <p:spPr>
          <a:xfrm>
            <a:off x="3666065" y="1378708"/>
            <a:ext cx="5169900" cy="34812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0"/>
              </a:spcAft>
              <a:buSzPct val="76470"/>
              <a:buNone/>
            </a:pPr>
            <a:r>
              <a:rPr lang="ru-RU"/>
              <a:t>Закладываемые принципы в архитектуру:</a:t>
            </a:r>
            <a:endParaRPr/>
          </a:p>
          <a:p>
            <a:pPr indent="-249330" lvl="0" marL="285750" rtl="0" algn="l">
              <a:lnSpc>
                <a:spcPct val="115000"/>
              </a:lnSpc>
              <a:spcBef>
                <a:spcPts val="1200"/>
              </a:spcBef>
              <a:spcAft>
                <a:spcPts val="0"/>
              </a:spcAft>
              <a:buSzPct val="76470"/>
              <a:buFont typeface="Lato"/>
              <a:buChar char="-"/>
            </a:pPr>
            <a:r>
              <a:rPr lang="ru-RU"/>
              <a:t>Есть некоторое представление о временной сигнатуре: дать нейронной сети знания о временной сигнатуре.</a:t>
            </a:r>
            <a:endParaRPr/>
          </a:p>
          <a:p>
            <a:pPr indent="-249330" lvl="0" marL="285750" rtl="0" algn="l">
              <a:lnSpc>
                <a:spcPct val="115000"/>
              </a:lnSpc>
              <a:spcBef>
                <a:spcPts val="1200"/>
              </a:spcBef>
              <a:spcAft>
                <a:spcPts val="0"/>
              </a:spcAft>
              <a:buSzPct val="76470"/>
              <a:buFont typeface="Lato"/>
              <a:buChar char="-"/>
            </a:pPr>
            <a:r>
              <a:rPr lang="ru-RU"/>
              <a:t>Инвариантна к конкретному времени: сеть может составлять бесконечно длинные цепочки, поэтому она должна была быть идентичной для каждого временного шага.</a:t>
            </a:r>
            <a:endParaRPr/>
          </a:p>
          <a:p>
            <a:pPr indent="-249330" lvl="0" marL="285750" rtl="0" algn="l">
              <a:lnSpc>
                <a:spcPct val="115000"/>
              </a:lnSpc>
              <a:spcBef>
                <a:spcPts val="1200"/>
              </a:spcBef>
              <a:spcAft>
                <a:spcPts val="0"/>
              </a:spcAft>
              <a:buSzPct val="76470"/>
              <a:buFont typeface="Lato"/>
              <a:buChar char="-"/>
            </a:pPr>
            <a:r>
              <a:rPr lang="ru-RU"/>
              <a:t>Попытаться создать сет инвариантной к нотам: музыку можно свободно транспонировать вверх и вниз, и она остается принципиально неизменной. При этом автор хотел, чтобы структура нейронной сети была почти идентичной для каждой ноты.</a:t>
            </a:r>
            <a:endParaRPr/>
          </a:p>
          <a:p>
            <a:pPr indent="-249330" lvl="0" marL="285750" rtl="0" algn="l">
              <a:lnSpc>
                <a:spcPct val="115000"/>
              </a:lnSpc>
              <a:spcBef>
                <a:spcPts val="1200"/>
              </a:spcBef>
              <a:spcAft>
                <a:spcPts val="0"/>
              </a:spcAft>
              <a:buSzPct val="76470"/>
              <a:buFont typeface="Lato"/>
              <a:buChar char="-"/>
            </a:pPr>
            <a:r>
              <a:rPr lang="ru-RU"/>
              <a:t>Позволить одновременное воспроизведение нескольких нот и выбор связных аккордов.</a:t>
            </a:r>
            <a:endParaRPr/>
          </a:p>
          <a:p>
            <a:pPr indent="-249330" lvl="0" marL="285750" rtl="0" algn="l">
              <a:lnSpc>
                <a:spcPct val="115000"/>
              </a:lnSpc>
              <a:spcBef>
                <a:spcPts val="1200"/>
              </a:spcBef>
              <a:spcAft>
                <a:spcPts val="1200"/>
              </a:spcAft>
              <a:buSzPct val="76470"/>
              <a:buFont typeface="Lato"/>
              <a:buChar char="-"/>
            </a:pPr>
            <a:r>
              <a:rPr lang="ru-RU"/>
              <a:t>Позволить  повторять одну и ту же ноту: воспроизведение C дважды должно отличаться от удержания одной C в течение двух ударов.</a:t>
            </a:r>
            <a:endParaRPr/>
          </a:p>
        </p:txBody>
      </p:sp>
      <p:sp>
        <p:nvSpPr>
          <p:cNvPr id="1007" name="Google Shape;1007;g2c6577b9d44_0_9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008" name="Google Shape;1008;g2c6577b9d44_0_959"/>
          <p:cNvSpPr txBox="1"/>
          <p:nvPr/>
        </p:nvSpPr>
        <p:spPr>
          <a:xfrm>
            <a:off x="0" y="4827486"/>
            <a:ext cx="3464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ru-RU" sz="1400" u="sng" cap="none" strike="noStrike">
                <a:solidFill>
                  <a:schemeClr val="dk1"/>
                </a:solidFill>
                <a:latin typeface="Arial"/>
                <a:ea typeface="Arial"/>
                <a:cs typeface="Arial"/>
                <a:sym typeface="Arial"/>
                <a:hlinkClick r:id="rId3">
                  <a:extLst>
                    <a:ext uri="{A12FA001-AC4F-418D-AE19-62706E023703}">
                      <ahyp:hlinkClr val="tx"/>
                    </a:ext>
                  </a:extLst>
                </a:hlinkClick>
              </a:rPr>
              <a:t>Блог с описанной структурой от автора</a:t>
            </a:r>
            <a:endParaRPr b="0" i="0" sz="1400" u="none" cap="none" strike="noStrike">
              <a:solidFill>
                <a:schemeClr val="dk1"/>
              </a:solidFill>
              <a:latin typeface="Arial"/>
              <a:ea typeface="Arial"/>
              <a:cs typeface="Arial"/>
              <a:sym typeface="Arial"/>
            </a:endParaRPr>
          </a:p>
        </p:txBody>
      </p:sp>
      <p:pic>
        <p:nvPicPr>
          <p:cNvPr id="1009" name="Google Shape;1009;g2c6577b9d44_0_959"/>
          <p:cNvPicPr preferRelativeResize="0"/>
          <p:nvPr/>
        </p:nvPicPr>
        <p:blipFill rotWithShape="1">
          <a:blip r:embed="rId4">
            <a:alphaModFix/>
          </a:blip>
          <a:srcRect b="0" l="0" r="0" t="0"/>
          <a:stretch/>
        </p:blipFill>
        <p:spPr>
          <a:xfrm>
            <a:off x="189792" y="1924754"/>
            <a:ext cx="3375445" cy="228582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2c6577b9d44_0_96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Hexahedral Polyphony Symbolic Music</a:t>
            </a:r>
            <a:br>
              <a:rPr lang="ru-RU"/>
            </a:br>
            <a:r>
              <a:rPr lang="ru-RU"/>
              <a:t>Generation Architecture</a:t>
            </a:r>
            <a:endParaRPr/>
          </a:p>
        </p:txBody>
      </p:sp>
      <p:sp>
        <p:nvSpPr>
          <p:cNvPr id="1015" name="Google Shape;1015;g2c6577b9d44_0_967"/>
          <p:cNvSpPr txBox="1"/>
          <p:nvPr>
            <p:ph idx="1" type="body"/>
          </p:nvPr>
        </p:nvSpPr>
        <p:spPr>
          <a:xfrm>
            <a:off x="122842" y="1175658"/>
            <a:ext cx="7038900" cy="3881100"/>
          </a:xfrm>
          <a:prstGeom prst="rect">
            <a:avLst/>
          </a:prstGeom>
          <a:noFill/>
          <a:ln>
            <a:noFill/>
          </a:ln>
        </p:spPr>
        <p:txBody>
          <a:bodyPr anchorCtr="0" anchor="t" bIns="91425" lIns="91425" spcFirstLastPara="1" rIns="91425" wrap="square" tIns="91425">
            <a:normAutofit fontScale="62500" lnSpcReduction="10000"/>
          </a:bodyPr>
          <a:lstStyle/>
          <a:p>
            <a:pPr indent="0" lvl="0" marL="0" rtl="0" algn="l">
              <a:lnSpc>
                <a:spcPct val="115000"/>
              </a:lnSpc>
              <a:spcBef>
                <a:spcPts val="0"/>
              </a:spcBef>
              <a:spcAft>
                <a:spcPts val="0"/>
              </a:spcAft>
              <a:buSzPct val="64999"/>
              <a:buNone/>
            </a:pPr>
            <a:r>
              <a:rPr lang="ru-RU"/>
              <a:t>Входные данные:</a:t>
            </a:r>
            <a:endParaRPr/>
          </a:p>
          <a:p>
            <a:pPr indent="-311943" lvl="0" marL="342900" rtl="0" algn="l">
              <a:lnSpc>
                <a:spcPct val="115000"/>
              </a:lnSpc>
              <a:spcBef>
                <a:spcPts val="1200"/>
              </a:spcBef>
              <a:spcAft>
                <a:spcPts val="0"/>
              </a:spcAft>
              <a:buSzPct val="64999"/>
              <a:buAutoNum type="arabicParenR"/>
            </a:pPr>
            <a:r>
              <a:rPr lang="ru-RU"/>
              <a:t>Позиция ноты – непосредственно сама нота (12 звуков * количество октав)</a:t>
            </a:r>
            <a:endParaRPr/>
          </a:p>
          <a:p>
            <a:pPr indent="-311943" lvl="0" marL="342900" rtl="0" algn="l">
              <a:lnSpc>
                <a:spcPct val="115000"/>
              </a:lnSpc>
              <a:spcBef>
                <a:spcPts val="1200"/>
              </a:spcBef>
              <a:spcAft>
                <a:spcPts val="0"/>
              </a:spcAft>
              <a:buSzPct val="64999"/>
              <a:buAutoNum type="arabicParenR"/>
            </a:pPr>
            <a:r>
              <a:rPr lang="ru-RU"/>
              <a:t>Класс высоты тона - Будет равен 1 в позиции текущей ноты, начиная с A для 0 и увеличиваясь на 1 за полтона, и 0 для всех остальных. Используется для выбора более распространенных аккордов (т.Е. чаще используется аккорд до мажор, чем Ми-бемоль мажор).</a:t>
            </a:r>
            <a:endParaRPr/>
          </a:p>
          <a:p>
            <a:pPr indent="-311943" lvl="0" marL="342900" rtl="0" algn="l">
              <a:lnSpc>
                <a:spcPct val="115000"/>
              </a:lnSpc>
              <a:spcBef>
                <a:spcPts val="1200"/>
              </a:spcBef>
              <a:spcAft>
                <a:spcPts val="0"/>
              </a:spcAft>
              <a:buSzPct val="64999"/>
              <a:buAutoNum type="arabicParenR"/>
            </a:pPr>
            <a:r>
              <a:rPr lang="ru-RU"/>
              <a:t>Предыдущее соседство - Задает контекст для окружающих нот в последнем временном шаге, на одну октаву в каждом направлении.</a:t>
            </a:r>
            <a:endParaRPr/>
          </a:p>
          <a:p>
            <a:pPr indent="-311943" lvl="0" marL="342900" rtl="0" algn="l">
              <a:lnSpc>
                <a:spcPct val="115000"/>
              </a:lnSpc>
              <a:spcBef>
                <a:spcPts val="1200"/>
              </a:spcBef>
              <a:spcAft>
                <a:spcPts val="0"/>
              </a:spcAft>
              <a:buSzPct val="64999"/>
              <a:buAutoNum type="arabicParenR"/>
            </a:pPr>
            <a:r>
              <a:rPr lang="ru-RU"/>
              <a:t>Предыдущий контекст - Значением в индексе i будет количество раз, когда любая нота x, где (x-i-pitchclass) mod 12 была воспроизведена в последний раз.</a:t>
            </a:r>
            <a:endParaRPr/>
          </a:p>
          <a:p>
            <a:pPr indent="-311943" lvl="0" marL="342900" rtl="0" algn="l">
              <a:lnSpc>
                <a:spcPct val="115000"/>
              </a:lnSpc>
              <a:spcBef>
                <a:spcPts val="1200"/>
              </a:spcBef>
              <a:spcAft>
                <a:spcPts val="1200"/>
              </a:spcAft>
              <a:buSzPct val="64999"/>
              <a:buAutoNum type="arabicParenR"/>
            </a:pPr>
            <a:r>
              <a:rPr lang="ru-RU"/>
              <a:t>По сути, двоичное представление позиции внутри такта, предполагающее время 4/4. Поскольку каждая строка является одним из входных данных ритма, а каждый столбец - временным шагом, он в основном просто повторяет следующий шаблон </a:t>
            </a:r>
            <a:endParaRPr/>
          </a:p>
        </p:txBody>
      </p:sp>
      <p:sp>
        <p:nvSpPr>
          <p:cNvPr id="1016" name="Google Shape;1016;g2c6577b9d44_0_9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pic>
        <p:nvPicPr>
          <p:cNvPr id="1017" name="Google Shape;1017;g2c6577b9d44_0_967"/>
          <p:cNvPicPr preferRelativeResize="0"/>
          <p:nvPr/>
        </p:nvPicPr>
        <p:blipFill rotWithShape="1">
          <a:blip r:embed="rId3">
            <a:alphaModFix/>
          </a:blip>
          <a:srcRect b="0" l="0" r="0" t="0"/>
          <a:stretch/>
        </p:blipFill>
        <p:spPr>
          <a:xfrm>
            <a:off x="7362513" y="3767742"/>
            <a:ext cx="1267002" cy="895475"/>
          </a:xfrm>
          <a:prstGeom prst="rect">
            <a:avLst/>
          </a:prstGeom>
          <a:noFill/>
          <a:ln>
            <a:noFill/>
          </a:ln>
        </p:spPr>
      </p:pic>
      <p:sp>
        <p:nvSpPr>
          <p:cNvPr id="1018" name="Google Shape;1018;g2c6577b9d44_0_967"/>
          <p:cNvSpPr/>
          <p:nvPr/>
        </p:nvSpPr>
        <p:spPr>
          <a:xfrm>
            <a:off x="6862712" y="1282408"/>
            <a:ext cx="1967575" cy="1614700"/>
          </a:xfrm>
          <a:prstGeom prst="flowChartMagneticDisk">
            <a:avLst/>
          </a:prstGeom>
          <a:solidFill>
            <a:srgbClr val="76A5A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Corpus the set of </a:t>
            </a:r>
            <a:br>
              <a:rPr b="0" i="0" lang="ru-RU" sz="1400" u="none" cap="none" strike="noStrike">
                <a:solidFill>
                  <a:srgbClr val="000000"/>
                </a:solidFill>
                <a:latin typeface="Arial"/>
                <a:ea typeface="Arial"/>
                <a:cs typeface="Arial"/>
                <a:sym typeface="Arial"/>
              </a:rPr>
            </a:br>
            <a:r>
              <a:rPr b="0" i="0" lang="ru-RU" sz="1400" u="none" cap="none" strike="noStrike">
                <a:solidFill>
                  <a:srgbClr val="000000"/>
                </a:solidFill>
                <a:latin typeface="Arial"/>
                <a:ea typeface="Arial"/>
                <a:cs typeface="Arial"/>
                <a:sym typeface="Arial"/>
              </a:rPr>
              <a:t>J. S. Bach’s polyphonic chorales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[352 chorals]</a:t>
            </a:r>
            <a:endParaRPr b="0" i="0" sz="1400" u="none" cap="none" strike="noStrike">
              <a:solidFill>
                <a:srgbClr val="000000"/>
              </a:solidFill>
              <a:latin typeface="Arial"/>
              <a:ea typeface="Arial"/>
              <a:cs typeface="Arial"/>
              <a:sym typeface="Arial"/>
            </a:endParaRPr>
          </a:p>
        </p:txBody>
      </p:sp>
      <p:sp>
        <p:nvSpPr>
          <p:cNvPr id="1019" name="Google Shape;1019;g2c6577b9d44_0_967"/>
          <p:cNvSpPr txBox="1"/>
          <p:nvPr/>
        </p:nvSpPr>
        <p:spPr>
          <a:xfrm>
            <a:off x="0" y="4827486"/>
            <a:ext cx="3464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ru-RU" sz="1400" u="sng" cap="none" strike="noStrike">
                <a:solidFill>
                  <a:schemeClr val="lt1"/>
                </a:solidFill>
                <a:latin typeface="Arial"/>
                <a:ea typeface="Arial"/>
                <a:cs typeface="Arial"/>
                <a:sym typeface="Arial"/>
                <a:hlinkClick r:id="rId4">
                  <a:extLst>
                    <a:ext uri="{A12FA001-AC4F-418D-AE19-62706E023703}">
                      <ahyp:hlinkClr val="tx"/>
                    </a:ext>
                  </a:extLst>
                </a:hlinkClick>
              </a:rPr>
              <a:t>Блог с описанной структурой от автора</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g2c6577b9d44_0_97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Hexahedral Polyphony Symbolic Music</a:t>
            </a:r>
            <a:br>
              <a:rPr lang="ru-RU"/>
            </a:br>
            <a:r>
              <a:rPr lang="ru-RU"/>
              <a:t>Generation Architecture</a:t>
            </a:r>
            <a:endParaRPr/>
          </a:p>
        </p:txBody>
      </p:sp>
      <p:sp>
        <p:nvSpPr>
          <p:cNvPr id="1025" name="Google Shape;1025;g2c6577b9d44_0_9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pic>
        <p:nvPicPr>
          <p:cNvPr id="1026" name="Google Shape;1026;g2c6577b9d44_0_976"/>
          <p:cNvPicPr preferRelativeResize="0"/>
          <p:nvPr/>
        </p:nvPicPr>
        <p:blipFill rotWithShape="1">
          <a:blip r:embed="rId3">
            <a:alphaModFix/>
          </a:blip>
          <a:srcRect b="0" l="0" r="0" t="0"/>
          <a:stretch/>
        </p:blipFill>
        <p:spPr>
          <a:xfrm>
            <a:off x="113653" y="1598063"/>
            <a:ext cx="4212366" cy="2852584"/>
          </a:xfrm>
          <a:prstGeom prst="rect">
            <a:avLst/>
          </a:prstGeom>
          <a:noFill/>
          <a:ln>
            <a:noFill/>
          </a:ln>
        </p:spPr>
      </p:pic>
      <p:sp>
        <p:nvSpPr>
          <p:cNvPr id="1027" name="Google Shape;1027;g2c6577b9d44_0_976"/>
          <p:cNvSpPr txBox="1"/>
          <p:nvPr>
            <p:ph idx="1" type="body"/>
          </p:nvPr>
        </p:nvSpPr>
        <p:spPr>
          <a:xfrm>
            <a:off x="4326019" y="1307850"/>
            <a:ext cx="4509900" cy="3552300"/>
          </a:xfrm>
          <a:prstGeom prst="rect">
            <a:avLst/>
          </a:prstGeom>
          <a:noFill/>
          <a:ln>
            <a:noFill/>
          </a:ln>
        </p:spPr>
        <p:txBody>
          <a:bodyPr anchorCtr="0" anchor="t" bIns="91425" lIns="91425" spcFirstLastPara="1" rIns="91425" wrap="square" tIns="91425">
            <a:normAutofit fontScale="62500" lnSpcReduction="10000"/>
          </a:bodyPr>
          <a:lstStyle/>
          <a:p>
            <a:pPr indent="-254793" lvl="0" marL="285750" rtl="0" algn="l">
              <a:lnSpc>
                <a:spcPct val="115000"/>
              </a:lnSpc>
              <a:spcBef>
                <a:spcPts val="0"/>
              </a:spcBef>
              <a:spcAft>
                <a:spcPts val="0"/>
              </a:spcAft>
              <a:buSzPct val="64999"/>
              <a:buFont typeface="Lato"/>
              <a:buChar char="-"/>
            </a:pPr>
            <a:r>
              <a:rPr lang="ru-RU"/>
              <a:t>первая часть состоит из двух слоев RNN (фактически LSTM), каждый из которых содержит 300 юнитов, повторяющихся во временном измерении, которые отвечают за временной горизонтальный аспект, то есть за отношения между нотами в последовательности. Каждый слой имеет связи между временными шагами, оставаясь при этом независимым от нот;</a:t>
            </a:r>
            <a:endParaRPr/>
          </a:p>
          <a:p>
            <a:pPr indent="-254793" lvl="0" marL="285750" rtl="0" algn="l">
              <a:lnSpc>
                <a:spcPct val="115000"/>
              </a:lnSpc>
              <a:spcBef>
                <a:spcPts val="1200"/>
              </a:spcBef>
              <a:spcAft>
                <a:spcPts val="1200"/>
              </a:spcAft>
              <a:buSzPct val="64999"/>
              <a:buFont typeface="Lato"/>
              <a:buChar char="-"/>
            </a:pPr>
            <a:r>
              <a:rPr lang="ru-RU"/>
              <a:t>вторая часть, состоящая из двух других слоев RNN (LSTM), со 100 и 50 юнитами, повторяющимися по измерению ноты, которые отвечают за аспект гармонии, то есть отношения между одновременными нотами в пределах одного и того же временного шага. Каждый слой независим между временными шагами, но имеет поперечно направленные связи между нотами</a:t>
            </a:r>
            <a:endParaRPr/>
          </a:p>
        </p:txBody>
      </p:sp>
      <p:sp>
        <p:nvSpPr>
          <p:cNvPr id="1028" name="Google Shape;1028;g2c6577b9d44_0_976"/>
          <p:cNvSpPr txBox="1"/>
          <p:nvPr/>
        </p:nvSpPr>
        <p:spPr>
          <a:xfrm>
            <a:off x="0" y="4827486"/>
            <a:ext cx="3464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ru-RU" sz="1400" u="sng" cap="none" strike="noStrike">
                <a:solidFill>
                  <a:schemeClr val="lt1"/>
                </a:solidFill>
                <a:latin typeface="Arial"/>
                <a:ea typeface="Arial"/>
                <a:cs typeface="Arial"/>
                <a:sym typeface="Arial"/>
                <a:hlinkClick r:id="rId4">
                  <a:extLst>
                    <a:ext uri="{A12FA001-AC4F-418D-AE19-62706E023703}">
                      <ahyp:hlinkClr val="tx"/>
                    </a:ext>
                  </a:extLst>
                </a:hlinkClick>
              </a:rPr>
              <a:t>Блог с описанной структурой от автора</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2c6577b9d44_0_98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Hexahedral Polyphony Symbolic Music</a:t>
            </a:r>
            <a:br>
              <a:rPr lang="ru-RU"/>
            </a:br>
            <a:r>
              <a:rPr lang="ru-RU"/>
              <a:t>Generation Architecture</a:t>
            </a:r>
            <a:endParaRPr/>
          </a:p>
        </p:txBody>
      </p:sp>
      <p:sp>
        <p:nvSpPr>
          <p:cNvPr id="1034" name="Google Shape;1034;g2c6577b9d44_0_9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pic>
        <p:nvPicPr>
          <p:cNvPr id="1035" name="Google Shape;1035;g2c6577b9d44_0_984"/>
          <p:cNvPicPr preferRelativeResize="0"/>
          <p:nvPr/>
        </p:nvPicPr>
        <p:blipFill rotWithShape="1">
          <a:blip r:embed="rId3">
            <a:alphaModFix/>
          </a:blip>
          <a:srcRect b="0" l="0" r="0" t="0"/>
          <a:stretch/>
        </p:blipFill>
        <p:spPr>
          <a:xfrm>
            <a:off x="1706309" y="1224205"/>
            <a:ext cx="5731383" cy="373305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2c6577b9d44_0_926"/>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Генерация </a:t>
            </a:r>
            <a:r>
              <a:rPr b="0" lang="ru-RU" sz="2200">
                <a:latin typeface="Golos Text"/>
                <a:ea typeface="Golos Text"/>
                <a:cs typeface="Golos Text"/>
                <a:sym typeface="Golos Text"/>
              </a:rPr>
              <a:t>аккомпанемента</a:t>
            </a:r>
            <a:r>
              <a:rPr b="0" lang="ru-RU" sz="2200">
                <a:latin typeface="Golos Text"/>
                <a:ea typeface="Golos Text"/>
                <a:cs typeface="Golos Text"/>
                <a:sym typeface="Golos Text"/>
              </a:rPr>
              <a:t> </a:t>
            </a:r>
            <a:endParaRPr/>
          </a:p>
        </p:txBody>
      </p:sp>
      <p:sp>
        <p:nvSpPr>
          <p:cNvPr id="1041" name="Google Shape;1041;g2c6577b9d44_0_9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1042" name="Google Shape;1042;g2c6577b9d44_0_926"/>
          <p:cNvPicPr preferRelativeResize="0"/>
          <p:nvPr/>
        </p:nvPicPr>
        <p:blipFill>
          <a:blip r:embed="rId3">
            <a:alphaModFix/>
          </a:blip>
          <a:stretch>
            <a:fillRect/>
          </a:stretch>
        </p:blipFill>
        <p:spPr>
          <a:xfrm>
            <a:off x="152400" y="986235"/>
            <a:ext cx="8839200" cy="3596102"/>
          </a:xfrm>
          <a:prstGeom prst="rect">
            <a:avLst/>
          </a:prstGeom>
          <a:noFill/>
          <a:ln>
            <a:noFill/>
          </a:ln>
        </p:spPr>
      </p:pic>
      <p:sp>
        <p:nvSpPr>
          <p:cNvPr id="1043" name="Google Shape;1043;g2c6577b9d44_0_926"/>
          <p:cNvSpPr txBox="1"/>
          <p:nvPr/>
        </p:nvSpPr>
        <p:spPr>
          <a:xfrm>
            <a:off x="0" y="4821625"/>
            <a:ext cx="4562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100" u="sng">
                <a:solidFill>
                  <a:schemeClr val="hlink"/>
                </a:solidFill>
                <a:hlinkClick r:id="rId4"/>
              </a:rPr>
              <a:t>https://arxiv.org/ftp/arxiv/papers/1712/1712.01011.pdf</a:t>
            </a:r>
            <a:r>
              <a:rPr lang="ru-RU" sz="1100"/>
              <a:t> </a:t>
            </a:r>
            <a:endParaRPr sz="1100"/>
          </a:p>
        </p:txBody>
      </p:sp>
      <p:sp>
        <p:nvSpPr>
          <p:cNvPr id="1044" name="Google Shape;1044;g2c6577b9d44_0_926"/>
          <p:cNvSpPr txBox="1"/>
          <p:nvPr/>
        </p:nvSpPr>
        <p:spPr>
          <a:xfrm>
            <a:off x="5863200" y="2965300"/>
            <a:ext cx="3128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800">
                <a:solidFill>
                  <a:schemeClr val="dk1"/>
                </a:solidFill>
                <a:latin typeface="Golos Text"/>
                <a:ea typeface="Golos Text"/>
                <a:cs typeface="Golos Text"/>
                <a:sym typeface="Golos Text"/>
              </a:rPr>
              <a:t>Использованы материалы из доклада с курса “Введение в вычислительное музыковедение”, весна, 2023, ИТМО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Александр Самсонов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Анатолий Антоненко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Георгий Иванов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Наиль Сафин</a:t>
            </a:r>
            <a:endParaRPr sz="800">
              <a:solidFill>
                <a:schemeClr val="dk1"/>
              </a:solidFill>
              <a:latin typeface="Golos Text"/>
              <a:ea typeface="Golos Text"/>
              <a:cs typeface="Golos Text"/>
              <a:sym typeface="Golos Tex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g2c6577b9d44_0_126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Генерация аккомпанемента </a:t>
            </a:r>
            <a:endParaRPr/>
          </a:p>
        </p:txBody>
      </p:sp>
      <p:sp>
        <p:nvSpPr>
          <p:cNvPr id="1050" name="Google Shape;1050;g2c6577b9d44_0_12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1051" name="Google Shape;1051;g2c6577b9d44_0_1260"/>
          <p:cNvPicPr preferRelativeResize="0"/>
          <p:nvPr/>
        </p:nvPicPr>
        <p:blipFill>
          <a:blip r:embed="rId3">
            <a:alphaModFix/>
          </a:blip>
          <a:stretch>
            <a:fillRect/>
          </a:stretch>
        </p:blipFill>
        <p:spPr>
          <a:xfrm>
            <a:off x="206725" y="1339285"/>
            <a:ext cx="8839198" cy="3066661"/>
          </a:xfrm>
          <a:prstGeom prst="rect">
            <a:avLst/>
          </a:prstGeom>
          <a:noFill/>
          <a:ln>
            <a:noFill/>
          </a:ln>
        </p:spPr>
      </p:pic>
      <p:sp>
        <p:nvSpPr>
          <p:cNvPr id="1052" name="Google Shape;1052;g2c6577b9d44_0_1260"/>
          <p:cNvSpPr/>
          <p:nvPr/>
        </p:nvSpPr>
        <p:spPr>
          <a:xfrm>
            <a:off x="2323275" y="4486300"/>
            <a:ext cx="4100700" cy="358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Постановка задачи</a:t>
            </a:r>
            <a:endParaRPr>
              <a:latin typeface="Golos Text"/>
              <a:ea typeface="Golos Text"/>
              <a:cs typeface="Golos Text"/>
              <a:sym typeface="Golos Text"/>
            </a:endParaRPr>
          </a:p>
        </p:txBody>
      </p:sp>
      <p:sp>
        <p:nvSpPr>
          <p:cNvPr id="1053" name="Google Shape;1053;g2c6577b9d44_0_1260"/>
          <p:cNvSpPr txBox="1"/>
          <p:nvPr/>
        </p:nvSpPr>
        <p:spPr>
          <a:xfrm>
            <a:off x="0" y="4821625"/>
            <a:ext cx="4562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100" u="sng">
                <a:solidFill>
                  <a:schemeClr val="hlink"/>
                </a:solidFill>
                <a:hlinkClick r:id="rId4"/>
              </a:rPr>
              <a:t>https://arxiv.org/ftp/arxiv/papers/1712/1712.01011.pdf</a:t>
            </a:r>
            <a:r>
              <a:rPr lang="ru-RU" sz="1100"/>
              <a:t> </a:t>
            </a:r>
            <a:endParaRPr sz="1100"/>
          </a:p>
        </p:txBody>
      </p:sp>
      <p:sp>
        <p:nvSpPr>
          <p:cNvPr id="1054" name="Google Shape;1054;g2c6577b9d44_0_1260"/>
          <p:cNvSpPr txBox="1"/>
          <p:nvPr/>
        </p:nvSpPr>
        <p:spPr>
          <a:xfrm>
            <a:off x="5916600" y="757775"/>
            <a:ext cx="3128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800">
                <a:solidFill>
                  <a:schemeClr val="dk1"/>
                </a:solidFill>
                <a:latin typeface="Golos Text"/>
                <a:ea typeface="Golos Text"/>
                <a:cs typeface="Golos Text"/>
                <a:sym typeface="Golos Text"/>
              </a:rPr>
              <a:t>Использованы материалы из доклада с курса “Введение в вычислительное музыковедение”, весна, 2023, ИТМО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Александр Самсонов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Анатолий Антоненко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Георгий Иванов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Наиль Сафин</a:t>
            </a:r>
            <a:endParaRPr sz="800">
              <a:solidFill>
                <a:schemeClr val="dk1"/>
              </a:solidFill>
              <a:latin typeface="Golos Text"/>
              <a:ea typeface="Golos Text"/>
              <a:cs typeface="Golos Text"/>
              <a:sym typeface="Golos Tex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g2c6577b9d44_0_1279"/>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Генерация аккомпанемента </a:t>
            </a:r>
            <a:endParaRPr/>
          </a:p>
        </p:txBody>
      </p:sp>
      <p:sp>
        <p:nvSpPr>
          <p:cNvPr id="1060" name="Google Shape;1060;g2c6577b9d44_0_12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061" name="Google Shape;1061;g2c6577b9d44_0_1279"/>
          <p:cNvSpPr/>
          <p:nvPr/>
        </p:nvSpPr>
        <p:spPr>
          <a:xfrm>
            <a:off x="2339550" y="4444500"/>
            <a:ext cx="4100700" cy="358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Признаки</a:t>
            </a:r>
            <a:endParaRPr>
              <a:latin typeface="Golos Text"/>
              <a:ea typeface="Golos Text"/>
              <a:cs typeface="Golos Text"/>
              <a:sym typeface="Golos Text"/>
            </a:endParaRPr>
          </a:p>
        </p:txBody>
      </p:sp>
      <p:sp>
        <p:nvSpPr>
          <p:cNvPr id="1062" name="Google Shape;1062;g2c6577b9d44_0_1279"/>
          <p:cNvSpPr txBox="1"/>
          <p:nvPr/>
        </p:nvSpPr>
        <p:spPr>
          <a:xfrm>
            <a:off x="0" y="4821625"/>
            <a:ext cx="4562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100" u="sng">
                <a:solidFill>
                  <a:schemeClr val="hlink"/>
                </a:solidFill>
                <a:hlinkClick r:id="rId3"/>
              </a:rPr>
              <a:t>https://arxiv.org/ftp/arxiv/papers/1712/1712.01011.pdf</a:t>
            </a:r>
            <a:r>
              <a:rPr lang="ru-RU" sz="1100"/>
              <a:t> </a:t>
            </a:r>
            <a:endParaRPr sz="1100"/>
          </a:p>
        </p:txBody>
      </p:sp>
      <p:pic>
        <p:nvPicPr>
          <p:cNvPr id="1063" name="Google Shape;1063;g2c6577b9d44_0_1279"/>
          <p:cNvPicPr preferRelativeResize="0"/>
          <p:nvPr/>
        </p:nvPicPr>
        <p:blipFill>
          <a:blip r:embed="rId4">
            <a:alphaModFix/>
          </a:blip>
          <a:stretch>
            <a:fillRect/>
          </a:stretch>
        </p:blipFill>
        <p:spPr>
          <a:xfrm>
            <a:off x="168700" y="942423"/>
            <a:ext cx="4979246" cy="3483464"/>
          </a:xfrm>
          <a:prstGeom prst="rect">
            <a:avLst/>
          </a:prstGeom>
          <a:noFill/>
          <a:ln>
            <a:noFill/>
          </a:ln>
        </p:spPr>
      </p:pic>
      <p:sp>
        <p:nvSpPr>
          <p:cNvPr id="1064" name="Google Shape;1064;g2c6577b9d44_0_1279"/>
          <p:cNvSpPr txBox="1"/>
          <p:nvPr/>
        </p:nvSpPr>
        <p:spPr>
          <a:xfrm>
            <a:off x="5473450" y="1681175"/>
            <a:ext cx="351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u="sng">
                <a:solidFill>
                  <a:schemeClr val="hlink"/>
                </a:solidFill>
                <a:hlinkClick r:id="rId5"/>
              </a:rPr>
              <a:t>http://marg.snu.ac.kr/chord_generation/#</a:t>
            </a:r>
            <a:r>
              <a:rPr lang="ru-RU"/>
              <a:t> </a:t>
            </a:r>
            <a:endParaRPr/>
          </a:p>
        </p:txBody>
      </p:sp>
      <p:sp>
        <p:nvSpPr>
          <p:cNvPr id="1065" name="Google Shape;1065;g2c6577b9d44_0_1279"/>
          <p:cNvSpPr/>
          <p:nvPr/>
        </p:nvSpPr>
        <p:spPr>
          <a:xfrm>
            <a:off x="3855225" y="33837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66" name="Google Shape;1066;g2c6577b9d44_0_1279"/>
          <p:cNvSpPr/>
          <p:nvPr/>
        </p:nvSpPr>
        <p:spPr>
          <a:xfrm>
            <a:off x="374050" y="33837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67" name="Google Shape;1067;g2c6577b9d44_0_1279"/>
          <p:cNvSpPr/>
          <p:nvPr/>
        </p:nvSpPr>
        <p:spPr>
          <a:xfrm>
            <a:off x="2432875" y="33837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68" name="Google Shape;1068;g2c6577b9d44_0_1279"/>
          <p:cNvSpPr/>
          <p:nvPr/>
        </p:nvSpPr>
        <p:spPr>
          <a:xfrm>
            <a:off x="374050" y="31719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69" name="Google Shape;1069;g2c6577b9d44_0_1279"/>
          <p:cNvSpPr/>
          <p:nvPr/>
        </p:nvSpPr>
        <p:spPr>
          <a:xfrm>
            <a:off x="3855225" y="31719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0" name="Google Shape;1070;g2c6577b9d44_0_1279"/>
          <p:cNvSpPr/>
          <p:nvPr/>
        </p:nvSpPr>
        <p:spPr>
          <a:xfrm>
            <a:off x="2432875" y="31719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1" name="Google Shape;1071;g2c6577b9d44_0_1279"/>
          <p:cNvSpPr/>
          <p:nvPr/>
        </p:nvSpPr>
        <p:spPr>
          <a:xfrm>
            <a:off x="374050" y="29601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2" name="Google Shape;1072;g2c6577b9d44_0_1279"/>
          <p:cNvSpPr/>
          <p:nvPr/>
        </p:nvSpPr>
        <p:spPr>
          <a:xfrm>
            <a:off x="374050" y="27483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3" name="Google Shape;1073;g2c6577b9d44_0_1279"/>
          <p:cNvSpPr/>
          <p:nvPr/>
        </p:nvSpPr>
        <p:spPr>
          <a:xfrm>
            <a:off x="1829975" y="33837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4" name="Google Shape;1074;g2c6577b9d44_0_1279"/>
          <p:cNvSpPr/>
          <p:nvPr/>
        </p:nvSpPr>
        <p:spPr>
          <a:xfrm>
            <a:off x="1829975" y="31719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5" name="Google Shape;1075;g2c6577b9d44_0_1279"/>
          <p:cNvSpPr/>
          <p:nvPr/>
        </p:nvSpPr>
        <p:spPr>
          <a:xfrm>
            <a:off x="1829975" y="29601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6" name="Google Shape;1076;g2c6577b9d44_0_1279"/>
          <p:cNvSpPr/>
          <p:nvPr/>
        </p:nvSpPr>
        <p:spPr>
          <a:xfrm>
            <a:off x="1829975" y="27483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7" name="Google Shape;1077;g2c6577b9d44_0_1279"/>
          <p:cNvSpPr/>
          <p:nvPr/>
        </p:nvSpPr>
        <p:spPr>
          <a:xfrm>
            <a:off x="1829975" y="25365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8" name="Google Shape;1078;g2c6577b9d44_0_1279"/>
          <p:cNvSpPr/>
          <p:nvPr/>
        </p:nvSpPr>
        <p:spPr>
          <a:xfrm>
            <a:off x="2432875" y="29601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79" name="Google Shape;1079;g2c6577b9d44_0_1279"/>
          <p:cNvSpPr/>
          <p:nvPr/>
        </p:nvSpPr>
        <p:spPr>
          <a:xfrm>
            <a:off x="3171200" y="33837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80" name="Google Shape;1080;g2c6577b9d44_0_1279"/>
          <p:cNvSpPr/>
          <p:nvPr/>
        </p:nvSpPr>
        <p:spPr>
          <a:xfrm>
            <a:off x="2432875" y="2748338"/>
            <a:ext cx="450900" cy="211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1081" name="Google Shape;1081;g2c6577b9d44_0_1279"/>
          <p:cNvSpPr txBox="1"/>
          <p:nvPr/>
        </p:nvSpPr>
        <p:spPr>
          <a:xfrm>
            <a:off x="5916600" y="757775"/>
            <a:ext cx="3128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800">
                <a:solidFill>
                  <a:schemeClr val="dk1"/>
                </a:solidFill>
                <a:latin typeface="Golos Text"/>
                <a:ea typeface="Golos Text"/>
                <a:cs typeface="Golos Text"/>
                <a:sym typeface="Golos Text"/>
              </a:rPr>
              <a:t>Использованы материалы из доклада с курса “Введение в вычислительное музыковедение”, весна, 2023, ИТМО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Александр Самсонов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Анатолий Антоненко</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Георгий Иванов</a:t>
            </a:r>
            <a:endParaRPr sz="800">
              <a:solidFill>
                <a:schemeClr val="dk1"/>
              </a:solidFill>
              <a:latin typeface="Golos Text"/>
              <a:ea typeface="Golos Text"/>
              <a:cs typeface="Golos Text"/>
              <a:sym typeface="Golos Text"/>
            </a:endParaRPr>
          </a:p>
          <a:p>
            <a:pPr indent="-279400" lvl="0" marL="457200" rtl="0" algn="l">
              <a:spcBef>
                <a:spcPts val="0"/>
              </a:spcBef>
              <a:spcAft>
                <a:spcPts val="0"/>
              </a:spcAft>
              <a:buClr>
                <a:schemeClr val="dk1"/>
              </a:buClr>
              <a:buSzPts val="800"/>
              <a:buFont typeface="Golos Text"/>
              <a:buChar char="-"/>
            </a:pPr>
            <a:r>
              <a:rPr lang="ru-RU" sz="800">
                <a:solidFill>
                  <a:schemeClr val="dk1"/>
                </a:solidFill>
                <a:latin typeface="Golos Text"/>
                <a:ea typeface="Golos Text"/>
                <a:cs typeface="Golos Text"/>
                <a:sym typeface="Golos Text"/>
              </a:rPr>
              <a:t>Наиль Сафин</a:t>
            </a:r>
            <a:endParaRPr sz="800">
              <a:solidFill>
                <a:schemeClr val="dk1"/>
              </a:solidFill>
              <a:latin typeface="Golos Text"/>
              <a:ea typeface="Golos Text"/>
              <a:cs typeface="Golos Text"/>
              <a:sym typeface="Golos Text"/>
            </a:endParaRPr>
          </a:p>
        </p:txBody>
      </p:sp>
      <p:pic>
        <p:nvPicPr>
          <p:cNvPr id="1082" name="Google Shape;1082;g2c6577b9d44_0_1279"/>
          <p:cNvPicPr preferRelativeResize="0"/>
          <p:nvPr/>
        </p:nvPicPr>
        <p:blipFill>
          <a:blip r:embed="rId6">
            <a:alphaModFix/>
          </a:blip>
          <a:stretch>
            <a:fillRect/>
          </a:stretch>
        </p:blipFill>
        <p:spPr>
          <a:xfrm>
            <a:off x="6619800" y="2184925"/>
            <a:ext cx="2229249" cy="23636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2c6577b9d44_0_11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Automatic Music Transcription (AMT)</a:t>
            </a:r>
            <a:endParaRPr/>
          </a:p>
        </p:txBody>
      </p:sp>
      <p:sp>
        <p:nvSpPr>
          <p:cNvPr id="1088" name="Google Shape;1088;g2c6577b9d44_0_1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089" name="Google Shape;1089;g2c6577b9d44_0_1115"/>
          <p:cNvSpPr txBox="1"/>
          <p:nvPr/>
        </p:nvSpPr>
        <p:spPr>
          <a:xfrm>
            <a:off x="0" y="4790430"/>
            <a:ext cx="7038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ru-RU" sz="700" u="none" cap="none" strike="noStrike">
                <a:solidFill>
                  <a:schemeClr val="dk1"/>
                </a:solidFill>
                <a:latin typeface="Arial"/>
                <a:ea typeface="Arial"/>
                <a:cs typeface="Arial"/>
                <a:sym typeface="Arial"/>
              </a:rPr>
              <a:t>C. Hawthorne, E. Elsen, J. Song, A. Roberts, I. Simon, C. Raffel, J. Engel, S. Oore, and D. Eck, “Onsets and frames: Dual-objective piano transcription,” in Proc. International Society for Music Information Retrieval Conference, 2018. Access mode : https://arxiv.org/pdf/1710.11153.pdf</a:t>
            </a:r>
            <a:endParaRPr b="0" i="0" sz="700" u="none" cap="none" strike="noStrike">
              <a:solidFill>
                <a:schemeClr val="dk1"/>
              </a:solidFill>
              <a:latin typeface="Arial"/>
              <a:ea typeface="Arial"/>
              <a:cs typeface="Arial"/>
              <a:sym typeface="Arial"/>
            </a:endParaRPr>
          </a:p>
        </p:txBody>
      </p:sp>
      <p:pic>
        <p:nvPicPr>
          <p:cNvPr id="1090" name="Google Shape;1090;g2c6577b9d44_0_1115"/>
          <p:cNvPicPr preferRelativeResize="0"/>
          <p:nvPr/>
        </p:nvPicPr>
        <p:blipFill rotWithShape="1">
          <a:blip r:embed="rId3">
            <a:alphaModFix/>
          </a:blip>
          <a:srcRect b="0" l="0" r="0" t="0"/>
          <a:stretch/>
        </p:blipFill>
        <p:spPr>
          <a:xfrm>
            <a:off x="6134124" y="1031259"/>
            <a:ext cx="2887034" cy="3495681"/>
          </a:xfrm>
          <a:prstGeom prst="rect">
            <a:avLst/>
          </a:prstGeom>
          <a:noFill/>
          <a:ln>
            <a:noFill/>
          </a:ln>
        </p:spPr>
      </p:pic>
      <p:sp>
        <p:nvSpPr>
          <p:cNvPr id="1091" name="Google Shape;1091;g2c6577b9d44_0_1115"/>
          <p:cNvSpPr txBox="1"/>
          <p:nvPr/>
        </p:nvSpPr>
        <p:spPr>
          <a:xfrm>
            <a:off x="4988014" y="4538596"/>
            <a:ext cx="3789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ru-RU" sz="1400" u="sng" cap="none" strike="noStrike">
                <a:solidFill>
                  <a:schemeClr val="dk1"/>
                </a:solidFill>
                <a:latin typeface="Arial"/>
                <a:ea typeface="Arial"/>
                <a:cs typeface="Arial"/>
                <a:sym typeface="Arial"/>
                <a:hlinkClick r:id="rId4">
                  <a:extLst>
                    <a:ext uri="{A12FA001-AC4F-418D-AE19-62706E023703}">
                      <ahyp:hlinkClr val="tx"/>
                    </a:ext>
                  </a:extLst>
                </a:hlinkClick>
              </a:rPr>
              <a:t>MAPS ( MIDI Aligned Piano Sounds ) dataset</a:t>
            </a:r>
            <a:endParaRPr b="0" i="0" sz="1400" u="none" cap="none" strike="noStrike">
              <a:solidFill>
                <a:schemeClr val="dk1"/>
              </a:solidFill>
              <a:latin typeface="Arial"/>
              <a:ea typeface="Arial"/>
              <a:cs typeface="Arial"/>
              <a:sym typeface="Arial"/>
            </a:endParaRPr>
          </a:p>
        </p:txBody>
      </p:sp>
      <p:pic>
        <p:nvPicPr>
          <p:cNvPr id="1092" name="Google Shape;1092;g2c6577b9d44_0_1115"/>
          <p:cNvPicPr preferRelativeResize="0"/>
          <p:nvPr/>
        </p:nvPicPr>
        <p:blipFill rotWithShape="1">
          <a:blip r:embed="rId5">
            <a:alphaModFix/>
          </a:blip>
          <a:srcRect b="0" l="0" r="0" t="0"/>
          <a:stretch/>
        </p:blipFill>
        <p:spPr>
          <a:xfrm>
            <a:off x="2877963" y="1028362"/>
            <a:ext cx="3163587" cy="3551624"/>
          </a:xfrm>
          <a:prstGeom prst="rect">
            <a:avLst/>
          </a:prstGeom>
          <a:noFill/>
          <a:ln>
            <a:noFill/>
          </a:ln>
        </p:spPr>
      </p:pic>
      <p:pic>
        <p:nvPicPr>
          <p:cNvPr id="1093" name="Google Shape;1093;g2c6577b9d44_0_1115"/>
          <p:cNvPicPr preferRelativeResize="0"/>
          <p:nvPr/>
        </p:nvPicPr>
        <p:blipFill rotWithShape="1">
          <a:blip r:embed="rId6">
            <a:alphaModFix/>
          </a:blip>
          <a:srcRect b="0" l="6931" r="50199" t="0"/>
          <a:stretch/>
        </p:blipFill>
        <p:spPr>
          <a:xfrm>
            <a:off x="122842" y="1307850"/>
            <a:ext cx="2643712" cy="321415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2c6577b9d44_0_125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Transfer Learning</a:t>
            </a:r>
            <a:endParaRPr/>
          </a:p>
        </p:txBody>
      </p:sp>
      <p:sp>
        <p:nvSpPr>
          <p:cNvPr id="1099" name="Google Shape;1099;g2c6577b9d44_0_12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100" name="Google Shape;1100;g2c6577b9d44_0_1250"/>
          <p:cNvSpPr txBox="1"/>
          <p:nvPr/>
        </p:nvSpPr>
        <p:spPr>
          <a:xfrm>
            <a:off x="0" y="4650850"/>
            <a:ext cx="751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t>Обзорная статья про Transfer Learning:</a:t>
            </a:r>
            <a:endParaRPr sz="1000"/>
          </a:p>
          <a:p>
            <a:pPr indent="0" lvl="0" marL="0" rtl="0" algn="l">
              <a:spcBef>
                <a:spcPts val="0"/>
              </a:spcBef>
              <a:spcAft>
                <a:spcPts val="0"/>
              </a:spcAft>
              <a:buNone/>
            </a:pPr>
            <a:r>
              <a:rPr lang="ru-RU" sz="1000"/>
              <a:t>Wang M., Deng W. Deep visual domain adaptation: A survey // Neurocomputing. 2018 Vol. 312 pp.135-153.</a:t>
            </a:r>
            <a:endParaRPr sz="1000"/>
          </a:p>
        </p:txBody>
      </p:sp>
      <p:pic>
        <p:nvPicPr>
          <p:cNvPr id="1101" name="Google Shape;1101;g2c6577b9d44_0_1250"/>
          <p:cNvPicPr preferRelativeResize="0"/>
          <p:nvPr/>
        </p:nvPicPr>
        <p:blipFill rotWithShape="1">
          <a:blip r:embed="rId3">
            <a:alphaModFix/>
          </a:blip>
          <a:srcRect b="0" l="13232" r="0" t="0"/>
          <a:stretch/>
        </p:blipFill>
        <p:spPr>
          <a:xfrm>
            <a:off x="2252650" y="2088825"/>
            <a:ext cx="5723952" cy="2226400"/>
          </a:xfrm>
          <a:prstGeom prst="rect">
            <a:avLst/>
          </a:prstGeom>
          <a:noFill/>
          <a:ln>
            <a:noFill/>
          </a:ln>
        </p:spPr>
      </p:pic>
      <p:sp>
        <p:nvSpPr>
          <p:cNvPr id="1102" name="Google Shape;1102;g2c6577b9d44_0_1250"/>
          <p:cNvSpPr/>
          <p:nvPr/>
        </p:nvSpPr>
        <p:spPr>
          <a:xfrm>
            <a:off x="457200" y="879900"/>
            <a:ext cx="2020450" cy="830975"/>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Муз.Инструменты</a:t>
            </a:r>
            <a:endParaRPr>
              <a:latin typeface="Golos Text"/>
              <a:ea typeface="Golos Text"/>
              <a:cs typeface="Golos Text"/>
              <a:sym typeface="Golos Text"/>
            </a:endParaRPr>
          </a:p>
        </p:txBody>
      </p:sp>
      <p:sp>
        <p:nvSpPr>
          <p:cNvPr id="1103" name="Google Shape;1103;g2c6577b9d44_0_1250"/>
          <p:cNvSpPr/>
          <p:nvPr/>
        </p:nvSpPr>
        <p:spPr>
          <a:xfrm>
            <a:off x="3545300" y="1134675"/>
            <a:ext cx="2384400" cy="358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Обучение системы</a:t>
            </a:r>
            <a:endParaRPr>
              <a:latin typeface="Golos Text"/>
              <a:ea typeface="Golos Text"/>
              <a:cs typeface="Golos Text"/>
              <a:sym typeface="Golos Text"/>
            </a:endParaRPr>
          </a:p>
        </p:txBody>
      </p:sp>
      <p:cxnSp>
        <p:nvCxnSpPr>
          <p:cNvPr id="1104" name="Google Shape;1104;g2c6577b9d44_0_1250"/>
          <p:cNvCxnSpPr>
            <a:stCxn id="1102" idx="4"/>
            <a:endCxn id="1103" idx="1"/>
          </p:cNvCxnSpPr>
          <p:nvPr/>
        </p:nvCxnSpPr>
        <p:spPr>
          <a:xfrm>
            <a:off x="2477650" y="1295387"/>
            <a:ext cx="1067700" cy="18600"/>
          </a:xfrm>
          <a:prstGeom prst="straightConnector1">
            <a:avLst/>
          </a:prstGeom>
          <a:noFill/>
          <a:ln cap="flat" cmpd="sng" w="9525">
            <a:solidFill>
              <a:schemeClr val="dk2"/>
            </a:solidFill>
            <a:prstDash val="solid"/>
            <a:round/>
            <a:headEnd len="med" w="med" type="none"/>
            <a:tailEnd len="med" w="med" type="triangle"/>
          </a:ln>
        </p:spPr>
      </p:cxnSp>
      <p:cxnSp>
        <p:nvCxnSpPr>
          <p:cNvPr id="1105" name="Google Shape;1105;g2c6577b9d44_0_1250"/>
          <p:cNvCxnSpPr>
            <a:stCxn id="1103" idx="2"/>
            <a:endCxn id="1101" idx="0"/>
          </p:cNvCxnSpPr>
          <p:nvPr/>
        </p:nvCxnSpPr>
        <p:spPr>
          <a:xfrm>
            <a:off x="4737500" y="1493175"/>
            <a:ext cx="377100" cy="595800"/>
          </a:xfrm>
          <a:prstGeom prst="straightConnector1">
            <a:avLst/>
          </a:prstGeom>
          <a:noFill/>
          <a:ln cap="flat" cmpd="sng" w="9525">
            <a:solidFill>
              <a:schemeClr val="dk2"/>
            </a:solidFill>
            <a:prstDash val="solid"/>
            <a:round/>
            <a:headEnd len="med" w="med" type="none"/>
            <a:tailEnd len="med" w="med" type="triangle"/>
          </a:ln>
        </p:spPr>
      </p:cxnSp>
      <p:sp>
        <p:nvSpPr>
          <p:cNvPr id="1106" name="Google Shape;1106;g2c6577b9d44_0_1250"/>
          <p:cNvSpPr/>
          <p:nvPr/>
        </p:nvSpPr>
        <p:spPr>
          <a:xfrm>
            <a:off x="7515600" y="2411525"/>
            <a:ext cx="613800" cy="118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инструмент</a:t>
            </a:r>
            <a:endParaRPr>
              <a:latin typeface="Golos Text"/>
              <a:ea typeface="Golos Text"/>
              <a:cs typeface="Golos Text"/>
              <a:sym typeface="Golos Text"/>
            </a:endParaRPr>
          </a:p>
        </p:txBody>
      </p:sp>
      <p:pic>
        <p:nvPicPr>
          <p:cNvPr id="1107" name="Google Shape;1107;g2c6577b9d44_0_1250"/>
          <p:cNvPicPr preferRelativeResize="0"/>
          <p:nvPr/>
        </p:nvPicPr>
        <p:blipFill rotWithShape="1">
          <a:blip r:embed="rId4">
            <a:alphaModFix/>
          </a:blip>
          <a:srcRect b="15732" l="19465" r="69783" t="0"/>
          <a:stretch/>
        </p:blipFill>
        <p:spPr>
          <a:xfrm>
            <a:off x="1483675" y="1906378"/>
            <a:ext cx="768974" cy="2341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2c6577b9d44_0_1342"/>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Transfer Learning</a:t>
            </a:r>
            <a:endParaRPr/>
          </a:p>
        </p:txBody>
      </p:sp>
      <p:sp>
        <p:nvSpPr>
          <p:cNvPr id="1113" name="Google Shape;1113;g2c6577b9d44_0_13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114" name="Google Shape;1114;g2c6577b9d44_0_1342"/>
          <p:cNvSpPr txBox="1"/>
          <p:nvPr/>
        </p:nvSpPr>
        <p:spPr>
          <a:xfrm>
            <a:off x="0" y="4650850"/>
            <a:ext cx="751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t>Обзорная статья про Transfer Learning:</a:t>
            </a:r>
            <a:endParaRPr sz="1000"/>
          </a:p>
          <a:p>
            <a:pPr indent="0" lvl="0" marL="0" rtl="0" algn="l">
              <a:spcBef>
                <a:spcPts val="0"/>
              </a:spcBef>
              <a:spcAft>
                <a:spcPts val="0"/>
              </a:spcAft>
              <a:buNone/>
            </a:pPr>
            <a:r>
              <a:rPr lang="ru-RU" sz="1000"/>
              <a:t>Wang M., Deng W. Deep visual domain adaptation: A survey // Neurocomputing. 2018 Vol. 312 pp.135-153.</a:t>
            </a:r>
            <a:endParaRPr sz="1000"/>
          </a:p>
        </p:txBody>
      </p:sp>
      <p:pic>
        <p:nvPicPr>
          <p:cNvPr id="1115" name="Google Shape;1115;g2c6577b9d44_0_1342"/>
          <p:cNvPicPr preferRelativeResize="0"/>
          <p:nvPr/>
        </p:nvPicPr>
        <p:blipFill rotWithShape="1">
          <a:blip r:embed="rId3">
            <a:alphaModFix/>
          </a:blip>
          <a:srcRect b="0" l="13232" r="0" t="0"/>
          <a:stretch/>
        </p:blipFill>
        <p:spPr>
          <a:xfrm>
            <a:off x="2252650" y="2088825"/>
            <a:ext cx="5723952" cy="2226400"/>
          </a:xfrm>
          <a:prstGeom prst="rect">
            <a:avLst/>
          </a:prstGeom>
          <a:noFill/>
          <a:ln>
            <a:noFill/>
          </a:ln>
        </p:spPr>
      </p:pic>
      <p:sp>
        <p:nvSpPr>
          <p:cNvPr id="1116" name="Google Shape;1116;g2c6577b9d44_0_1342"/>
          <p:cNvSpPr/>
          <p:nvPr/>
        </p:nvSpPr>
        <p:spPr>
          <a:xfrm>
            <a:off x="457200" y="879900"/>
            <a:ext cx="2020450" cy="830975"/>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Жанры</a:t>
            </a:r>
            <a:endParaRPr>
              <a:latin typeface="Golos Text"/>
              <a:ea typeface="Golos Text"/>
              <a:cs typeface="Golos Text"/>
              <a:sym typeface="Golos Text"/>
            </a:endParaRPr>
          </a:p>
        </p:txBody>
      </p:sp>
      <p:sp>
        <p:nvSpPr>
          <p:cNvPr id="1117" name="Google Shape;1117;g2c6577b9d44_0_1342"/>
          <p:cNvSpPr/>
          <p:nvPr/>
        </p:nvSpPr>
        <p:spPr>
          <a:xfrm>
            <a:off x="3545300" y="1134675"/>
            <a:ext cx="2384400" cy="358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Доо</a:t>
            </a:r>
            <a:r>
              <a:rPr lang="ru-RU">
                <a:latin typeface="Golos Text"/>
                <a:ea typeface="Golos Text"/>
                <a:cs typeface="Golos Text"/>
                <a:sym typeface="Golos Text"/>
              </a:rPr>
              <a:t>бучение системы</a:t>
            </a:r>
            <a:endParaRPr>
              <a:latin typeface="Golos Text"/>
              <a:ea typeface="Golos Text"/>
              <a:cs typeface="Golos Text"/>
              <a:sym typeface="Golos Text"/>
            </a:endParaRPr>
          </a:p>
        </p:txBody>
      </p:sp>
      <p:cxnSp>
        <p:nvCxnSpPr>
          <p:cNvPr id="1118" name="Google Shape;1118;g2c6577b9d44_0_1342"/>
          <p:cNvCxnSpPr>
            <a:stCxn id="1116" idx="4"/>
            <a:endCxn id="1117" idx="1"/>
          </p:cNvCxnSpPr>
          <p:nvPr/>
        </p:nvCxnSpPr>
        <p:spPr>
          <a:xfrm>
            <a:off x="2477650" y="1295387"/>
            <a:ext cx="1067700" cy="18600"/>
          </a:xfrm>
          <a:prstGeom prst="straightConnector1">
            <a:avLst/>
          </a:prstGeom>
          <a:noFill/>
          <a:ln cap="flat" cmpd="sng" w="9525">
            <a:solidFill>
              <a:schemeClr val="dk2"/>
            </a:solidFill>
            <a:prstDash val="solid"/>
            <a:round/>
            <a:headEnd len="med" w="med" type="none"/>
            <a:tailEnd len="med" w="med" type="triangle"/>
          </a:ln>
        </p:spPr>
      </p:cxnSp>
      <p:cxnSp>
        <p:nvCxnSpPr>
          <p:cNvPr id="1119" name="Google Shape;1119;g2c6577b9d44_0_1342"/>
          <p:cNvCxnSpPr>
            <a:stCxn id="1117" idx="2"/>
          </p:cNvCxnSpPr>
          <p:nvPr/>
        </p:nvCxnSpPr>
        <p:spPr>
          <a:xfrm>
            <a:off x="4737500" y="1493175"/>
            <a:ext cx="1925400" cy="158100"/>
          </a:xfrm>
          <a:prstGeom prst="straightConnector1">
            <a:avLst/>
          </a:prstGeom>
          <a:noFill/>
          <a:ln cap="flat" cmpd="sng" w="9525">
            <a:solidFill>
              <a:schemeClr val="dk2"/>
            </a:solidFill>
            <a:prstDash val="solid"/>
            <a:round/>
            <a:headEnd len="med" w="med" type="none"/>
            <a:tailEnd len="med" w="med" type="triangle"/>
          </a:ln>
        </p:spPr>
      </p:cxnSp>
      <p:sp>
        <p:nvSpPr>
          <p:cNvPr id="1120" name="Google Shape;1120;g2c6577b9d44_0_1342"/>
          <p:cNvSpPr/>
          <p:nvPr/>
        </p:nvSpPr>
        <p:spPr>
          <a:xfrm>
            <a:off x="7515600" y="2411525"/>
            <a:ext cx="613800" cy="118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инструмент</a:t>
            </a:r>
            <a:endParaRPr>
              <a:latin typeface="Golos Text"/>
              <a:ea typeface="Golos Text"/>
              <a:cs typeface="Golos Text"/>
              <a:sym typeface="Golos Text"/>
            </a:endParaRPr>
          </a:p>
        </p:txBody>
      </p:sp>
      <p:pic>
        <p:nvPicPr>
          <p:cNvPr id="1121" name="Google Shape;1121;g2c6577b9d44_0_1342"/>
          <p:cNvPicPr preferRelativeResize="0"/>
          <p:nvPr/>
        </p:nvPicPr>
        <p:blipFill rotWithShape="1">
          <a:blip r:embed="rId4">
            <a:alphaModFix/>
          </a:blip>
          <a:srcRect b="15732" l="19465" r="69783" t="0"/>
          <a:stretch/>
        </p:blipFill>
        <p:spPr>
          <a:xfrm>
            <a:off x="1483675" y="1906378"/>
            <a:ext cx="768974" cy="2341050"/>
          </a:xfrm>
          <a:prstGeom prst="rect">
            <a:avLst/>
          </a:prstGeom>
          <a:noFill/>
          <a:ln>
            <a:noFill/>
          </a:ln>
        </p:spPr>
      </p:pic>
      <p:pic>
        <p:nvPicPr>
          <p:cNvPr id="1122" name="Google Shape;1122;g2c6577b9d44_0_1342"/>
          <p:cNvPicPr preferRelativeResize="0"/>
          <p:nvPr/>
        </p:nvPicPr>
        <p:blipFill>
          <a:blip r:embed="rId5">
            <a:alphaModFix/>
          </a:blip>
          <a:stretch>
            <a:fillRect/>
          </a:stretch>
        </p:blipFill>
        <p:spPr>
          <a:xfrm>
            <a:off x="7374450" y="1313975"/>
            <a:ext cx="189650" cy="1043025"/>
          </a:xfrm>
          <a:prstGeom prst="rect">
            <a:avLst/>
          </a:prstGeom>
          <a:noFill/>
          <a:ln>
            <a:noFill/>
          </a:ln>
        </p:spPr>
      </p:pic>
      <p:sp>
        <p:nvSpPr>
          <p:cNvPr id="1123" name="Google Shape;1123;g2c6577b9d44_0_1342"/>
          <p:cNvSpPr/>
          <p:nvPr/>
        </p:nvSpPr>
        <p:spPr>
          <a:xfrm>
            <a:off x="7599450" y="1048575"/>
            <a:ext cx="613800" cy="118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жанры</a:t>
            </a:r>
            <a:endParaRPr>
              <a:latin typeface="Golos Text"/>
              <a:ea typeface="Golos Text"/>
              <a:cs typeface="Golos Text"/>
              <a:sym typeface="Golos Text"/>
            </a:endParaRPr>
          </a:p>
        </p:txBody>
      </p:sp>
      <p:cxnSp>
        <p:nvCxnSpPr>
          <p:cNvPr id="1124" name="Google Shape;1124;g2c6577b9d44_0_1342"/>
          <p:cNvCxnSpPr/>
          <p:nvPr/>
        </p:nvCxnSpPr>
        <p:spPr>
          <a:xfrm flipH="1">
            <a:off x="7341725" y="2395225"/>
            <a:ext cx="1173300" cy="1265400"/>
          </a:xfrm>
          <a:prstGeom prst="straightConnector1">
            <a:avLst/>
          </a:prstGeom>
          <a:noFill/>
          <a:ln cap="flat" cmpd="sng" w="9525">
            <a:solidFill>
              <a:schemeClr val="accent1"/>
            </a:solidFill>
            <a:prstDash val="solid"/>
            <a:round/>
            <a:headEnd len="med" w="med" type="none"/>
            <a:tailEnd len="med" w="med" type="none"/>
          </a:ln>
        </p:spPr>
      </p:cxnSp>
      <p:cxnSp>
        <p:nvCxnSpPr>
          <p:cNvPr id="1125" name="Google Shape;1125;g2c6577b9d44_0_1342"/>
          <p:cNvCxnSpPr/>
          <p:nvPr/>
        </p:nvCxnSpPr>
        <p:spPr>
          <a:xfrm>
            <a:off x="7317450" y="2449625"/>
            <a:ext cx="1010100" cy="1113300"/>
          </a:xfrm>
          <a:prstGeom prst="straightConnector1">
            <a:avLst/>
          </a:prstGeom>
          <a:noFill/>
          <a:ln cap="flat" cmpd="sng" w="9525">
            <a:solidFill>
              <a:schemeClr val="accent1"/>
            </a:solidFill>
            <a:prstDash val="solid"/>
            <a:round/>
            <a:headEnd len="med" w="med" type="none"/>
            <a:tailEnd len="med" w="med" type="none"/>
          </a:ln>
        </p:spPr>
      </p:cxnSp>
      <p:sp>
        <p:nvSpPr>
          <p:cNvPr id="1126" name="Google Shape;1126;g2c6577b9d44_0_1342"/>
          <p:cNvSpPr/>
          <p:nvPr/>
        </p:nvSpPr>
        <p:spPr>
          <a:xfrm>
            <a:off x="2296100" y="1955300"/>
            <a:ext cx="4345200" cy="2695500"/>
          </a:xfrm>
          <a:prstGeom prst="rect">
            <a:avLst/>
          </a:prstGeom>
          <a:noFill/>
          <a:ln cap="flat" cmpd="sng" w="76200">
            <a:solidFill>
              <a:srgbClr val="0000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ru-RU">
                <a:solidFill>
                  <a:srgbClr val="0000FF"/>
                </a:solidFill>
                <a:latin typeface="Golos Text"/>
                <a:ea typeface="Golos Text"/>
                <a:cs typeface="Golos Text"/>
                <a:sym typeface="Golos Text"/>
              </a:rPr>
              <a:t>Морозим</a:t>
            </a:r>
            <a:endParaRPr>
              <a:solidFill>
                <a:srgbClr val="0000FF"/>
              </a:solidFill>
              <a:latin typeface="Golos Text"/>
              <a:ea typeface="Golos Text"/>
              <a:cs typeface="Golos Text"/>
              <a:sym typeface="Golos Text"/>
            </a:endParaRPr>
          </a:p>
        </p:txBody>
      </p:sp>
      <p:sp>
        <p:nvSpPr>
          <p:cNvPr id="1127" name="Google Shape;1127;g2c6577b9d44_0_1342"/>
          <p:cNvSpPr/>
          <p:nvPr/>
        </p:nvSpPr>
        <p:spPr>
          <a:xfrm>
            <a:off x="6725375" y="1265500"/>
            <a:ext cx="1735200" cy="3411000"/>
          </a:xfrm>
          <a:prstGeom prst="rect">
            <a:avLst/>
          </a:prstGeom>
          <a:noFill/>
          <a:ln cap="flat" cmpd="sng" w="76200">
            <a:solidFill>
              <a:schemeClr val="accent1"/>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ru-RU">
                <a:solidFill>
                  <a:schemeClr val="accent1"/>
                </a:solidFill>
                <a:latin typeface="Golos Text"/>
                <a:ea typeface="Golos Text"/>
                <a:cs typeface="Golos Text"/>
                <a:sym typeface="Golos Text"/>
              </a:rPr>
              <a:t>Обучаем</a:t>
            </a:r>
            <a:endParaRPr>
              <a:solidFill>
                <a:schemeClr val="accent1"/>
              </a:solidFill>
              <a:latin typeface="Golos Text"/>
              <a:ea typeface="Golos Text"/>
              <a:cs typeface="Golos Text"/>
              <a:sym typeface="Golos Tex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2c6577b9d44_0_136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133" name="Google Shape;1133;g2c6577b9d44_0_13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134" name="Google Shape;1134;g2c6577b9d44_0_1361"/>
          <p:cNvSpPr/>
          <p:nvPr/>
        </p:nvSpPr>
        <p:spPr>
          <a:xfrm>
            <a:off x="1297500" y="1422250"/>
            <a:ext cx="3539400" cy="2972700"/>
          </a:xfrm>
          <a:prstGeom prst="ellipse">
            <a:avLst/>
          </a:prstGeom>
          <a:solidFill>
            <a:srgbClr val="82C7A5"/>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g2c6577b9d44_0_1361"/>
          <p:cNvSpPr txBox="1"/>
          <p:nvPr/>
        </p:nvSpPr>
        <p:spPr>
          <a:xfrm>
            <a:off x="1955100" y="4437725"/>
            <a:ext cx="2373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Computational linguistic </a:t>
            </a:r>
            <a:endParaRPr b="0" i="0" sz="1400" u="none" cap="none" strike="noStrike">
              <a:solidFill>
                <a:schemeClr val="dk1"/>
              </a:solidFill>
              <a:latin typeface="Lato"/>
              <a:ea typeface="Lato"/>
              <a:cs typeface="Lato"/>
              <a:sym typeface="Lato"/>
            </a:endParaRPr>
          </a:p>
        </p:txBody>
      </p:sp>
      <p:sp>
        <p:nvSpPr>
          <p:cNvPr id="1136" name="Google Shape;1136;g2c6577b9d44_0_1361"/>
          <p:cNvSpPr/>
          <p:nvPr/>
        </p:nvSpPr>
        <p:spPr>
          <a:xfrm>
            <a:off x="3543300" y="2021050"/>
            <a:ext cx="2057400" cy="1970700"/>
          </a:xfrm>
          <a:prstGeom prst="ellipse">
            <a:avLst/>
          </a:prstGeom>
          <a:solidFill>
            <a:srgbClr val="00FF00"/>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2c6577b9d44_0_1361"/>
          <p:cNvSpPr txBox="1"/>
          <p:nvPr/>
        </p:nvSpPr>
        <p:spPr>
          <a:xfrm>
            <a:off x="1574800" y="3323050"/>
            <a:ext cx="335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Lato"/>
                <a:ea typeface="Lato"/>
                <a:cs typeface="Lato"/>
                <a:sym typeface="Lato"/>
              </a:rPr>
              <a:t>Natural Language Processing</a:t>
            </a:r>
            <a:r>
              <a:rPr b="0" i="0" lang="ru-RU" sz="1400" u="none" cap="none" strike="noStrike">
                <a:solidFill>
                  <a:srgbClr val="000000"/>
                </a:solidFill>
                <a:latin typeface="Lato"/>
                <a:ea typeface="Lato"/>
                <a:cs typeface="Lato"/>
                <a:sym typeface="Lato"/>
              </a:rPr>
              <a:t> (NLP)</a:t>
            </a:r>
            <a:endParaRPr b="0" i="0" sz="1400" u="none" cap="none" strike="noStrike">
              <a:solidFill>
                <a:srgbClr val="000000"/>
              </a:solidFill>
              <a:latin typeface="Lato"/>
              <a:ea typeface="Lato"/>
              <a:cs typeface="Lato"/>
              <a:sym typeface="Lato"/>
            </a:endParaRPr>
          </a:p>
        </p:txBody>
      </p:sp>
      <p:sp>
        <p:nvSpPr>
          <p:cNvPr id="1138" name="Google Shape;1138;g2c6577b9d44_0_1361"/>
          <p:cNvSpPr/>
          <p:nvPr/>
        </p:nvSpPr>
        <p:spPr>
          <a:xfrm>
            <a:off x="2393550" y="2117825"/>
            <a:ext cx="1497000" cy="1267200"/>
          </a:xfrm>
          <a:prstGeom prst="ellipse">
            <a:avLst/>
          </a:prstGeom>
          <a:solidFill>
            <a:srgbClr val="FF99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2c6577b9d44_0_1361"/>
          <p:cNvSpPr txBox="1"/>
          <p:nvPr/>
        </p:nvSpPr>
        <p:spPr>
          <a:xfrm>
            <a:off x="5600700" y="3032350"/>
            <a:ext cx="2373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Mathematical linguistics </a:t>
            </a:r>
            <a:endParaRPr b="0" i="0" sz="1400" u="none" cap="none" strike="noStrike">
              <a:solidFill>
                <a:schemeClr val="dk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g2c6577b9d44_0_137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145" name="Google Shape;1145;g2c6577b9d44_0_13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solidFill>
                  <a:schemeClr val="dk1"/>
                </a:solidFill>
              </a:rPr>
              <a:t>‹#›</a:t>
            </a:fld>
            <a:endParaRPr>
              <a:solidFill>
                <a:schemeClr val="dk1"/>
              </a:solidFill>
            </a:endParaRPr>
          </a:p>
        </p:txBody>
      </p:sp>
      <p:sp>
        <p:nvSpPr>
          <p:cNvPr id="1146" name="Google Shape;1146;g2c6577b9d44_0_1372"/>
          <p:cNvSpPr/>
          <p:nvPr/>
        </p:nvSpPr>
        <p:spPr>
          <a:xfrm>
            <a:off x="19248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47" name="Google Shape;1147;g2c6577b9d44_0_1372"/>
          <p:cNvSpPr/>
          <p:nvPr/>
        </p:nvSpPr>
        <p:spPr>
          <a:xfrm>
            <a:off x="19248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48" name="Google Shape;1148;g2c6577b9d44_0_1372"/>
          <p:cNvSpPr/>
          <p:nvPr/>
        </p:nvSpPr>
        <p:spPr>
          <a:xfrm>
            <a:off x="19248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49" name="Google Shape;1149;g2c6577b9d44_0_1372"/>
          <p:cNvSpPr/>
          <p:nvPr/>
        </p:nvSpPr>
        <p:spPr>
          <a:xfrm>
            <a:off x="19248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50" name="Google Shape;1150;g2c6577b9d44_0_1372"/>
          <p:cNvSpPr/>
          <p:nvPr/>
        </p:nvSpPr>
        <p:spPr>
          <a:xfrm>
            <a:off x="70389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1151" name="Google Shape;1151;g2c6577b9d44_0_1372"/>
          <p:cNvSpPr/>
          <p:nvPr/>
        </p:nvSpPr>
        <p:spPr>
          <a:xfrm>
            <a:off x="70389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52" name="Google Shape;1152;g2c6577b9d44_0_1372"/>
          <p:cNvSpPr/>
          <p:nvPr/>
        </p:nvSpPr>
        <p:spPr>
          <a:xfrm>
            <a:off x="70389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53" name="Google Shape;1153;g2c6577b9d44_0_1372"/>
          <p:cNvSpPr/>
          <p:nvPr/>
        </p:nvSpPr>
        <p:spPr>
          <a:xfrm>
            <a:off x="70389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54" name="Google Shape;1154;g2c6577b9d44_0_1372"/>
          <p:cNvSpPr/>
          <p:nvPr/>
        </p:nvSpPr>
        <p:spPr>
          <a:xfrm>
            <a:off x="25341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.12</a:t>
            </a:r>
            <a:endParaRPr b="0" i="0" sz="1200" u="none" cap="none" strike="noStrike">
              <a:solidFill>
                <a:schemeClr val="dk1"/>
              </a:solidFill>
              <a:latin typeface="Arial"/>
              <a:ea typeface="Arial"/>
              <a:cs typeface="Arial"/>
              <a:sym typeface="Arial"/>
            </a:endParaRPr>
          </a:p>
        </p:txBody>
      </p:sp>
      <p:sp>
        <p:nvSpPr>
          <p:cNvPr id="1155" name="Google Shape;1155;g2c6577b9d44_0_1372"/>
          <p:cNvSpPr/>
          <p:nvPr/>
        </p:nvSpPr>
        <p:spPr>
          <a:xfrm>
            <a:off x="25341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156" name="Google Shape;1156;g2c6577b9d44_0_1372"/>
          <p:cNvSpPr/>
          <p:nvPr/>
        </p:nvSpPr>
        <p:spPr>
          <a:xfrm>
            <a:off x="25341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57" name="Google Shape;1157;g2c6577b9d44_0_1372"/>
          <p:cNvSpPr/>
          <p:nvPr/>
        </p:nvSpPr>
        <p:spPr>
          <a:xfrm>
            <a:off x="25341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158" name="Google Shape;1158;g2c6577b9d44_0_1372"/>
          <p:cNvSpPr/>
          <p:nvPr/>
        </p:nvSpPr>
        <p:spPr>
          <a:xfrm>
            <a:off x="88275" y="15318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D1: Мама папа мама дочь сын</a:t>
            </a:r>
            <a:endParaRPr b="0" i="0" sz="1400" u="none" cap="none" strike="noStrike">
              <a:solidFill>
                <a:schemeClr val="dk1"/>
              </a:solidFill>
              <a:latin typeface="Arial"/>
              <a:ea typeface="Arial"/>
              <a:cs typeface="Arial"/>
              <a:sym typeface="Arial"/>
            </a:endParaRPr>
          </a:p>
        </p:txBody>
      </p:sp>
      <p:sp>
        <p:nvSpPr>
          <p:cNvPr id="1159" name="Google Shape;1159;g2c6577b9d44_0_1372"/>
          <p:cNvSpPr/>
          <p:nvPr/>
        </p:nvSpPr>
        <p:spPr>
          <a:xfrm>
            <a:off x="88275" y="22989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D2: Мама мама мама сын сын</a:t>
            </a:r>
            <a:endParaRPr b="0" i="0" sz="1400" u="none" cap="none" strike="noStrike">
              <a:solidFill>
                <a:schemeClr val="dk1"/>
              </a:solidFill>
              <a:latin typeface="Arial"/>
              <a:ea typeface="Arial"/>
              <a:cs typeface="Arial"/>
              <a:sym typeface="Arial"/>
            </a:endParaRPr>
          </a:p>
        </p:txBody>
      </p:sp>
      <p:sp>
        <p:nvSpPr>
          <p:cNvPr id="1160" name="Google Shape;1160;g2c6577b9d44_0_1372"/>
          <p:cNvSpPr/>
          <p:nvPr/>
        </p:nvSpPr>
        <p:spPr>
          <a:xfrm>
            <a:off x="88275" y="30660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D3: Папа дочь мама сын дочь</a:t>
            </a:r>
            <a:endParaRPr b="0" i="0" sz="1400" u="none" cap="none" strike="noStrike">
              <a:solidFill>
                <a:schemeClr val="dk1"/>
              </a:solidFill>
              <a:latin typeface="Arial"/>
              <a:ea typeface="Arial"/>
              <a:cs typeface="Arial"/>
              <a:sym typeface="Arial"/>
            </a:endParaRPr>
          </a:p>
        </p:txBody>
      </p:sp>
      <p:sp>
        <p:nvSpPr>
          <p:cNvPr id="1161" name="Google Shape;1161;g2c6577b9d44_0_1372"/>
          <p:cNvSpPr/>
          <p:nvPr/>
        </p:nvSpPr>
        <p:spPr>
          <a:xfrm>
            <a:off x="88275" y="38331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D4: Папа папа папа сын дочь</a:t>
            </a:r>
            <a:endParaRPr b="0" i="0" sz="1400" u="none" cap="none" strike="noStrike">
              <a:solidFill>
                <a:schemeClr val="dk1"/>
              </a:solidFill>
              <a:latin typeface="Arial"/>
              <a:ea typeface="Arial"/>
              <a:cs typeface="Arial"/>
              <a:sym typeface="Arial"/>
            </a:endParaRPr>
          </a:p>
        </p:txBody>
      </p:sp>
      <p:sp>
        <p:nvSpPr>
          <p:cNvPr id="1162" name="Google Shape;1162;g2c6577b9d44_0_1372"/>
          <p:cNvSpPr/>
          <p:nvPr/>
        </p:nvSpPr>
        <p:spPr>
          <a:xfrm>
            <a:off x="23310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63" name="Google Shape;1163;g2c6577b9d44_0_1372"/>
          <p:cNvSpPr/>
          <p:nvPr/>
        </p:nvSpPr>
        <p:spPr>
          <a:xfrm>
            <a:off x="23310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64" name="Google Shape;1164;g2c6577b9d44_0_1372"/>
          <p:cNvSpPr/>
          <p:nvPr/>
        </p:nvSpPr>
        <p:spPr>
          <a:xfrm>
            <a:off x="23310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65" name="Google Shape;1165;g2c6577b9d44_0_1372"/>
          <p:cNvSpPr/>
          <p:nvPr/>
        </p:nvSpPr>
        <p:spPr>
          <a:xfrm>
            <a:off x="23310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66" name="Google Shape;1166;g2c6577b9d44_0_1372"/>
          <p:cNvSpPr/>
          <p:nvPr/>
        </p:nvSpPr>
        <p:spPr>
          <a:xfrm>
            <a:off x="27372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67" name="Google Shape;1167;g2c6577b9d44_0_1372"/>
          <p:cNvSpPr/>
          <p:nvPr/>
        </p:nvSpPr>
        <p:spPr>
          <a:xfrm>
            <a:off x="27372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68" name="Google Shape;1168;g2c6577b9d44_0_1372"/>
          <p:cNvSpPr/>
          <p:nvPr/>
        </p:nvSpPr>
        <p:spPr>
          <a:xfrm>
            <a:off x="27372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69" name="Google Shape;1169;g2c6577b9d44_0_1372"/>
          <p:cNvSpPr/>
          <p:nvPr/>
        </p:nvSpPr>
        <p:spPr>
          <a:xfrm>
            <a:off x="27372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0" name="Google Shape;1170;g2c6577b9d44_0_1372"/>
          <p:cNvSpPr/>
          <p:nvPr/>
        </p:nvSpPr>
        <p:spPr>
          <a:xfrm>
            <a:off x="31558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71" name="Google Shape;1171;g2c6577b9d44_0_1372"/>
          <p:cNvSpPr/>
          <p:nvPr/>
        </p:nvSpPr>
        <p:spPr>
          <a:xfrm>
            <a:off x="31558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2" name="Google Shape;1172;g2c6577b9d44_0_1372"/>
          <p:cNvSpPr/>
          <p:nvPr/>
        </p:nvSpPr>
        <p:spPr>
          <a:xfrm>
            <a:off x="31558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3" name="Google Shape;1173;g2c6577b9d44_0_1372"/>
          <p:cNvSpPr/>
          <p:nvPr/>
        </p:nvSpPr>
        <p:spPr>
          <a:xfrm>
            <a:off x="31558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4" name="Google Shape;1174;g2c6577b9d44_0_1372"/>
          <p:cNvSpPr/>
          <p:nvPr/>
        </p:nvSpPr>
        <p:spPr>
          <a:xfrm>
            <a:off x="74451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175" name="Google Shape;1175;g2c6577b9d44_0_1372"/>
          <p:cNvSpPr/>
          <p:nvPr/>
        </p:nvSpPr>
        <p:spPr>
          <a:xfrm>
            <a:off x="74451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76" name="Google Shape;1176;g2c6577b9d44_0_1372"/>
          <p:cNvSpPr/>
          <p:nvPr/>
        </p:nvSpPr>
        <p:spPr>
          <a:xfrm>
            <a:off x="74451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7" name="Google Shape;1177;g2c6577b9d44_0_1372"/>
          <p:cNvSpPr/>
          <p:nvPr/>
        </p:nvSpPr>
        <p:spPr>
          <a:xfrm>
            <a:off x="74451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78" name="Google Shape;1178;g2c6577b9d44_0_1372"/>
          <p:cNvSpPr/>
          <p:nvPr/>
        </p:nvSpPr>
        <p:spPr>
          <a:xfrm>
            <a:off x="78513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79" name="Google Shape;1179;g2c6577b9d44_0_1372"/>
          <p:cNvSpPr/>
          <p:nvPr/>
        </p:nvSpPr>
        <p:spPr>
          <a:xfrm>
            <a:off x="78513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80" name="Google Shape;1180;g2c6577b9d44_0_1372"/>
          <p:cNvSpPr/>
          <p:nvPr/>
        </p:nvSpPr>
        <p:spPr>
          <a:xfrm>
            <a:off x="78513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81" name="Google Shape;1181;g2c6577b9d44_0_1372"/>
          <p:cNvSpPr/>
          <p:nvPr/>
        </p:nvSpPr>
        <p:spPr>
          <a:xfrm>
            <a:off x="78513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1182" name="Google Shape;1182;g2c6577b9d44_0_1372"/>
          <p:cNvSpPr/>
          <p:nvPr/>
        </p:nvSpPr>
        <p:spPr>
          <a:xfrm>
            <a:off x="82699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183" name="Google Shape;1183;g2c6577b9d44_0_1372"/>
          <p:cNvSpPr/>
          <p:nvPr/>
        </p:nvSpPr>
        <p:spPr>
          <a:xfrm>
            <a:off x="82699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184" name="Google Shape;1184;g2c6577b9d44_0_1372"/>
          <p:cNvSpPr/>
          <p:nvPr/>
        </p:nvSpPr>
        <p:spPr>
          <a:xfrm>
            <a:off x="82699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85" name="Google Shape;1185;g2c6577b9d44_0_1372"/>
          <p:cNvSpPr/>
          <p:nvPr/>
        </p:nvSpPr>
        <p:spPr>
          <a:xfrm>
            <a:off x="82699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186" name="Google Shape;1186;g2c6577b9d44_0_1372"/>
          <p:cNvSpPr/>
          <p:nvPr/>
        </p:nvSpPr>
        <p:spPr>
          <a:xfrm>
            <a:off x="29403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
        <p:nvSpPr>
          <p:cNvPr id="1187" name="Google Shape;1187;g2c6577b9d44_0_1372"/>
          <p:cNvSpPr/>
          <p:nvPr/>
        </p:nvSpPr>
        <p:spPr>
          <a:xfrm>
            <a:off x="29403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88" name="Google Shape;1188;g2c6577b9d44_0_1372"/>
          <p:cNvSpPr/>
          <p:nvPr/>
        </p:nvSpPr>
        <p:spPr>
          <a:xfrm>
            <a:off x="29403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89" name="Google Shape;1189;g2c6577b9d44_0_1372"/>
          <p:cNvSpPr/>
          <p:nvPr/>
        </p:nvSpPr>
        <p:spPr>
          <a:xfrm>
            <a:off x="29403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90" name="Google Shape;1190;g2c6577b9d44_0_1372"/>
          <p:cNvSpPr/>
          <p:nvPr/>
        </p:nvSpPr>
        <p:spPr>
          <a:xfrm>
            <a:off x="33589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191" name="Google Shape;1191;g2c6577b9d44_0_1372"/>
          <p:cNvSpPr/>
          <p:nvPr/>
        </p:nvSpPr>
        <p:spPr>
          <a:xfrm>
            <a:off x="33589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192" name="Google Shape;1192;g2c6577b9d44_0_1372"/>
          <p:cNvSpPr/>
          <p:nvPr/>
        </p:nvSpPr>
        <p:spPr>
          <a:xfrm>
            <a:off x="33589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93" name="Google Shape;1193;g2c6577b9d44_0_1372"/>
          <p:cNvSpPr/>
          <p:nvPr/>
        </p:nvSpPr>
        <p:spPr>
          <a:xfrm>
            <a:off x="33589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.12</a:t>
            </a:r>
            <a:endParaRPr b="0" i="0" sz="1200" u="none" cap="none" strike="noStrike">
              <a:solidFill>
                <a:schemeClr val="dk1"/>
              </a:solidFill>
              <a:latin typeface="Arial"/>
              <a:ea typeface="Arial"/>
              <a:cs typeface="Arial"/>
              <a:sym typeface="Arial"/>
            </a:endParaRPr>
          </a:p>
        </p:txBody>
      </p:sp>
      <p:sp>
        <p:nvSpPr>
          <p:cNvPr id="1194" name="Google Shape;1194;g2c6577b9d44_0_1372"/>
          <p:cNvSpPr/>
          <p:nvPr/>
        </p:nvSpPr>
        <p:spPr>
          <a:xfrm>
            <a:off x="37775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95" name="Google Shape;1195;g2c6577b9d44_0_1372"/>
          <p:cNvSpPr/>
          <p:nvPr/>
        </p:nvSpPr>
        <p:spPr>
          <a:xfrm>
            <a:off x="37775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
        <p:nvSpPr>
          <p:cNvPr id="1196" name="Google Shape;1196;g2c6577b9d44_0_1372"/>
          <p:cNvSpPr/>
          <p:nvPr/>
        </p:nvSpPr>
        <p:spPr>
          <a:xfrm>
            <a:off x="37775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197" name="Google Shape;1197;g2c6577b9d44_0_1372"/>
          <p:cNvSpPr/>
          <p:nvPr/>
        </p:nvSpPr>
        <p:spPr>
          <a:xfrm>
            <a:off x="3777525" y="4664050"/>
            <a:ext cx="406200" cy="393600"/>
          </a:xfrm>
          <a:prstGeom prst="rect">
            <a:avLst/>
          </a:prstGeom>
          <a:solidFill>
            <a:srgbClr val="00B0F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198" name="Google Shape;1198;g2c6577b9d44_0_1372"/>
          <p:cNvSpPr txBox="1"/>
          <p:nvPr/>
        </p:nvSpPr>
        <p:spPr>
          <a:xfrm>
            <a:off x="3678500" y="1411525"/>
            <a:ext cx="118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Мешок слов</a:t>
            </a:r>
            <a:endParaRPr b="0" i="0" sz="2000" u="none" cap="none" strike="noStrike">
              <a:solidFill>
                <a:schemeClr val="dk1"/>
              </a:solidFill>
              <a:latin typeface="Lato"/>
              <a:ea typeface="Lato"/>
              <a:cs typeface="Lato"/>
              <a:sym typeface="Lato"/>
            </a:endParaRPr>
          </a:p>
        </p:txBody>
      </p:sp>
      <p:sp>
        <p:nvSpPr>
          <p:cNvPr id="1199" name="Google Shape;1199;g2c6577b9d44_0_1372"/>
          <p:cNvSpPr txBox="1"/>
          <p:nvPr/>
        </p:nvSpPr>
        <p:spPr>
          <a:xfrm>
            <a:off x="5033524" y="1811725"/>
            <a:ext cx="19602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Частотный мешок слов</a:t>
            </a:r>
            <a:endParaRPr b="0" i="0" sz="2000" u="none" cap="none" strike="noStrike">
              <a:solidFill>
                <a:schemeClr val="dk1"/>
              </a:solidFill>
              <a:latin typeface="Lato"/>
              <a:ea typeface="Lato"/>
              <a:cs typeface="Lato"/>
              <a:sym typeface="Lato"/>
            </a:endParaRPr>
          </a:p>
        </p:txBody>
      </p:sp>
      <p:sp>
        <p:nvSpPr>
          <p:cNvPr id="1200" name="Google Shape;1200;g2c6577b9d44_0_1372"/>
          <p:cNvSpPr txBox="1"/>
          <p:nvPr/>
        </p:nvSpPr>
        <p:spPr>
          <a:xfrm>
            <a:off x="4706913" y="2886938"/>
            <a:ext cx="1187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tf-idf </a:t>
            </a:r>
            <a:endParaRPr b="0" i="0" sz="2000" u="none" cap="none" strike="noStrike">
              <a:solidFill>
                <a:schemeClr val="dk1"/>
              </a:solidFill>
              <a:latin typeface="Lato"/>
              <a:ea typeface="Lato"/>
              <a:cs typeface="Lato"/>
              <a:sym typeface="Lato"/>
            </a:endParaRPr>
          </a:p>
        </p:txBody>
      </p:sp>
      <p:sp>
        <p:nvSpPr>
          <p:cNvPr id="1201" name="Google Shape;1201;g2c6577b9d44_0_1372"/>
          <p:cNvSpPr txBox="1"/>
          <p:nvPr/>
        </p:nvSpPr>
        <p:spPr>
          <a:xfrm>
            <a:off x="1806201" y="34832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мама</a:t>
            </a:r>
            <a:endParaRPr b="0" i="0" sz="1400" u="none" cap="none" strike="noStrike">
              <a:solidFill>
                <a:schemeClr val="dk1"/>
              </a:solidFill>
              <a:latin typeface="Lato"/>
              <a:ea typeface="Lato"/>
              <a:cs typeface="Lato"/>
              <a:sym typeface="Lato"/>
            </a:endParaRPr>
          </a:p>
        </p:txBody>
      </p:sp>
      <p:sp>
        <p:nvSpPr>
          <p:cNvPr id="1202" name="Google Shape;1202;g2c6577b9d44_0_1372"/>
          <p:cNvSpPr txBox="1"/>
          <p:nvPr/>
        </p:nvSpPr>
        <p:spPr>
          <a:xfrm>
            <a:off x="1806201" y="38331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папа</a:t>
            </a:r>
            <a:endParaRPr b="0" i="0" sz="1400" u="none" cap="none" strike="noStrike">
              <a:solidFill>
                <a:schemeClr val="dk1"/>
              </a:solidFill>
              <a:latin typeface="Lato"/>
              <a:ea typeface="Lato"/>
              <a:cs typeface="Lato"/>
              <a:sym typeface="Lato"/>
            </a:endParaRPr>
          </a:p>
        </p:txBody>
      </p:sp>
      <p:sp>
        <p:nvSpPr>
          <p:cNvPr id="1203" name="Google Shape;1203;g2c6577b9d44_0_1372"/>
          <p:cNvSpPr txBox="1"/>
          <p:nvPr/>
        </p:nvSpPr>
        <p:spPr>
          <a:xfrm>
            <a:off x="1806201" y="42333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сын</a:t>
            </a:r>
            <a:endParaRPr b="0" i="0" sz="1400" u="none" cap="none" strike="noStrike">
              <a:solidFill>
                <a:schemeClr val="dk1"/>
              </a:solidFill>
              <a:latin typeface="Lato"/>
              <a:ea typeface="Lato"/>
              <a:cs typeface="Lato"/>
              <a:sym typeface="Lato"/>
            </a:endParaRPr>
          </a:p>
        </p:txBody>
      </p:sp>
      <p:sp>
        <p:nvSpPr>
          <p:cNvPr id="1204" name="Google Shape;1204;g2c6577b9d44_0_1372"/>
          <p:cNvSpPr txBox="1"/>
          <p:nvPr/>
        </p:nvSpPr>
        <p:spPr>
          <a:xfrm>
            <a:off x="1790276" y="46607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дочь</a:t>
            </a:r>
            <a:endParaRPr b="0" i="0" sz="1400" u="none" cap="none" strike="noStrike">
              <a:solidFill>
                <a:schemeClr val="dk1"/>
              </a:solidFill>
              <a:latin typeface="Lato"/>
              <a:ea typeface="Lato"/>
              <a:cs typeface="Lato"/>
              <a:sym typeface="Lato"/>
            </a:endParaRPr>
          </a:p>
        </p:txBody>
      </p:sp>
      <p:sp>
        <p:nvSpPr>
          <p:cNvPr id="1205" name="Google Shape;1205;g2c6577b9d44_0_1372"/>
          <p:cNvSpPr txBox="1"/>
          <p:nvPr/>
        </p:nvSpPr>
        <p:spPr>
          <a:xfrm>
            <a:off x="2196476" y="31651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p:txBody>
      </p:sp>
      <p:sp>
        <p:nvSpPr>
          <p:cNvPr id="1206" name="Google Shape;1206;g2c6577b9d44_0_1372"/>
          <p:cNvSpPr txBox="1"/>
          <p:nvPr/>
        </p:nvSpPr>
        <p:spPr>
          <a:xfrm>
            <a:off x="2509325" y="3083050"/>
            <a:ext cx="5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D1</a:t>
            </a:r>
            <a:endParaRPr b="0" i="0" sz="1400" u="none" cap="none" strike="noStrike">
              <a:solidFill>
                <a:schemeClr val="dk1"/>
              </a:solidFill>
              <a:latin typeface="Lato"/>
              <a:ea typeface="Lato"/>
              <a:cs typeface="Lato"/>
              <a:sym typeface="Lato"/>
            </a:endParaRPr>
          </a:p>
        </p:txBody>
      </p:sp>
      <p:sp>
        <p:nvSpPr>
          <p:cNvPr id="1207" name="Google Shape;1207;g2c6577b9d44_0_1372"/>
          <p:cNvSpPr txBox="1"/>
          <p:nvPr/>
        </p:nvSpPr>
        <p:spPr>
          <a:xfrm>
            <a:off x="3805350" y="3083050"/>
            <a:ext cx="5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D4</a:t>
            </a:r>
            <a:endParaRPr b="0" i="0" sz="1400" u="none" cap="none" strike="noStrike">
              <a:solidFill>
                <a:schemeClr val="dk1"/>
              </a:solidFill>
              <a:latin typeface="Lato"/>
              <a:ea typeface="Lato"/>
              <a:cs typeface="Lato"/>
              <a:sym typeface="Lato"/>
            </a:endParaRPr>
          </a:p>
        </p:txBody>
      </p:sp>
      <p:sp>
        <p:nvSpPr>
          <p:cNvPr id="1208" name="Google Shape;1208;g2c6577b9d44_0_1372"/>
          <p:cNvSpPr txBox="1"/>
          <p:nvPr/>
        </p:nvSpPr>
        <p:spPr>
          <a:xfrm>
            <a:off x="4533301" y="3483250"/>
            <a:ext cx="38406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TF-IDF(t, d) = TF(t, d)*IDF(t,d)</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TF(t,d) = count(t) in d / all(t) in d</a:t>
            </a:r>
            <a:br>
              <a:rPr b="0" i="0" lang="ru-RU" sz="1400" u="none" cap="none" strike="noStrike">
                <a:solidFill>
                  <a:schemeClr val="dk1"/>
                </a:solidFill>
                <a:latin typeface="Lato"/>
                <a:ea typeface="Lato"/>
                <a:cs typeface="Lato"/>
                <a:sym typeface="Lato"/>
              </a:rPr>
            </a:br>
            <a:r>
              <a:rPr b="0" i="0" lang="ru-RU" sz="1400" u="none" cap="none" strike="noStrike">
                <a:solidFill>
                  <a:schemeClr val="dk1"/>
                </a:solidFill>
                <a:latin typeface="Lato"/>
                <a:ea typeface="Lato"/>
                <a:cs typeface="Lato"/>
                <a:sym typeface="Lato"/>
              </a:rPr>
              <a:t>IDF(t, d) = ln(all(d) / count(d with t)</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TF-IDF(мама, D1) = ⅖ * ln(4/3) =0.115</a:t>
            </a:r>
            <a:endParaRPr b="0" i="0" sz="1400" u="none" cap="none" strike="noStrike">
              <a:solidFill>
                <a:schemeClr val="dk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2c6577b9d44_0_144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214" name="Google Shape;1214;g2c6577b9d44_0_14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solidFill>
                  <a:schemeClr val="dk1"/>
                </a:solidFill>
              </a:rPr>
              <a:t>‹#›</a:t>
            </a:fld>
            <a:endParaRPr>
              <a:solidFill>
                <a:schemeClr val="dk1"/>
              </a:solidFill>
            </a:endParaRPr>
          </a:p>
        </p:txBody>
      </p:sp>
      <p:sp>
        <p:nvSpPr>
          <p:cNvPr id="1215" name="Google Shape;1215;g2c6577b9d44_0_1440"/>
          <p:cNvSpPr/>
          <p:nvPr/>
        </p:nvSpPr>
        <p:spPr>
          <a:xfrm>
            <a:off x="19248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16" name="Google Shape;1216;g2c6577b9d44_0_1440"/>
          <p:cNvSpPr/>
          <p:nvPr/>
        </p:nvSpPr>
        <p:spPr>
          <a:xfrm>
            <a:off x="19248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17" name="Google Shape;1217;g2c6577b9d44_0_1440"/>
          <p:cNvSpPr/>
          <p:nvPr/>
        </p:nvSpPr>
        <p:spPr>
          <a:xfrm>
            <a:off x="19248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18" name="Google Shape;1218;g2c6577b9d44_0_1440"/>
          <p:cNvSpPr/>
          <p:nvPr/>
        </p:nvSpPr>
        <p:spPr>
          <a:xfrm>
            <a:off x="19248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19" name="Google Shape;1219;g2c6577b9d44_0_1440"/>
          <p:cNvSpPr/>
          <p:nvPr/>
        </p:nvSpPr>
        <p:spPr>
          <a:xfrm>
            <a:off x="70389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1220" name="Google Shape;1220;g2c6577b9d44_0_1440"/>
          <p:cNvSpPr/>
          <p:nvPr/>
        </p:nvSpPr>
        <p:spPr>
          <a:xfrm>
            <a:off x="70389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21" name="Google Shape;1221;g2c6577b9d44_0_1440"/>
          <p:cNvSpPr/>
          <p:nvPr/>
        </p:nvSpPr>
        <p:spPr>
          <a:xfrm>
            <a:off x="70389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22" name="Google Shape;1222;g2c6577b9d44_0_1440"/>
          <p:cNvSpPr/>
          <p:nvPr/>
        </p:nvSpPr>
        <p:spPr>
          <a:xfrm>
            <a:off x="70389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23" name="Google Shape;1223;g2c6577b9d44_0_1440"/>
          <p:cNvSpPr/>
          <p:nvPr/>
        </p:nvSpPr>
        <p:spPr>
          <a:xfrm>
            <a:off x="25341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.12</a:t>
            </a:r>
            <a:endParaRPr b="0" i="0" sz="1200" u="none" cap="none" strike="noStrike">
              <a:solidFill>
                <a:schemeClr val="dk1"/>
              </a:solidFill>
              <a:latin typeface="Arial"/>
              <a:ea typeface="Arial"/>
              <a:cs typeface="Arial"/>
              <a:sym typeface="Arial"/>
            </a:endParaRPr>
          </a:p>
        </p:txBody>
      </p:sp>
      <p:sp>
        <p:nvSpPr>
          <p:cNvPr id="1224" name="Google Shape;1224;g2c6577b9d44_0_1440"/>
          <p:cNvSpPr/>
          <p:nvPr/>
        </p:nvSpPr>
        <p:spPr>
          <a:xfrm>
            <a:off x="25341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225" name="Google Shape;1225;g2c6577b9d44_0_1440"/>
          <p:cNvSpPr/>
          <p:nvPr/>
        </p:nvSpPr>
        <p:spPr>
          <a:xfrm>
            <a:off x="25341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26" name="Google Shape;1226;g2c6577b9d44_0_1440"/>
          <p:cNvSpPr/>
          <p:nvPr/>
        </p:nvSpPr>
        <p:spPr>
          <a:xfrm>
            <a:off x="25341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227" name="Google Shape;1227;g2c6577b9d44_0_1440"/>
          <p:cNvSpPr/>
          <p:nvPr/>
        </p:nvSpPr>
        <p:spPr>
          <a:xfrm>
            <a:off x="88275" y="15318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D1: Мама папа мама дочь сын</a:t>
            </a:r>
            <a:endParaRPr b="0" i="0" sz="1400" u="none" cap="none" strike="noStrike">
              <a:solidFill>
                <a:schemeClr val="dk1"/>
              </a:solidFill>
              <a:latin typeface="Arial"/>
              <a:ea typeface="Arial"/>
              <a:cs typeface="Arial"/>
              <a:sym typeface="Arial"/>
            </a:endParaRPr>
          </a:p>
        </p:txBody>
      </p:sp>
      <p:sp>
        <p:nvSpPr>
          <p:cNvPr id="1228" name="Google Shape;1228;g2c6577b9d44_0_1440"/>
          <p:cNvSpPr/>
          <p:nvPr/>
        </p:nvSpPr>
        <p:spPr>
          <a:xfrm>
            <a:off x="88275" y="22989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D2: Мама мама мама сын сын</a:t>
            </a:r>
            <a:endParaRPr b="0" i="0" sz="1400" u="none" cap="none" strike="noStrike">
              <a:solidFill>
                <a:schemeClr val="dk1"/>
              </a:solidFill>
              <a:latin typeface="Arial"/>
              <a:ea typeface="Arial"/>
              <a:cs typeface="Arial"/>
              <a:sym typeface="Arial"/>
            </a:endParaRPr>
          </a:p>
        </p:txBody>
      </p:sp>
      <p:sp>
        <p:nvSpPr>
          <p:cNvPr id="1229" name="Google Shape;1229;g2c6577b9d44_0_1440"/>
          <p:cNvSpPr/>
          <p:nvPr/>
        </p:nvSpPr>
        <p:spPr>
          <a:xfrm>
            <a:off x="88275" y="30660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D3: Папа дочь мама сын дочь</a:t>
            </a:r>
            <a:endParaRPr b="0" i="0" sz="1400" u="none" cap="none" strike="noStrike">
              <a:solidFill>
                <a:schemeClr val="dk1"/>
              </a:solidFill>
              <a:latin typeface="Arial"/>
              <a:ea typeface="Arial"/>
              <a:cs typeface="Arial"/>
              <a:sym typeface="Arial"/>
            </a:endParaRPr>
          </a:p>
        </p:txBody>
      </p:sp>
      <p:sp>
        <p:nvSpPr>
          <p:cNvPr id="1230" name="Google Shape;1230;g2c6577b9d44_0_1440"/>
          <p:cNvSpPr/>
          <p:nvPr/>
        </p:nvSpPr>
        <p:spPr>
          <a:xfrm>
            <a:off x="88275" y="3833150"/>
            <a:ext cx="1665300" cy="7671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D4: Папа папа папа сын дочь</a:t>
            </a:r>
            <a:endParaRPr b="0" i="0" sz="1400" u="none" cap="none" strike="noStrike">
              <a:solidFill>
                <a:schemeClr val="dk1"/>
              </a:solidFill>
              <a:latin typeface="Arial"/>
              <a:ea typeface="Arial"/>
              <a:cs typeface="Arial"/>
              <a:sym typeface="Arial"/>
            </a:endParaRPr>
          </a:p>
        </p:txBody>
      </p:sp>
      <p:sp>
        <p:nvSpPr>
          <p:cNvPr id="1231" name="Google Shape;1231;g2c6577b9d44_0_1440"/>
          <p:cNvSpPr/>
          <p:nvPr/>
        </p:nvSpPr>
        <p:spPr>
          <a:xfrm>
            <a:off x="23310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2" name="Google Shape;1232;g2c6577b9d44_0_1440"/>
          <p:cNvSpPr/>
          <p:nvPr/>
        </p:nvSpPr>
        <p:spPr>
          <a:xfrm>
            <a:off x="23310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33" name="Google Shape;1233;g2c6577b9d44_0_1440"/>
          <p:cNvSpPr/>
          <p:nvPr/>
        </p:nvSpPr>
        <p:spPr>
          <a:xfrm>
            <a:off x="23310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4" name="Google Shape;1234;g2c6577b9d44_0_1440"/>
          <p:cNvSpPr/>
          <p:nvPr/>
        </p:nvSpPr>
        <p:spPr>
          <a:xfrm>
            <a:off x="23310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35" name="Google Shape;1235;g2c6577b9d44_0_1440"/>
          <p:cNvSpPr/>
          <p:nvPr/>
        </p:nvSpPr>
        <p:spPr>
          <a:xfrm>
            <a:off x="27372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6" name="Google Shape;1236;g2c6577b9d44_0_1440"/>
          <p:cNvSpPr/>
          <p:nvPr/>
        </p:nvSpPr>
        <p:spPr>
          <a:xfrm>
            <a:off x="27372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7" name="Google Shape;1237;g2c6577b9d44_0_1440"/>
          <p:cNvSpPr/>
          <p:nvPr/>
        </p:nvSpPr>
        <p:spPr>
          <a:xfrm>
            <a:off x="27372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8" name="Google Shape;1238;g2c6577b9d44_0_1440"/>
          <p:cNvSpPr/>
          <p:nvPr/>
        </p:nvSpPr>
        <p:spPr>
          <a:xfrm>
            <a:off x="27372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39" name="Google Shape;1239;g2c6577b9d44_0_1440"/>
          <p:cNvSpPr/>
          <p:nvPr/>
        </p:nvSpPr>
        <p:spPr>
          <a:xfrm>
            <a:off x="31558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40" name="Google Shape;1240;g2c6577b9d44_0_1440"/>
          <p:cNvSpPr/>
          <p:nvPr/>
        </p:nvSpPr>
        <p:spPr>
          <a:xfrm>
            <a:off x="31558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1" name="Google Shape;1241;g2c6577b9d44_0_1440"/>
          <p:cNvSpPr/>
          <p:nvPr/>
        </p:nvSpPr>
        <p:spPr>
          <a:xfrm>
            <a:off x="31558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2" name="Google Shape;1242;g2c6577b9d44_0_1440"/>
          <p:cNvSpPr/>
          <p:nvPr/>
        </p:nvSpPr>
        <p:spPr>
          <a:xfrm>
            <a:off x="31558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3" name="Google Shape;1243;g2c6577b9d44_0_1440"/>
          <p:cNvSpPr/>
          <p:nvPr/>
        </p:nvSpPr>
        <p:spPr>
          <a:xfrm>
            <a:off x="74451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244" name="Google Shape;1244;g2c6577b9d44_0_1440"/>
          <p:cNvSpPr/>
          <p:nvPr/>
        </p:nvSpPr>
        <p:spPr>
          <a:xfrm>
            <a:off x="74451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45" name="Google Shape;1245;g2c6577b9d44_0_1440"/>
          <p:cNvSpPr/>
          <p:nvPr/>
        </p:nvSpPr>
        <p:spPr>
          <a:xfrm>
            <a:off x="74451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6" name="Google Shape;1246;g2c6577b9d44_0_1440"/>
          <p:cNvSpPr/>
          <p:nvPr/>
        </p:nvSpPr>
        <p:spPr>
          <a:xfrm>
            <a:off x="74451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47" name="Google Shape;1247;g2c6577b9d44_0_1440"/>
          <p:cNvSpPr/>
          <p:nvPr/>
        </p:nvSpPr>
        <p:spPr>
          <a:xfrm>
            <a:off x="78513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8" name="Google Shape;1248;g2c6577b9d44_0_1440"/>
          <p:cNvSpPr/>
          <p:nvPr/>
        </p:nvSpPr>
        <p:spPr>
          <a:xfrm>
            <a:off x="78513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49" name="Google Shape;1249;g2c6577b9d44_0_1440"/>
          <p:cNvSpPr/>
          <p:nvPr/>
        </p:nvSpPr>
        <p:spPr>
          <a:xfrm>
            <a:off x="78513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50" name="Google Shape;1250;g2c6577b9d44_0_1440"/>
          <p:cNvSpPr/>
          <p:nvPr/>
        </p:nvSpPr>
        <p:spPr>
          <a:xfrm>
            <a:off x="78513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1251" name="Google Shape;1251;g2c6577b9d44_0_1440"/>
          <p:cNvSpPr/>
          <p:nvPr/>
        </p:nvSpPr>
        <p:spPr>
          <a:xfrm>
            <a:off x="8269925" y="14115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1252" name="Google Shape;1252;g2c6577b9d44_0_1440"/>
          <p:cNvSpPr/>
          <p:nvPr/>
        </p:nvSpPr>
        <p:spPr>
          <a:xfrm>
            <a:off x="8269925" y="18051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253" name="Google Shape;1253;g2c6577b9d44_0_1440"/>
          <p:cNvSpPr/>
          <p:nvPr/>
        </p:nvSpPr>
        <p:spPr>
          <a:xfrm>
            <a:off x="8269925" y="21987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54" name="Google Shape;1254;g2c6577b9d44_0_1440"/>
          <p:cNvSpPr/>
          <p:nvPr/>
        </p:nvSpPr>
        <p:spPr>
          <a:xfrm>
            <a:off x="8269925" y="25923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1255" name="Google Shape;1255;g2c6577b9d44_0_1440"/>
          <p:cNvSpPr/>
          <p:nvPr/>
        </p:nvSpPr>
        <p:spPr>
          <a:xfrm>
            <a:off x="29403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
        <p:nvSpPr>
          <p:cNvPr id="1256" name="Google Shape;1256;g2c6577b9d44_0_1440"/>
          <p:cNvSpPr/>
          <p:nvPr/>
        </p:nvSpPr>
        <p:spPr>
          <a:xfrm>
            <a:off x="29403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57" name="Google Shape;1257;g2c6577b9d44_0_1440"/>
          <p:cNvSpPr/>
          <p:nvPr/>
        </p:nvSpPr>
        <p:spPr>
          <a:xfrm>
            <a:off x="29403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58" name="Google Shape;1258;g2c6577b9d44_0_1440"/>
          <p:cNvSpPr/>
          <p:nvPr/>
        </p:nvSpPr>
        <p:spPr>
          <a:xfrm>
            <a:off x="29403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59" name="Google Shape;1259;g2c6577b9d44_0_1440"/>
          <p:cNvSpPr/>
          <p:nvPr/>
        </p:nvSpPr>
        <p:spPr>
          <a:xfrm>
            <a:off x="33589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260" name="Google Shape;1260;g2c6577b9d44_0_1440"/>
          <p:cNvSpPr/>
          <p:nvPr/>
        </p:nvSpPr>
        <p:spPr>
          <a:xfrm>
            <a:off x="33589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.06</a:t>
            </a:r>
            <a:endParaRPr b="0" i="0" sz="1200" u="none" cap="none" strike="noStrike">
              <a:solidFill>
                <a:schemeClr val="dk1"/>
              </a:solidFill>
              <a:latin typeface="Arial"/>
              <a:ea typeface="Arial"/>
              <a:cs typeface="Arial"/>
              <a:sym typeface="Arial"/>
            </a:endParaRPr>
          </a:p>
        </p:txBody>
      </p:sp>
      <p:sp>
        <p:nvSpPr>
          <p:cNvPr id="1261" name="Google Shape;1261;g2c6577b9d44_0_1440"/>
          <p:cNvSpPr/>
          <p:nvPr/>
        </p:nvSpPr>
        <p:spPr>
          <a:xfrm>
            <a:off x="33589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62" name="Google Shape;1262;g2c6577b9d44_0_1440"/>
          <p:cNvSpPr/>
          <p:nvPr/>
        </p:nvSpPr>
        <p:spPr>
          <a:xfrm>
            <a:off x="33589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.12</a:t>
            </a:r>
            <a:endParaRPr b="0" i="0" sz="1200" u="none" cap="none" strike="noStrike">
              <a:solidFill>
                <a:schemeClr val="dk1"/>
              </a:solidFill>
              <a:latin typeface="Arial"/>
              <a:ea typeface="Arial"/>
              <a:cs typeface="Arial"/>
              <a:sym typeface="Arial"/>
            </a:endParaRPr>
          </a:p>
        </p:txBody>
      </p:sp>
      <p:sp>
        <p:nvSpPr>
          <p:cNvPr id="1263" name="Google Shape;1263;g2c6577b9d44_0_1440"/>
          <p:cNvSpPr/>
          <p:nvPr/>
        </p:nvSpPr>
        <p:spPr>
          <a:xfrm>
            <a:off x="3777525" y="34832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64" name="Google Shape;1264;g2c6577b9d44_0_1440"/>
          <p:cNvSpPr/>
          <p:nvPr/>
        </p:nvSpPr>
        <p:spPr>
          <a:xfrm>
            <a:off x="3777525" y="38768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
        <p:nvSpPr>
          <p:cNvPr id="1265" name="Google Shape;1265;g2c6577b9d44_0_1440"/>
          <p:cNvSpPr/>
          <p:nvPr/>
        </p:nvSpPr>
        <p:spPr>
          <a:xfrm>
            <a:off x="3777525" y="42704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.00</a:t>
            </a:r>
            <a:endParaRPr b="0" i="0" sz="1200" u="none" cap="none" strike="noStrike">
              <a:solidFill>
                <a:schemeClr val="dk1"/>
              </a:solidFill>
              <a:latin typeface="Arial"/>
              <a:ea typeface="Arial"/>
              <a:cs typeface="Arial"/>
              <a:sym typeface="Arial"/>
            </a:endParaRPr>
          </a:p>
        </p:txBody>
      </p:sp>
      <p:sp>
        <p:nvSpPr>
          <p:cNvPr id="1266" name="Google Shape;1266;g2c6577b9d44_0_1440"/>
          <p:cNvSpPr/>
          <p:nvPr/>
        </p:nvSpPr>
        <p:spPr>
          <a:xfrm>
            <a:off x="3777525" y="4664050"/>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
        <p:nvSpPr>
          <p:cNvPr id="1267" name="Google Shape;1267;g2c6577b9d44_0_1440"/>
          <p:cNvSpPr txBox="1"/>
          <p:nvPr/>
        </p:nvSpPr>
        <p:spPr>
          <a:xfrm>
            <a:off x="3678500" y="1411525"/>
            <a:ext cx="118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Мешок слов</a:t>
            </a:r>
            <a:endParaRPr b="0" i="0" sz="2000" u="none" cap="none" strike="noStrike">
              <a:solidFill>
                <a:schemeClr val="dk1"/>
              </a:solidFill>
              <a:latin typeface="Lato"/>
              <a:ea typeface="Lato"/>
              <a:cs typeface="Lato"/>
              <a:sym typeface="Lato"/>
            </a:endParaRPr>
          </a:p>
        </p:txBody>
      </p:sp>
      <p:sp>
        <p:nvSpPr>
          <p:cNvPr id="1268" name="Google Shape;1268;g2c6577b9d44_0_1440"/>
          <p:cNvSpPr txBox="1"/>
          <p:nvPr/>
        </p:nvSpPr>
        <p:spPr>
          <a:xfrm>
            <a:off x="4706913" y="2886938"/>
            <a:ext cx="1187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tf-idf </a:t>
            </a:r>
            <a:endParaRPr b="0" i="0" sz="2000" u="none" cap="none" strike="noStrike">
              <a:solidFill>
                <a:schemeClr val="dk1"/>
              </a:solidFill>
              <a:latin typeface="Lato"/>
              <a:ea typeface="Lato"/>
              <a:cs typeface="Lato"/>
              <a:sym typeface="Lato"/>
            </a:endParaRPr>
          </a:p>
        </p:txBody>
      </p:sp>
      <p:sp>
        <p:nvSpPr>
          <p:cNvPr id="1269" name="Google Shape;1269;g2c6577b9d44_0_1440"/>
          <p:cNvSpPr txBox="1"/>
          <p:nvPr/>
        </p:nvSpPr>
        <p:spPr>
          <a:xfrm>
            <a:off x="1806201" y="34832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мама</a:t>
            </a:r>
            <a:endParaRPr b="0" i="0" sz="1400" u="none" cap="none" strike="noStrike">
              <a:solidFill>
                <a:schemeClr val="dk1"/>
              </a:solidFill>
              <a:latin typeface="Lato"/>
              <a:ea typeface="Lato"/>
              <a:cs typeface="Lato"/>
              <a:sym typeface="Lato"/>
            </a:endParaRPr>
          </a:p>
        </p:txBody>
      </p:sp>
      <p:sp>
        <p:nvSpPr>
          <p:cNvPr id="1270" name="Google Shape;1270;g2c6577b9d44_0_1440"/>
          <p:cNvSpPr txBox="1"/>
          <p:nvPr/>
        </p:nvSpPr>
        <p:spPr>
          <a:xfrm>
            <a:off x="1806201" y="38331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папа</a:t>
            </a:r>
            <a:endParaRPr b="0" i="0" sz="1400" u="none" cap="none" strike="noStrike">
              <a:solidFill>
                <a:schemeClr val="dk1"/>
              </a:solidFill>
              <a:latin typeface="Lato"/>
              <a:ea typeface="Lato"/>
              <a:cs typeface="Lato"/>
              <a:sym typeface="Lato"/>
            </a:endParaRPr>
          </a:p>
        </p:txBody>
      </p:sp>
      <p:sp>
        <p:nvSpPr>
          <p:cNvPr id="1271" name="Google Shape;1271;g2c6577b9d44_0_1440"/>
          <p:cNvSpPr txBox="1"/>
          <p:nvPr/>
        </p:nvSpPr>
        <p:spPr>
          <a:xfrm>
            <a:off x="1806201" y="42333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сын</a:t>
            </a:r>
            <a:endParaRPr b="0" i="0" sz="1400" u="none" cap="none" strike="noStrike">
              <a:solidFill>
                <a:schemeClr val="dk1"/>
              </a:solidFill>
              <a:latin typeface="Lato"/>
              <a:ea typeface="Lato"/>
              <a:cs typeface="Lato"/>
              <a:sym typeface="Lato"/>
            </a:endParaRPr>
          </a:p>
        </p:txBody>
      </p:sp>
      <p:sp>
        <p:nvSpPr>
          <p:cNvPr id="1272" name="Google Shape;1272;g2c6577b9d44_0_1440"/>
          <p:cNvSpPr txBox="1"/>
          <p:nvPr/>
        </p:nvSpPr>
        <p:spPr>
          <a:xfrm>
            <a:off x="1790276" y="46607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дочь</a:t>
            </a:r>
            <a:endParaRPr b="0" i="0" sz="1400" u="none" cap="none" strike="noStrike">
              <a:solidFill>
                <a:schemeClr val="dk1"/>
              </a:solidFill>
              <a:latin typeface="Lato"/>
              <a:ea typeface="Lato"/>
              <a:cs typeface="Lato"/>
              <a:sym typeface="Lato"/>
            </a:endParaRPr>
          </a:p>
        </p:txBody>
      </p:sp>
      <p:sp>
        <p:nvSpPr>
          <p:cNvPr id="1273" name="Google Shape;1273;g2c6577b9d44_0_1440"/>
          <p:cNvSpPr txBox="1"/>
          <p:nvPr/>
        </p:nvSpPr>
        <p:spPr>
          <a:xfrm>
            <a:off x="2196476" y="3165150"/>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p:txBody>
      </p:sp>
      <p:sp>
        <p:nvSpPr>
          <p:cNvPr id="1274" name="Google Shape;1274;g2c6577b9d44_0_1440"/>
          <p:cNvSpPr txBox="1"/>
          <p:nvPr/>
        </p:nvSpPr>
        <p:spPr>
          <a:xfrm>
            <a:off x="2509325" y="3083050"/>
            <a:ext cx="5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D1</a:t>
            </a:r>
            <a:endParaRPr b="0" i="0" sz="1400" u="none" cap="none" strike="noStrike">
              <a:solidFill>
                <a:schemeClr val="dk1"/>
              </a:solidFill>
              <a:latin typeface="Lato"/>
              <a:ea typeface="Lato"/>
              <a:cs typeface="Lato"/>
              <a:sym typeface="Lato"/>
            </a:endParaRPr>
          </a:p>
        </p:txBody>
      </p:sp>
      <p:sp>
        <p:nvSpPr>
          <p:cNvPr id="1275" name="Google Shape;1275;g2c6577b9d44_0_1440"/>
          <p:cNvSpPr txBox="1"/>
          <p:nvPr/>
        </p:nvSpPr>
        <p:spPr>
          <a:xfrm>
            <a:off x="3805350" y="3083050"/>
            <a:ext cx="5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D4</a:t>
            </a:r>
            <a:endParaRPr b="0" i="0" sz="1400" u="none" cap="none" strike="noStrike">
              <a:solidFill>
                <a:schemeClr val="dk1"/>
              </a:solidFill>
              <a:latin typeface="Lato"/>
              <a:ea typeface="Lato"/>
              <a:cs typeface="Lato"/>
              <a:sym typeface="Lato"/>
            </a:endParaRPr>
          </a:p>
        </p:txBody>
      </p:sp>
      <p:sp>
        <p:nvSpPr>
          <p:cNvPr id="1276" name="Google Shape;1276;g2c6577b9d44_0_1440"/>
          <p:cNvSpPr txBox="1"/>
          <p:nvPr/>
        </p:nvSpPr>
        <p:spPr>
          <a:xfrm>
            <a:off x="4533301" y="3483250"/>
            <a:ext cx="38295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TF-IDF(t, d) = TF(t, d)*IDF(t,d)</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TF(t,d) = count(t) in d / all(t) in d</a:t>
            </a:r>
            <a:br>
              <a:rPr b="0" i="0" lang="ru-RU" sz="1400" u="none" cap="none" strike="noStrike">
                <a:solidFill>
                  <a:schemeClr val="dk1"/>
                </a:solidFill>
                <a:latin typeface="Lato"/>
                <a:ea typeface="Lato"/>
                <a:cs typeface="Lato"/>
                <a:sym typeface="Lato"/>
              </a:rPr>
            </a:br>
            <a:r>
              <a:rPr b="0" i="0" lang="ru-RU" sz="1400" u="none" cap="none" strike="noStrike">
                <a:solidFill>
                  <a:schemeClr val="dk1"/>
                </a:solidFill>
                <a:latin typeface="Lato"/>
                <a:ea typeface="Lato"/>
                <a:cs typeface="Lato"/>
                <a:sym typeface="Lato"/>
              </a:rPr>
              <a:t>IDF(t, d) = ln(all(d) / count(d with t)</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TF-IDF(мама, D1) = ⅖ * ln(4/3) =0.115</a:t>
            </a:r>
            <a:endParaRPr b="0" i="0" sz="1400" u="none" cap="none" strike="noStrike">
              <a:solidFill>
                <a:schemeClr val="dk1"/>
              </a:solidFill>
              <a:latin typeface="Lato"/>
              <a:ea typeface="Lato"/>
              <a:cs typeface="Lato"/>
              <a:sym typeface="Lato"/>
            </a:endParaRPr>
          </a:p>
        </p:txBody>
      </p:sp>
      <p:sp>
        <p:nvSpPr>
          <p:cNvPr id="1277" name="Google Shape;1277;g2c6577b9d44_0_1440"/>
          <p:cNvSpPr txBox="1"/>
          <p:nvPr/>
        </p:nvSpPr>
        <p:spPr>
          <a:xfrm>
            <a:off x="5033524" y="1811725"/>
            <a:ext cx="19602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Частотный мешок слов</a:t>
            </a:r>
            <a:endParaRPr b="0" i="0" sz="2000" u="none" cap="none" strike="noStrike">
              <a:solidFill>
                <a:schemeClr val="dk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g2c6577b9d44_0_150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283" name="Google Shape;1283;g2c6577b9d44_0_15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284" name="Google Shape;1284;g2c6577b9d44_0_1508"/>
          <p:cNvSpPr txBox="1"/>
          <p:nvPr/>
        </p:nvSpPr>
        <p:spPr>
          <a:xfrm>
            <a:off x="3105375" y="1971925"/>
            <a:ext cx="5876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Латентно-семантический анализ (LSA) </a:t>
            </a:r>
            <a:endParaRPr b="0" i="0" sz="2000" u="none" cap="none" strike="noStrike">
              <a:solidFill>
                <a:schemeClr val="dk1"/>
              </a:solidFill>
              <a:latin typeface="Lato"/>
              <a:ea typeface="Lato"/>
              <a:cs typeface="Lato"/>
              <a:sym typeface="Lato"/>
            </a:endParaRPr>
          </a:p>
        </p:txBody>
      </p:sp>
      <p:pic>
        <p:nvPicPr>
          <p:cNvPr id="1285" name="Google Shape;1285;g2c6577b9d44_0_1508"/>
          <p:cNvPicPr preferRelativeResize="0"/>
          <p:nvPr/>
        </p:nvPicPr>
        <p:blipFill rotWithShape="1">
          <a:blip r:embed="rId3">
            <a:alphaModFix/>
          </a:blip>
          <a:srcRect b="0" l="0" r="0" t="0"/>
          <a:stretch/>
        </p:blipFill>
        <p:spPr>
          <a:xfrm>
            <a:off x="3004823" y="2586450"/>
            <a:ext cx="5941201" cy="191815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g2c6577b9d44_0_15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291" name="Google Shape;1291;g2c6577b9d44_0_1515"/>
          <p:cNvSpPr txBox="1"/>
          <p:nvPr>
            <p:ph idx="1" type="body"/>
          </p:nvPr>
        </p:nvSpPr>
        <p:spPr>
          <a:xfrm>
            <a:off x="1297500" y="979400"/>
            <a:ext cx="7038900" cy="870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1200"/>
              </a:spcAft>
              <a:buSzPts val="1529"/>
              <a:buNone/>
            </a:pPr>
            <a:r>
              <a:rPr lang="ru-RU" sz="1400" u="sng">
                <a:latin typeface="Arial"/>
                <a:ea typeface="Arial"/>
                <a:cs typeface="Arial"/>
                <a:sym typeface="Arial"/>
              </a:rPr>
              <a:t>Дистрибутивная семантика </a:t>
            </a:r>
            <a:r>
              <a:rPr lang="ru-RU" sz="1400">
                <a:latin typeface="Arial"/>
                <a:ea typeface="Arial"/>
                <a:cs typeface="Arial"/>
                <a:sym typeface="Arial"/>
              </a:rPr>
              <a:t>основывается на </a:t>
            </a:r>
            <a:r>
              <a:rPr b="1" lang="ru-RU" sz="1400">
                <a:latin typeface="Arial"/>
                <a:ea typeface="Arial"/>
                <a:cs typeface="Arial"/>
                <a:sym typeface="Arial"/>
              </a:rPr>
              <a:t>дистрибутивной гипотезе</a:t>
            </a:r>
            <a:r>
              <a:rPr lang="ru-RU" sz="1400">
                <a:latin typeface="Arial"/>
                <a:ea typeface="Arial"/>
                <a:cs typeface="Arial"/>
                <a:sym typeface="Arial"/>
              </a:rPr>
              <a:t>: лингвистические единицы, встречающиеся в схожих контекстах, имеют близкие значения</a:t>
            </a:r>
            <a:endParaRPr sz="1400"/>
          </a:p>
        </p:txBody>
      </p:sp>
      <p:sp>
        <p:nvSpPr>
          <p:cNvPr id="1292" name="Google Shape;1292;g2c6577b9d44_0_15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solidFill>
                  <a:schemeClr val="dk1"/>
                </a:solidFill>
              </a:rPr>
              <a:t>‹#›</a:t>
            </a:fld>
            <a:endParaRPr>
              <a:solidFill>
                <a:schemeClr val="dk1"/>
              </a:solidFill>
            </a:endParaRPr>
          </a:p>
        </p:txBody>
      </p:sp>
      <p:sp>
        <p:nvSpPr>
          <p:cNvPr id="1293" name="Google Shape;1293;g2c6577b9d44_0_1515"/>
          <p:cNvSpPr/>
          <p:nvPr/>
        </p:nvSpPr>
        <p:spPr>
          <a:xfrm>
            <a:off x="224550" y="2160175"/>
            <a:ext cx="2472900" cy="870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Мама папа сын сын папа мама мама дочь дочь папа дочь сын дочь</a:t>
            </a:r>
            <a:endParaRPr b="0" i="0" sz="1400" u="none" cap="none" strike="noStrike">
              <a:solidFill>
                <a:schemeClr val="dk1"/>
              </a:solidFill>
              <a:latin typeface="Arial"/>
              <a:ea typeface="Arial"/>
              <a:cs typeface="Arial"/>
              <a:sym typeface="Arial"/>
            </a:endParaRPr>
          </a:p>
        </p:txBody>
      </p:sp>
      <p:sp>
        <p:nvSpPr>
          <p:cNvPr id="1294" name="Google Shape;1294;g2c6577b9d44_0_1515"/>
          <p:cNvSpPr/>
          <p:nvPr/>
        </p:nvSpPr>
        <p:spPr>
          <a:xfrm>
            <a:off x="1047750" y="34791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295" name="Google Shape;1295;g2c6577b9d44_0_1515"/>
          <p:cNvSpPr/>
          <p:nvPr/>
        </p:nvSpPr>
        <p:spPr>
          <a:xfrm>
            <a:off x="1047750" y="38727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296" name="Google Shape;1296;g2c6577b9d44_0_1515"/>
          <p:cNvSpPr/>
          <p:nvPr/>
        </p:nvSpPr>
        <p:spPr>
          <a:xfrm>
            <a:off x="1047750" y="42663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a:t>
            </a:r>
            <a:endParaRPr b="0" i="0" sz="1200" u="none" cap="none" strike="noStrike">
              <a:solidFill>
                <a:schemeClr val="dk1"/>
              </a:solidFill>
              <a:latin typeface="Arial"/>
              <a:ea typeface="Arial"/>
              <a:cs typeface="Arial"/>
              <a:sym typeface="Arial"/>
            </a:endParaRPr>
          </a:p>
        </p:txBody>
      </p:sp>
      <p:sp>
        <p:nvSpPr>
          <p:cNvPr id="1297" name="Google Shape;1297;g2c6577b9d44_0_1515"/>
          <p:cNvSpPr/>
          <p:nvPr/>
        </p:nvSpPr>
        <p:spPr>
          <a:xfrm>
            <a:off x="1047750" y="46599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1298" name="Google Shape;1298;g2c6577b9d44_0_1515"/>
          <p:cNvSpPr/>
          <p:nvPr/>
        </p:nvSpPr>
        <p:spPr>
          <a:xfrm>
            <a:off x="1453950" y="34791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299" name="Google Shape;1299;g2c6577b9d44_0_1515"/>
          <p:cNvSpPr/>
          <p:nvPr/>
        </p:nvSpPr>
        <p:spPr>
          <a:xfrm>
            <a:off x="1453950" y="38727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a:t>
            </a:r>
            <a:endParaRPr b="0" i="0" sz="1200" u="none" cap="none" strike="noStrike">
              <a:solidFill>
                <a:schemeClr val="dk1"/>
              </a:solidFill>
              <a:latin typeface="Arial"/>
              <a:ea typeface="Arial"/>
              <a:cs typeface="Arial"/>
              <a:sym typeface="Arial"/>
            </a:endParaRPr>
          </a:p>
        </p:txBody>
      </p:sp>
      <p:sp>
        <p:nvSpPr>
          <p:cNvPr id="1300" name="Google Shape;1300;g2c6577b9d44_0_1515"/>
          <p:cNvSpPr/>
          <p:nvPr/>
        </p:nvSpPr>
        <p:spPr>
          <a:xfrm>
            <a:off x="1453950" y="42663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1" name="Google Shape;1301;g2c6577b9d44_0_1515"/>
          <p:cNvSpPr/>
          <p:nvPr/>
        </p:nvSpPr>
        <p:spPr>
          <a:xfrm>
            <a:off x="1453950" y="46599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2" name="Google Shape;1302;g2c6577b9d44_0_1515"/>
          <p:cNvSpPr/>
          <p:nvPr/>
        </p:nvSpPr>
        <p:spPr>
          <a:xfrm>
            <a:off x="1872550" y="34791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0</a:t>
            </a:r>
            <a:endParaRPr b="0" i="0" sz="1200" u="none" cap="none" strike="noStrike">
              <a:solidFill>
                <a:schemeClr val="dk1"/>
              </a:solidFill>
              <a:latin typeface="Arial"/>
              <a:ea typeface="Arial"/>
              <a:cs typeface="Arial"/>
              <a:sym typeface="Arial"/>
            </a:endParaRPr>
          </a:p>
        </p:txBody>
      </p:sp>
      <p:sp>
        <p:nvSpPr>
          <p:cNvPr id="1303" name="Google Shape;1303;g2c6577b9d44_0_1515"/>
          <p:cNvSpPr/>
          <p:nvPr/>
        </p:nvSpPr>
        <p:spPr>
          <a:xfrm>
            <a:off x="1872550" y="38727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4" name="Google Shape;1304;g2c6577b9d44_0_1515"/>
          <p:cNvSpPr/>
          <p:nvPr/>
        </p:nvSpPr>
        <p:spPr>
          <a:xfrm>
            <a:off x="1872550" y="42663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5" name="Google Shape;1305;g2c6577b9d44_0_1515"/>
          <p:cNvSpPr/>
          <p:nvPr/>
        </p:nvSpPr>
        <p:spPr>
          <a:xfrm>
            <a:off x="1872550" y="46599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6" name="Google Shape;1306;g2c6577b9d44_0_1515"/>
          <p:cNvSpPr/>
          <p:nvPr/>
        </p:nvSpPr>
        <p:spPr>
          <a:xfrm>
            <a:off x="2291150" y="34791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1307" name="Google Shape;1307;g2c6577b9d44_0_1515"/>
          <p:cNvSpPr/>
          <p:nvPr/>
        </p:nvSpPr>
        <p:spPr>
          <a:xfrm>
            <a:off x="2291150" y="38727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8" name="Google Shape;1308;g2c6577b9d44_0_1515"/>
          <p:cNvSpPr/>
          <p:nvPr/>
        </p:nvSpPr>
        <p:spPr>
          <a:xfrm>
            <a:off x="2291150" y="42663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09" name="Google Shape;1309;g2c6577b9d44_0_1515"/>
          <p:cNvSpPr/>
          <p:nvPr/>
        </p:nvSpPr>
        <p:spPr>
          <a:xfrm>
            <a:off x="2291150" y="4659925"/>
            <a:ext cx="406200" cy="393600"/>
          </a:xfrm>
          <a:prstGeom prst="rect">
            <a:avLst/>
          </a:prstGeom>
          <a:solidFill>
            <a:srgbClr val="FFE59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310" name="Google Shape;1310;g2c6577b9d44_0_1515"/>
          <p:cNvSpPr txBox="1"/>
          <p:nvPr/>
        </p:nvSpPr>
        <p:spPr>
          <a:xfrm>
            <a:off x="319826" y="3479125"/>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мама</a:t>
            </a:r>
            <a:endParaRPr b="0" i="0" sz="1400" u="none" cap="none" strike="noStrike">
              <a:solidFill>
                <a:schemeClr val="dk1"/>
              </a:solidFill>
              <a:latin typeface="Lato"/>
              <a:ea typeface="Lato"/>
              <a:cs typeface="Lato"/>
              <a:sym typeface="Lato"/>
            </a:endParaRPr>
          </a:p>
        </p:txBody>
      </p:sp>
      <p:sp>
        <p:nvSpPr>
          <p:cNvPr id="1311" name="Google Shape;1311;g2c6577b9d44_0_1515"/>
          <p:cNvSpPr txBox="1"/>
          <p:nvPr/>
        </p:nvSpPr>
        <p:spPr>
          <a:xfrm>
            <a:off x="319826" y="3829025"/>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папа</a:t>
            </a:r>
            <a:endParaRPr b="0" i="0" sz="1400" u="none" cap="none" strike="noStrike">
              <a:solidFill>
                <a:schemeClr val="dk1"/>
              </a:solidFill>
              <a:latin typeface="Lato"/>
              <a:ea typeface="Lato"/>
              <a:cs typeface="Lato"/>
              <a:sym typeface="Lato"/>
            </a:endParaRPr>
          </a:p>
        </p:txBody>
      </p:sp>
      <p:sp>
        <p:nvSpPr>
          <p:cNvPr id="1312" name="Google Shape;1312;g2c6577b9d44_0_1515"/>
          <p:cNvSpPr txBox="1"/>
          <p:nvPr/>
        </p:nvSpPr>
        <p:spPr>
          <a:xfrm>
            <a:off x="319826" y="4229225"/>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сын</a:t>
            </a:r>
            <a:endParaRPr b="0" i="0" sz="1400" u="none" cap="none" strike="noStrike">
              <a:solidFill>
                <a:schemeClr val="dk1"/>
              </a:solidFill>
              <a:latin typeface="Lato"/>
              <a:ea typeface="Lato"/>
              <a:cs typeface="Lato"/>
              <a:sym typeface="Lato"/>
            </a:endParaRPr>
          </a:p>
        </p:txBody>
      </p:sp>
      <p:sp>
        <p:nvSpPr>
          <p:cNvPr id="1313" name="Google Shape;1313;g2c6577b9d44_0_1515"/>
          <p:cNvSpPr txBox="1"/>
          <p:nvPr/>
        </p:nvSpPr>
        <p:spPr>
          <a:xfrm>
            <a:off x="303901" y="4656625"/>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дочь</a:t>
            </a:r>
            <a:endParaRPr b="0" i="0" sz="1400" u="none" cap="none" strike="noStrike">
              <a:solidFill>
                <a:schemeClr val="dk1"/>
              </a:solidFill>
              <a:latin typeface="Lato"/>
              <a:ea typeface="Lato"/>
              <a:cs typeface="Lato"/>
              <a:sym typeface="Lato"/>
            </a:endParaRPr>
          </a:p>
        </p:txBody>
      </p:sp>
      <p:sp>
        <p:nvSpPr>
          <p:cNvPr id="1314" name="Google Shape;1314;g2c6577b9d44_0_1515"/>
          <p:cNvSpPr txBox="1"/>
          <p:nvPr/>
        </p:nvSpPr>
        <p:spPr>
          <a:xfrm>
            <a:off x="710101" y="3161025"/>
            <a:ext cx="67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p:txBody>
      </p:sp>
      <p:sp>
        <p:nvSpPr>
          <p:cNvPr id="1315" name="Google Shape;1315;g2c6577b9d44_0_1515"/>
          <p:cNvSpPr txBox="1"/>
          <p:nvPr/>
        </p:nvSpPr>
        <p:spPr>
          <a:xfrm>
            <a:off x="979198" y="3054850"/>
            <a:ext cx="1918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100" u="none" cap="none" strike="noStrike">
                <a:solidFill>
                  <a:schemeClr val="dk1"/>
                </a:solidFill>
                <a:latin typeface="Lato"/>
                <a:ea typeface="Lato"/>
                <a:cs typeface="Lato"/>
                <a:sym typeface="Lato"/>
              </a:rPr>
              <a:t>мама папа  сын   дочь</a:t>
            </a:r>
            <a:endParaRPr b="0" i="0" sz="1100" u="none" cap="none" strike="noStrike">
              <a:solidFill>
                <a:schemeClr val="dk1"/>
              </a:solidFill>
              <a:latin typeface="Lato"/>
              <a:ea typeface="Lato"/>
              <a:cs typeface="Lato"/>
              <a:sym typeface="Lato"/>
            </a:endParaRPr>
          </a:p>
        </p:txBody>
      </p:sp>
      <p:sp>
        <p:nvSpPr>
          <p:cNvPr id="1316" name="Google Shape;1316;g2c6577b9d44_0_1515"/>
          <p:cNvSpPr txBox="1"/>
          <p:nvPr/>
        </p:nvSpPr>
        <p:spPr>
          <a:xfrm>
            <a:off x="3004825" y="1971925"/>
            <a:ext cx="527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ru-RU" sz="2000" u="none" cap="none" strike="noStrike">
                <a:solidFill>
                  <a:schemeClr val="dk1"/>
                </a:solidFill>
                <a:latin typeface="Lato"/>
                <a:ea typeface="Lato"/>
                <a:cs typeface="Lato"/>
                <a:sym typeface="Lato"/>
              </a:rPr>
              <a:t>Латентно-семантический анализ (LSA) </a:t>
            </a:r>
            <a:endParaRPr b="0" i="0" sz="2000" u="none" cap="none" strike="noStrike">
              <a:solidFill>
                <a:schemeClr val="dk1"/>
              </a:solidFill>
              <a:latin typeface="Lato"/>
              <a:ea typeface="Lato"/>
              <a:cs typeface="Lato"/>
              <a:sym typeface="Lato"/>
            </a:endParaRPr>
          </a:p>
        </p:txBody>
      </p:sp>
      <p:pic>
        <p:nvPicPr>
          <p:cNvPr id="1317" name="Google Shape;1317;g2c6577b9d44_0_1515"/>
          <p:cNvPicPr preferRelativeResize="0"/>
          <p:nvPr/>
        </p:nvPicPr>
        <p:blipFill rotWithShape="1">
          <a:blip r:embed="rId3">
            <a:alphaModFix/>
          </a:blip>
          <a:srcRect b="0" l="0" r="0" t="0"/>
          <a:stretch/>
        </p:blipFill>
        <p:spPr>
          <a:xfrm>
            <a:off x="3004823" y="2586450"/>
            <a:ext cx="5941201" cy="1918159"/>
          </a:xfrm>
          <a:prstGeom prst="rect">
            <a:avLst/>
          </a:prstGeom>
          <a:noFill/>
          <a:ln>
            <a:noFill/>
          </a:ln>
        </p:spPr>
      </p:pic>
      <p:sp>
        <p:nvSpPr>
          <p:cNvPr id="1318" name="Google Shape;1318;g2c6577b9d44_0_1515"/>
          <p:cNvSpPr txBox="1"/>
          <p:nvPr/>
        </p:nvSpPr>
        <p:spPr>
          <a:xfrm>
            <a:off x="166799" y="3054850"/>
            <a:ext cx="949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Lato"/>
                <a:ea typeface="Lato"/>
                <a:cs typeface="Lato"/>
                <a:sym typeface="Lato"/>
              </a:rPr>
              <a:t>окно =1</a:t>
            </a:r>
            <a:endParaRPr b="0" i="0" sz="1400" u="none" cap="none" strike="noStrike">
              <a:solidFill>
                <a:schemeClr val="dk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g2c6577b9d44_0_154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324" name="Google Shape;1324;g2c6577b9d44_0_1547"/>
          <p:cNvSpPr txBox="1"/>
          <p:nvPr>
            <p:ph idx="1" type="body"/>
          </p:nvPr>
        </p:nvSpPr>
        <p:spPr>
          <a:xfrm>
            <a:off x="1297500" y="979400"/>
            <a:ext cx="7038900" cy="870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1200"/>
              </a:spcAft>
              <a:buSzPts val="1529"/>
              <a:buNone/>
            </a:pPr>
            <a:r>
              <a:rPr lang="ru-RU" sz="1400" u="sng">
                <a:latin typeface="Arial"/>
                <a:ea typeface="Arial"/>
                <a:cs typeface="Arial"/>
                <a:sym typeface="Arial"/>
              </a:rPr>
              <a:t>Дистрибутивная семантика </a:t>
            </a:r>
            <a:r>
              <a:rPr lang="ru-RU" sz="1400">
                <a:latin typeface="Arial"/>
                <a:ea typeface="Arial"/>
                <a:cs typeface="Arial"/>
                <a:sym typeface="Arial"/>
              </a:rPr>
              <a:t>основывается на </a:t>
            </a:r>
            <a:r>
              <a:rPr b="1" lang="ru-RU" sz="1400">
                <a:latin typeface="Arial"/>
                <a:ea typeface="Arial"/>
                <a:cs typeface="Arial"/>
                <a:sym typeface="Arial"/>
              </a:rPr>
              <a:t>дистрибутивной гипотезе</a:t>
            </a:r>
            <a:r>
              <a:rPr lang="ru-RU" sz="1400">
                <a:latin typeface="Arial"/>
                <a:ea typeface="Arial"/>
                <a:cs typeface="Arial"/>
                <a:sym typeface="Arial"/>
              </a:rPr>
              <a:t>: лингвистические единицы, встречающиеся в схожих контекстах, имеют близкие значения</a:t>
            </a:r>
            <a:endParaRPr sz="1400"/>
          </a:p>
        </p:txBody>
      </p:sp>
      <p:sp>
        <p:nvSpPr>
          <p:cNvPr id="1325" name="Google Shape;1325;g2c6577b9d44_0_15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pic>
        <p:nvPicPr>
          <p:cNvPr id="1326" name="Google Shape;1326;g2c6577b9d44_0_1547"/>
          <p:cNvPicPr preferRelativeResize="0"/>
          <p:nvPr/>
        </p:nvPicPr>
        <p:blipFill rotWithShape="1">
          <a:blip r:embed="rId3">
            <a:alphaModFix/>
          </a:blip>
          <a:srcRect b="0" l="0" r="0" t="10273"/>
          <a:stretch/>
        </p:blipFill>
        <p:spPr>
          <a:xfrm>
            <a:off x="5912100" y="2106325"/>
            <a:ext cx="3231900" cy="2681600"/>
          </a:xfrm>
          <a:prstGeom prst="rect">
            <a:avLst/>
          </a:prstGeom>
          <a:noFill/>
          <a:ln>
            <a:noFill/>
          </a:ln>
        </p:spPr>
      </p:pic>
      <p:pic>
        <p:nvPicPr>
          <p:cNvPr id="1327" name="Google Shape;1327;g2c6577b9d44_0_1547"/>
          <p:cNvPicPr preferRelativeResize="0"/>
          <p:nvPr/>
        </p:nvPicPr>
        <p:blipFill rotWithShape="1">
          <a:blip r:embed="rId4">
            <a:alphaModFix/>
          </a:blip>
          <a:srcRect b="0" l="0" r="0" t="0"/>
          <a:stretch/>
        </p:blipFill>
        <p:spPr>
          <a:xfrm>
            <a:off x="88250" y="1813150"/>
            <a:ext cx="5607299" cy="296084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g2c6577b9d44_0_155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333" name="Google Shape;1333;g2c6577b9d44_0_1555"/>
          <p:cNvSpPr txBox="1"/>
          <p:nvPr>
            <p:ph idx="1" type="body"/>
          </p:nvPr>
        </p:nvSpPr>
        <p:spPr>
          <a:xfrm>
            <a:off x="388575" y="979400"/>
            <a:ext cx="4755000" cy="8172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677"/>
              <a:buNone/>
            </a:pPr>
            <a:r>
              <a:rPr lang="ru-RU" sz="1400" u="sng">
                <a:latin typeface="Arial"/>
                <a:ea typeface="Arial"/>
                <a:cs typeface="Arial"/>
                <a:sym typeface="Arial"/>
              </a:rPr>
              <a:t>Языковые модели</a:t>
            </a:r>
            <a:endParaRPr sz="1400" u="sng">
              <a:latin typeface="Arial"/>
              <a:ea typeface="Arial"/>
              <a:cs typeface="Arial"/>
              <a:sym typeface="Arial"/>
            </a:endParaRPr>
          </a:p>
          <a:p>
            <a:pPr indent="0" lvl="0" marL="0" rtl="0" algn="ctr">
              <a:lnSpc>
                <a:spcPct val="115000"/>
              </a:lnSpc>
              <a:spcBef>
                <a:spcPts val="1200"/>
              </a:spcBef>
              <a:spcAft>
                <a:spcPts val="1200"/>
              </a:spcAft>
              <a:buSzPts val="1677"/>
              <a:buNone/>
            </a:pPr>
            <a:r>
              <a:rPr lang="ru-RU" sz="1400">
                <a:latin typeface="Arial"/>
                <a:ea typeface="Arial"/>
                <a:cs typeface="Arial"/>
                <a:sym typeface="Arial"/>
              </a:rPr>
              <a:t>Контекстуализированные эмбеддинги - ELMO</a:t>
            </a:r>
            <a:endParaRPr sz="1400">
              <a:latin typeface="Arial"/>
              <a:ea typeface="Arial"/>
              <a:cs typeface="Arial"/>
              <a:sym typeface="Arial"/>
            </a:endParaRPr>
          </a:p>
        </p:txBody>
      </p:sp>
      <p:sp>
        <p:nvSpPr>
          <p:cNvPr id="1334" name="Google Shape;1334;g2c6577b9d44_0_15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335" name="Google Shape;1335;g2c6577b9d44_0_1555"/>
          <p:cNvSpPr txBox="1"/>
          <p:nvPr/>
        </p:nvSpPr>
        <p:spPr>
          <a:xfrm>
            <a:off x="0" y="4835700"/>
            <a:ext cx="6939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300"/>
              </a:spcAft>
              <a:buClr>
                <a:srgbClr val="000000"/>
              </a:buClr>
              <a:buSzPts val="800"/>
              <a:buFont typeface="Arial"/>
              <a:buNone/>
            </a:pPr>
            <a:r>
              <a:rPr b="0" i="0" lang="ru-RU" sz="800" u="none" cap="none" strike="noStrike">
                <a:solidFill>
                  <a:schemeClr val="dk1"/>
                </a:solidFill>
                <a:latin typeface="Arial"/>
                <a:ea typeface="Arial"/>
                <a:cs typeface="Arial"/>
                <a:sym typeface="Arial"/>
              </a:rPr>
              <a:t>BERT, ELMO и Ко в картинках (как в NLP пришло трансферное обучение) - https://habr.com/ru/post/487358/</a:t>
            </a:r>
            <a:endParaRPr b="0" i="0" sz="800" u="none" cap="none" strike="noStrike">
              <a:solidFill>
                <a:schemeClr val="dk1"/>
              </a:solidFill>
              <a:latin typeface="Arial"/>
              <a:ea typeface="Arial"/>
              <a:cs typeface="Arial"/>
              <a:sym typeface="Arial"/>
            </a:endParaRPr>
          </a:p>
        </p:txBody>
      </p:sp>
      <p:pic>
        <p:nvPicPr>
          <p:cNvPr id="1336" name="Google Shape;1336;g2c6577b9d44_0_1555"/>
          <p:cNvPicPr preferRelativeResize="0"/>
          <p:nvPr/>
        </p:nvPicPr>
        <p:blipFill rotWithShape="1">
          <a:blip r:embed="rId3">
            <a:alphaModFix/>
          </a:blip>
          <a:srcRect b="0" l="0" r="0" t="0"/>
          <a:stretch/>
        </p:blipFill>
        <p:spPr>
          <a:xfrm>
            <a:off x="165025" y="1942250"/>
            <a:ext cx="4755000" cy="2702707"/>
          </a:xfrm>
          <a:prstGeom prst="rect">
            <a:avLst/>
          </a:prstGeom>
          <a:noFill/>
          <a:ln>
            <a:noFill/>
          </a:ln>
        </p:spPr>
      </p:pic>
      <p:pic>
        <p:nvPicPr>
          <p:cNvPr id="1337" name="Google Shape;1337;g2c6577b9d44_0_1555"/>
          <p:cNvPicPr preferRelativeResize="0"/>
          <p:nvPr/>
        </p:nvPicPr>
        <p:blipFill rotWithShape="1">
          <a:blip r:embed="rId4">
            <a:alphaModFix/>
          </a:blip>
          <a:srcRect b="0" l="0" r="0" t="0"/>
          <a:stretch/>
        </p:blipFill>
        <p:spPr>
          <a:xfrm>
            <a:off x="5016025" y="979400"/>
            <a:ext cx="3688375" cy="37789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g2c6577b9d44_0_156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ru-RU"/>
              <a:t>Вычислительная лингвистика</a:t>
            </a:r>
            <a:endParaRPr/>
          </a:p>
        </p:txBody>
      </p:sp>
      <p:sp>
        <p:nvSpPr>
          <p:cNvPr id="1343" name="Google Shape;1343;g2c6577b9d44_0_1564"/>
          <p:cNvSpPr txBox="1"/>
          <p:nvPr>
            <p:ph idx="1" type="body"/>
          </p:nvPr>
        </p:nvSpPr>
        <p:spPr>
          <a:xfrm>
            <a:off x="1297500" y="91525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405"/>
              <a:buNone/>
            </a:pPr>
            <a:r>
              <a:rPr lang="ru-RU" sz="1400" u="sng">
                <a:latin typeface="Arial"/>
                <a:ea typeface="Arial"/>
                <a:cs typeface="Arial"/>
                <a:sym typeface="Arial"/>
              </a:rPr>
              <a:t>Языковые модели</a:t>
            </a:r>
            <a:endParaRPr sz="1400" u="sng">
              <a:latin typeface="Arial"/>
              <a:ea typeface="Arial"/>
              <a:cs typeface="Arial"/>
              <a:sym typeface="Arial"/>
            </a:endParaRPr>
          </a:p>
          <a:p>
            <a:pPr indent="0" lvl="0" marL="0" rtl="0" algn="ctr">
              <a:lnSpc>
                <a:spcPct val="115000"/>
              </a:lnSpc>
              <a:spcBef>
                <a:spcPts val="1200"/>
              </a:spcBef>
              <a:spcAft>
                <a:spcPts val="1200"/>
              </a:spcAft>
              <a:buSzPts val="1405"/>
              <a:buNone/>
            </a:pPr>
            <a:r>
              <a:rPr b="1" lang="ru-RU" sz="1400">
                <a:latin typeface="Arial"/>
                <a:ea typeface="Arial"/>
                <a:cs typeface="Arial"/>
                <a:sym typeface="Arial"/>
              </a:rPr>
              <a:t>Трансформеры - революция в NLP и не только</a:t>
            </a:r>
            <a:endParaRPr b="1" sz="1400"/>
          </a:p>
        </p:txBody>
      </p:sp>
      <p:sp>
        <p:nvSpPr>
          <p:cNvPr id="1344" name="Google Shape;1344;g2c6577b9d44_0_15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1345" name="Google Shape;1345;g2c6577b9d44_0_1564"/>
          <p:cNvSpPr txBox="1"/>
          <p:nvPr/>
        </p:nvSpPr>
        <p:spPr>
          <a:xfrm>
            <a:off x="0" y="4835700"/>
            <a:ext cx="6939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300"/>
              </a:spcAft>
              <a:buClr>
                <a:srgbClr val="000000"/>
              </a:buClr>
              <a:buSzPts val="800"/>
              <a:buFont typeface="Arial"/>
              <a:buNone/>
            </a:pPr>
            <a:r>
              <a:rPr b="0" i="0" lang="ru-RU" sz="800" u="none" cap="none" strike="noStrike">
                <a:solidFill>
                  <a:schemeClr val="dk1"/>
                </a:solidFill>
                <a:latin typeface="Arial"/>
                <a:ea typeface="Arial"/>
                <a:cs typeface="Arial"/>
                <a:sym typeface="Arial"/>
              </a:rPr>
              <a:t>BERT, ELMO и Ко в картинках (как в NLP пришло трансферное обучение) - https://habr.com/ru/post/487358/</a:t>
            </a:r>
            <a:endParaRPr b="0" i="0" sz="800" u="none" cap="none" strike="noStrike">
              <a:solidFill>
                <a:schemeClr val="dk1"/>
              </a:solidFill>
              <a:latin typeface="Arial"/>
              <a:ea typeface="Arial"/>
              <a:cs typeface="Arial"/>
              <a:sym typeface="Arial"/>
            </a:endParaRPr>
          </a:p>
        </p:txBody>
      </p:sp>
      <p:pic>
        <p:nvPicPr>
          <p:cNvPr id="1346" name="Google Shape;1346;g2c6577b9d44_0_1564"/>
          <p:cNvPicPr preferRelativeResize="0"/>
          <p:nvPr/>
        </p:nvPicPr>
        <p:blipFill rotWithShape="1">
          <a:blip r:embed="rId3">
            <a:alphaModFix/>
          </a:blip>
          <a:srcRect b="0" l="0" r="0" t="0"/>
          <a:stretch/>
        </p:blipFill>
        <p:spPr>
          <a:xfrm>
            <a:off x="98925" y="1727225"/>
            <a:ext cx="4092849" cy="2689099"/>
          </a:xfrm>
          <a:prstGeom prst="rect">
            <a:avLst/>
          </a:prstGeom>
          <a:noFill/>
          <a:ln>
            <a:noFill/>
          </a:ln>
        </p:spPr>
      </p:pic>
      <p:pic>
        <p:nvPicPr>
          <p:cNvPr id="1347" name="Google Shape;1347;g2c6577b9d44_0_1564"/>
          <p:cNvPicPr preferRelativeResize="0"/>
          <p:nvPr/>
        </p:nvPicPr>
        <p:blipFill rotWithShape="1">
          <a:blip r:embed="rId4">
            <a:alphaModFix/>
          </a:blip>
          <a:srcRect b="0" l="0" r="0" t="0"/>
          <a:stretch/>
        </p:blipFill>
        <p:spPr>
          <a:xfrm>
            <a:off x="4191777" y="1727225"/>
            <a:ext cx="4841708" cy="2689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g2ba3d66f664_0_408"/>
          <p:cNvSpPr txBox="1"/>
          <p:nvPr>
            <p:ph type="title"/>
          </p:nvPr>
        </p:nvSpPr>
        <p:spPr>
          <a:xfrm>
            <a:off x="457200" y="306435"/>
            <a:ext cx="6824400" cy="52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3200"/>
              <a:buNone/>
            </a:pPr>
            <a:r>
              <a:rPr lang="ru-RU" sz="2380"/>
              <a:t>ЛР6. Классификация методами глубокого обучения</a:t>
            </a:r>
            <a:endParaRPr sz="1030">
              <a:solidFill>
                <a:schemeClr val="dk1"/>
              </a:solidFill>
              <a:latin typeface="Arial"/>
              <a:ea typeface="Arial"/>
              <a:cs typeface="Arial"/>
              <a:sym typeface="Arial"/>
            </a:endParaRPr>
          </a:p>
          <a:p>
            <a:pPr indent="0" lvl="0" marL="0" rtl="0" algn="l">
              <a:lnSpc>
                <a:spcPct val="100000"/>
              </a:lnSpc>
              <a:spcBef>
                <a:spcPts val="0"/>
              </a:spcBef>
              <a:spcAft>
                <a:spcPts val="0"/>
              </a:spcAft>
              <a:buSzPts val="3200"/>
              <a:buNone/>
            </a:pPr>
            <a:r>
              <a:t/>
            </a:r>
            <a:endParaRPr sz="2380"/>
          </a:p>
        </p:txBody>
      </p:sp>
      <p:sp>
        <p:nvSpPr>
          <p:cNvPr id="1354" name="Google Shape;1354;g2ba3d66f664_0_40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ru-RU"/>
              <a:t>‹#›</a:t>
            </a:fld>
            <a:endParaRPr/>
          </a:p>
        </p:txBody>
      </p:sp>
      <p:sp>
        <p:nvSpPr>
          <p:cNvPr id="1355" name="Google Shape;1355;g2ba3d66f664_0_408"/>
          <p:cNvSpPr txBox="1"/>
          <p:nvPr/>
        </p:nvSpPr>
        <p:spPr>
          <a:xfrm>
            <a:off x="296850" y="1160288"/>
            <a:ext cx="84231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Старт: </a:t>
            </a:r>
            <a:r>
              <a:rPr lang="ru-RU" sz="2000">
                <a:solidFill>
                  <a:schemeClr val="dk1"/>
                </a:solidFill>
                <a:latin typeface="Golos Text"/>
                <a:ea typeface="Golos Text"/>
                <a:cs typeface="Golos Text"/>
                <a:sym typeface="Golos Text"/>
              </a:rPr>
              <a:t>26</a:t>
            </a:r>
            <a:r>
              <a:rPr b="0" i="0" lang="ru-RU" sz="2000" u="none" cap="none" strike="noStrike">
                <a:solidFill>
                  <a:schemeClr val="dk1"/>
                </a:solidFill>
                <a:latin typeface="Golos Text"/>
                <a:ea typeface="Golos Text"/>
                <a:cs typeface="Golos Text"/>
                <a:sym typeface="Golos Text"/>
              </a:rPr>
              <a:t> марта 2024</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Дедлайн</a:t>
            </a:r>
            <a:r>
              <a:rPr b="0" i="0" lang="ru-RU" sz="2000" u="none" cap="none" strike="noStrike">
                <a:solidFill>
                  <a:schemeClr val="dk1"/>
                </a:solidFill>
                <a:latin typeface="Golos Text"/>
                <a:ea typeface="Golos Text"/>
                <a:cs typeface="Golos Text"/>
                <a:sym typeface="Golos Text"/>
              </a:rPr>
              <a:t>: </a:t>
            </a:r>
            <a:r>
              <a:rPr lang="ru-RU" sz="2000">
                <a:solidFill>
                  <a:schemeClr val="dk1"/>
                </a:solidFill>
                <a:latin typeface="Golos Text"/>
                <a:ea typeface="Golos Text"/>
                <a:cs typeface="Golos Text"/>
                <a:sym typeface="Golos Text"/>
              </a:rPr>
              <a:t>02</a:t>
            </a:r>
            <a:r>
              <a:rPr b="0" i="0" lang="ru-RU" sz="2000" u="none" cap="none" strike="noStrike">
                <a:solidFill>
                  <a:schemeClr val="dk1"/>
                </a:solidFill>
                <a:latin typeface="Golos Text"/>
                <a:ea typeface="Golos Text"/>
                <a:cs typeface="Golos Text"/>
                <a:sym typeface="Golos Text"/>
              </a:rPr>
              <a:t> </a:t>
            </a:r>
            <a:r>
              <a:rPr lang="ru-RU" sz="2000">
                <a:solidFill>
                  <a:schemeClr val="dk1"/>
                </a:solidFill>
                <a:latin typeface="Golos Text"/>
                <a:ea typeface="Golos Text"/>
                <a:cs typeface="Golos Text"/>
                <a:sym typeface="Golos Text"/>
              </a:rPr>
              <a:t>апреля</a:t>
            </a:r>
            <a:r>
              <a:rPr b="0" i="0" lang="ru-RU" sz="2000" u="none" cap="none" strike="noStrike">
                <a:solidFill>
                  <a:schemeClr val="dk1"/>
                </a:solidFill>
                <a:latin typeface="Golos Text"/>
                <a:ea typeface="Golos Text"/>
                <a:cs typeface="Golos Text"/>
                <a:sym typeface="Golos Text"/>
              </a:rPr>
              <a:t> 2024</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Ссылка на ЛР</a:t>
            </a:r>
            <a:r>
              <a:rPr b="0" i="0" lang="ru-RU" sz="2000" u="none" cap="none" strike="noStrike">
                <a:solidFill>
                  <a:schemeClr val="dk1"/>
                </a:solidFill>
                <a:latin typeface="Golos Text"/>
                <a:ea typeface="Golos Text"/>
                <a:cs typeface="Golos Text"/>
                <a:sym typeface="Golos Text"/>
              </a:rPr>
              <a:t>:</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lang="ru-RU" sz="2000" u="sng">
                <a:solidFill>
                  <a:schemeClr val="hlink"/>
                </a:solidFill>
                <a:latin typeface="Golos Text"/>
                <a:ea typeface="Golos Text"/>
                <a:cs typeface="Golos Text"/>
                <a:sym typeface="Golos Text"/>
                <a:hlinkClick r:id="rId3"/>
              </a:rPr>
              <a:t>https://colab.research.google.com/drive/1CdghLXfkttoKrWz1ZfAv3mWv7btJ_dWA?usp=sharing</a:t>
            </a:r>
            <a:r>
              <a:rPr lang="ru-RU" sz="2000">
                <a:solidFill>
                  <a:schemeClr val="dk1"/>
                </a:solidFill>
                <a:latin typeface="Golos Text"/>
                <a:ea typeface="Golos Text"/>
                <a:cs typeface="Golos Text"/>
                <a:sym typeface="Golos Text"/>
              </a:rPr>
              <a:t>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Баллы</a:t>
            </a:r>
            <a:r>
              <a:rPr b="0" i="0" lang="ru-RU" sz="2000" u="none" cap="none" strike="noStrike">
                <a:solidFill>
                  <a:schemeClr val="dk1"/>
                </a:solidFill>
                <a:latin typeface="Golos Text"/>
                <a:ea typeface="Golos Text"/>
                <a:cs typeface="Golos Text"/>
                <a:sym typeface="Golos Text"/>
              </a:rPr>
              <a:t>: 0 - 10</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Количество человек</a:t>
            </a:r>
            <a:r>
              <a:rPr b="0" i="0" lang="ru-RU" sz="2000" u="none" cap="none" strike="noStrike">
                <a:solidFill>
                  <a:schemeClr val="dk1"/>
                </a:solidFill>
                <a:latin typeface="Golos Text"/>
                <a:ea typeface="Golos Text"/>
                <a:cs typeface="Golos Text"/>
                <a:sym typeface="Golos Text"/>
              </a:rPr>
              <a:t>: 1-2-3</a:t>
            </a:r>
            <a:endParaRPr b="0" i="0" sz="2000" u="none" cap="none" strike="noStrike">
              <a:solidFill>
                <a:schemeClr val="dk1"/>
              </a:solidFill>
              <a:latin typeface="Golos Text"/>
              <a:ea typeface="Golos Text"/>
              <a:cs typeface="Golos Text"/>
              <a:sym typeface="Golos Text"/>
            </a:endParaRPr>
          </a:p>
        </p:txBody>
      </p:sp>
      <p:pic>
        <p:nvPicPr>
          <p:cNvPr id="1356" name="Google Shape;1356;g2ba3d66f664_0_408"/>
          <p:cNvPicPr preferRelativeResize="0"/>
          <p:nvPr/>
        </p:nvPicPr>
        <p:blipFill rotWithShape="1">
          <a:blip r:embed="rId4">
            <a:alphaModFix/>
          </a:blip>
          <a:srcRect b="0" l="0" r="0" t="0"/>
          <a:stretch/>
        </p:blipFill>
        <p:spPr>
          <a:xfrm>
            <a:off x="6559871" y="3392925"/>
            <a:ext cx="2039975" cy="1263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0" name="Shape 1360"/>
        <p:cNvGrpSpPr/>
        <p:nvPr/>
      </p:nvGrpSpPr>
      <p:grpSpPr>
        <a:xfrm>
          <a:off x="0" y="0"/>
          <a:ext cx="0" cy="0"/>
          <a:chOff x="0" y="0"/>
          <a:chExt cx="0" cy="0"/>
        </a:xfrm>
      </p:grpSpPr>
      <p:sp>
        <p:nvSpPr>
          <p:cNvPr id="1361" name="Google Shape;1361;p25"/>
          <p:cNvSpPr txBox="1"/>
          <p:nvPr>
            <p:ph type="title"/>
          </p:nvPr>
        </p:nvSpPr>
        <p:spPr>
          <a:xfrm>
            <a:off x="457200" y="1801813"/>
            <a:ext cx="8229600" cy="6207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Golos Text SemiBold"/>
              <a:buNone/>
            </a:pPr>
            <a:r>
              <a:rPr lang="ru-RU" sz="4400"/>
              <a:t>Спасибо</a:t>
            </a:r>
            <a:br>
              <a:rPr lang="ru-RU" sz="4400"/>
            </a:br>
            <a:r>
              <a:rPr lang="ru-RU" sz="4400"/>
              <a:t>за внимание!</a:t>
            </a:r>
            <a:endParaRPr sz="4400"/>
          </a:p>
        </p:txBody>
      </p:sp>
      <p:sp>
        <p:nvSpPr>
          <p:cNvPr id="1362" name="Google Shape;1362;p25"/>
          <p:cNvSpPr txBox="1"/>
          <p:nvPr/>
        </p:nvSpPr>
        <p:spPr>
          <a:xfrm>
            <a:off x="5606275" y="4158400"/>
            <a:ext cx="3499200" cy="646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br>
              <a:rPr b="0" i="0" lang="ru-RU" sz="1800" u="none" cap="none" strike="noStrike">
                <a:solidFill>
                  <a:schemeClr val="lt1"/>
                </a:solidFill>
                <a:latin typeface="Golos Text"/>
                <a:ea typeface="Golos Text"/>
                <a:cs typeface="Golos Text"/>
                <a:sym typeface="Golos Text"/>
              </a:rPr>
            </a:br>
            <a:r>
              <a:rPr b="0" i="0" lang="ru-RU" sz="1800" u="none" cap="none" strike="noStrike">
                <a:solidFill>
                  <a:schemeClr val="lt1"/>
                </a:solidFill>
                <a:latin typeface="Golos Text"/>
                <a:ea typeface="Golos Text"/>
                <a:cs typeface="Golos Text"/>
                <a:sym typeface="Golos Text"/>
              </a:rPr>
              <a:t>abrosimov.kirill.1999@mail.ru</a:t>
            </a:r>
            <a:endParaRPr b="0" i="0" sz="1800" u="none" cap="none" strike="noStrike">
              <a:solidFill>
                <a:schemeClr val="lt1"/>
              </a:solidFill>
              <a:latin typeface="Golos Text"/>
              <a:ea typeface="Golos Text"/>
              <a:cs typeface="Golos Text"/>
              <a:sym typeface="Golos Text"/>
            </a:endParaRPr>
          </a:p>
        </p:txBody>
      </p:sp>
      <p:sp>
        <p:nvSpPr>
          <p:cNvPr id="1363" name="Google Shape;1363;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1">
  <a:themeElements>
    <a:clrScheme name="Другая 1">
      <a:dk1>
        <a:srgbClr val="000000"/>
      </a:dk1>
      <a:lt1>
        <a:srgbClr val="FFFFFF"/>
      </a:lt1>
      <a:dk2>
        <a:srgbClr val="000000"/>
      </a:dk2>
      <a:lt2>
        <a:srgbClr val="F8F8F8"/>
      </a:lt2>
      <a:accent1>
        <a:srgbClr val="EC0B4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2014-06-27T12:30:22Z</dcterms:created>
  <dc:creator>Al</dc:creator>
</cp:coreProperties>
</file>