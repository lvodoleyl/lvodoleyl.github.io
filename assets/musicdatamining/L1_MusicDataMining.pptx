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Golos Text"/>
      <p:regular r:id="rId48"/>
      <p:bold r:id="rId49"/>
    </p:embeddedFont>
    <p:embeddedFont>
      <p:font typeface="Lato"/>
      <p:regular r:id="rId50"/>
      <p:bold r:id="rId51"/>
      <p:italic r:id="rId52"/>
      <p:boldItalic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Golos Text SemiBold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g64qNPFB525RJJwFoB5NNk/MtD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45B1A2-9B31-423D-BA5E-66191422E398}">
  <a:tblStyle styleId="{9745B1A2-9B31-423D-BA5E-66191422E3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GolosText-regular.fntdata"/><Relationship Id="rId47" Type="http://schemas.openxmlformats.org/officeDocument/2006/relationships/slide" Target="slides/slide41.xml"/><Relationship Id="rId49" Type="http://schemas.openxmlformats.org/officeDocument/2006/relationships/font" Target="fonts/GolosTex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customschemas.google.com/relationships/presentationmetadata" Target="meta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GolosTextSemiBold-bold.fntdata"/><Relationship Id="rId14" Type="http://schemas.openxmlformats.org/officeDocument/2006/relationships/slide" Target="slides/slide8.xml"/><Relationship Id="rId58" Type="http://schemas.openxmlformats.org/officeDocument/2006/relationships/font" Target="fonts/GolosTextSemiBo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26ce6d16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2b26ce6d162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a3d66f66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2ba3d66f664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a3d66f6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2ba3d66f664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a3d66f66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2ba3d66f66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4521e957d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b4521e957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2b4521e957d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a3d66f66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2ba3d66f664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ba3d66f66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2ba3d66f664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ba3d66f66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2ba3d66f664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ba3d66f66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2ba3d66f664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a3d66f66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2ba3d66f664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a3d66f66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2ba3d66f664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a3d66f66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2ba3d66f664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a3d66f6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2ba3d66f664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ba3d66f66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2ba3d66f664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ba3d66f66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2ba3d66f664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a3d66f66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2ba3d66f664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ba3d66f664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2ba3d66f664_0_4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a3d66f66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2ba3d66f664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ba3d66f66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2ba3d66f664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ba3d66f66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2ba3d66f664_0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a3d66f66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2ba3d66f664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ba3d66f66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2ba3d66f664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ba3d66f66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2ba3d66f664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ba3d66f66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2ba3d66f664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ba3d66f664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g2ba3d66f664_0_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ba3d66f66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2ba3d66f664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ba3d66f66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2ba3d66f664_0_2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ba3d66f66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g2ba3d66f664_0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ba3d66f66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2ba3d66f664_0_2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ba3d66f664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g2ba3d66f664_0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ba3d66f66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2ba3d66f664_0_2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ba3d66f664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g2ba3d66f664_0_3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ba3d66f66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2ba3d66f664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ba3d66f66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g2ba3d66f664_0_2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ba3d66f664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g2ba3d66f664_0_3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ba3d66f66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2ba3d66f664_0_3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6" name="Google Shape;36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7" name="Google Shape;37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8" name="Google Shape;38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6" name="Google Shape;4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3" name="Google Shape;11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5" name="Google Shape;12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30" name="Google Shape;13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8" name="Google Shape;14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53" name="Google Shape;15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4" name="Google Shape;15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.me/+wGinttP2b9RlMzgy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hyperlink" Target="https://disk.yandex.ru/d/l2n2GuTdzuWBtg" TargetMode="External"/><Relationship Id="rId7" Type="http://schemas.openxmlformats.org/officeDocument/2006/relationships/image" Target="../media/image32.png"/><Relationship Id="rId8" Type="http://schemas.openxmlformats.org/officeDocument/2006/relationships/hyperlink" Target="https://docs.google.com/spreadsheets/d/1UBTQsK2IxbYsNpDbzip-_cRM_95taaeF9z340sVolGw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yandex.ru/docs/view?tm=1656880638&amp;tld=ru&amp;lang=ru&amp;name=text.pdf&amp;text=%D0%BC%D1%83%D0%B7%D1%8B%D0%BA%D0%BE%D0%B2%D0%B5%D0%B4%D0%B5%D0%BD%D0%B8%D0%B5%20%D1%83%D1%87%D0%B5%D0%B1%D0%BD%D0%B8%D0%BA&amp;url=https%3A%2F%2Fwww.booksite.ru%2Ffulltext%2Fvveden1%2Ftext.pdf&amp;lr=2&amp;mime=pdf&amp;l10n=ru&amp;sign=d5d04e133ad44e5ee3a296ce6ac6bd0e&amp;keyno=0&amp;nosw=1&amp;serpParams=tm%3D1656880638%26tld%3Dru%26lang%3Dru%26name%3Dtext.pdf%26text%3D%25D0%25BC%25D1%2583%25D0%25B7%25D1%258B%25D0%25BA%25D0%25BE%25D0%25B2%25D0%25B5%25D0%25B4%25D0%25B5%25D0%25BD%25D0%25B8%25D0%25B5%2B%25D1%2583%25D1%2587%25D0%25B5%25D0%25B1%25D0%25BD%25D0%25B8%25D0%25BA%26url%3Dhttps%253A%2F%2Fwww.booksite.ru%2Ffulltext%2Fvveden1%2Ftext.pdf%26lr%3D2%26mime%3Dpdf%26l10n%3Dru%26sign%3Dd5d04e133ad44e5ee3a296ce6ac6bd0e%26keyno%3D0%26nosw%3D1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n.wikipedia.org/wiki/ISBN_(identifier)" TargetMode="External"/><Relationship Id="rId4" Type="http://schemas.openxmlformats.org/officeDocument/2006/relationships/hyperlink" Target="https://en.wikipedia.org/wiki/Special:BookSources/978-1-84169-868-7" TargetMode="External"/><Relationship Id="rId9" Type="http://schemas.openxmlformats.org/officeDocument/2006/relationships/image" Target="../media/image24.png"/><Relationship Id="rId5" Type="http://schemas.openxmlformats.org/officeDocument/2006/relationships/hyperlink" Target="https://en.wikipedia.org/wiki/MIT_Press" TargetMode="External"/><Relationship Id="rId6" Type="http://schemas.openxmlformats.org/officeDocument/2006/relationships/hyperlink" Target="http://www.creativitypost.com/science/what_is_computational_creativity" TargetMode="External"/><Relationship Id="rId7" Type="http://schemas.openxmlformats.org/officeDocument/2006/relationships/image" Target="../media/image27.png"/><Relationship Id="rId8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translated.turbopages.org/proxy_u/en-ru.ru.db7879d4-62c6c3b4-1d59c169-74722d776562/https/www.ncbi.nlm.nih.gov/pmc/articles/PMC8530091" TargetMode="External"/><Relationship Id="rId10" Type="http://schemas.openxmlformats.org/officeDocument/2006/relationships/hyperlink" Target="https://translated.turbopages.org/proxy_u/en-ru.ru.db7879d4-62c6c3b4-1d59c169-74722d776562/https/en.wikipedia.org/wiki/PMC_(identifier)" TargetMode="External"/><Relationship Id="rId13" Type="http://schemas.openxmlformats.org/officeDocument/2006/relationships/hyperlink" Target="https://translated.turbopages.org/proxy_u/en-ru.ru.db7879d4-62c6c3b4-1d59c169-74722d776562/https/pubmed.ncbi.nlm.nih.gov/34722870" TargetMode="External"/><Relationship Id="rId12" Type="http://schemas.openxmlformats.org/officeDocument/2006/relationships/hyperlink" Target="https://translated.turbopages.org/proxy_u/en-ru.ru.db7879d4-62c6c3b4-1d59c169-74722d776562/https/en.wikipedia.org/wiki/PMID_(identifier)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ranslated.turbopages.org/proxy_u/en-ru.ru.db7879d4-62c6c3b4-1d59c169-74722d776562/https/www.ncbi.nlm.nih.gov/pmc/articles/PMC8530091" TargetMode="External"/><Relationship Id="rId4" Type="http://schemas.openxmlformats.org/officeDocument/2006/relationships/hyperlink" Target="https://translated.turbopages.org/proxy_u/en-ru.ru.db7879d4-62c6c3b4-1d59c169-74722d776562/https/en.wikipedia.org/wiki/ArXiv_(identifier)" TargetMode="External"/><Relationship Id="rId9" Type="http://schemas.openxmlformats.org/officeDocument/2006/relationships/hyperlink" Target="https://translated.turbopages.org/proxy_u/en-ru.ru.db7879d4-62c6c3b4-1d59c169-74722d776562/https/doi.org/10.7717%2Fpeerj-cs.142" TargetMode="External"/><Relationship Id="rId15" Type="http://schemas.openxmlformats.org/officeDocument/2006/relationships/hyperlink" Target="https://translated.turbopages.org/proxy_u/en-ru.ru.db7879d4-62c6c3b4-1d59c169-74722d776562/https/api.semanticscholar.org/CorpusID:7392801" TargetMode="External"/><Relationship Id="rId14" Type="http://schemas.openxmlformats.org/officeDocument/2006/relationships/hyperlink" Target="https://translated.turbopages.org/proxy_u/en-ru.ru.db7879d4-62c6c3b4-1d59c169-74722d776562/https/en.wikipedia.org/wiki/S2CID_(identifier)" TargetMode="External"/><Relationship Id="rId5" Type="http://schemas.openxmlformats.org/officeDocument/2006/relationships/hyperlink" Target="https://translated.turbopages.org/proxy_u/en-ru.ru.db7879d4-62c6c3b4-1d59c169-74722d776562/https/arxiv.org/abs/1707.04393" TargetMode="External"/><Relationship Id="rId6" Type="http://schemas.openxmlformats.org/officeDocument/2006/relationships/hyperlink" Target="https://translated.turbopages.org/proxy_u/en-ru.ru.db7879d4-62c6c3b4-1d59c169-74722d776562/https/en.wikipedia.org/wiki/Bibcode_(identifier)" TargetMode="External"/><Relationship Id="rId7" Type="http://schemas.openxmlformats.org/officeDocument/2006/relationships/hyperlink" Target="https://translated.turbopages.org/proxy_u/en-ru.ru.db7879d4-62c6c3b4-1d59c169-74722d776562/https/ui.adsabs.harvard.edu/abs/2017arXiv170704393R" TargetMode="External"/><Relationship Id="rId8" Type="http://schemas.openxmlformats.org/officeDocument/2006/relationships/hyperlink" Target="https://translated.turbopages.org/proxy_u/en-ru.ru.db7879d4-62c6c3b4-1d59c169-74722d776562/https/en.wikipedia.org/wiki/Doi_(identifier)" TargetMode="Externa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translated.turbopages.org/proxy_u/en-ru.ru.db7879d4-62c6c3b4-1d59c169-74722d776562/https/www.ncbi.nlm.nih.gov/pmc/articles/PMC8530091" TargetMode="External"/><Relationship Id="rId10" Type="http://schemas.openxmlformats.org/officeDocument/2006/relationships/hyperlink" Target="https://translated.turbopages.org/proxy_u/en-ru.ru.db7879d4-62c6c3b4-1d59c169-74722d776562/https/en.wikipedia.org/wiki/PMC_(identifier)" TargetMode="External"/><Relationship Id="rId13" Type="http://schemas.openxmlformats.org/officeDocument/2006/relationships/hyperlink" Target="https://translated.turbopages.org/proxy_u/en-ru.ru.db7879d4-62c6c3b4-1d59c169-74722d776562/https/pubmed.ncbi.nlm.nih.gov/34722870" TargetMode="External"/><Relationship Id="rId12" Type="http://schemas.openxmlformats.org/officeDocument/2006/relationships/hyperlink" Target="https://translated.turbopages.org/proxy_u/en-ru.ru.db7879d4-62c6c3b4-1d59c169-74722d776562/https/en.wikipedia.org/wiki/PMID_(identifier)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ranslated.turbopages.org/proxy_u/en-ru.ru.db7879d4-62c6c3b4-1d59c169-74722d776562/https/www.ncbi.nlm.nih.gov/pmc/articles/PMC8530091" TargetMode="External"/><Relationship Id="rId4" Type="http://schemas.openxmlformats.org/officeDocument/2006/relationships/hyperlink" Target="https://translated.turbopages.org/proxy_u/en-ru.ru.db7879d4-62c6c3b4-1d59c169-74722d776562/https/en.wikipedia.org/wiki/ArXiv_(identifier)" TargetMode="External"/><Relationship Id="rId9" Type="http://schemas.openxmlformats.org/officeDocument/2006/relationships/hyperlink" Target="https://translated.turbopages.org/proxy_u/en-ru.ru.db7879d4-62c6c3b4-1d59c169-74722d776562/https/doi.org/10.7717%2Fpeerj-cs.142" TargetMode="External"/><Relationship Id="rId15" Type="http://schemas.openxmlformats.org/officeDocument/2006/relationships/hyperlink" Target="https://translated.turbopages.org/proxy_u/en-ru.ru.db7879d4-62c6c3b4-1d59c169-74722d776562/https/api.semanticscholar.org/CorpusID:7392801" TargetMode="External"/><Relationship Id="rId14" Type="http://schemas.openxmlformats.org/officeDocument/2006/relationships/hyperlink" Target="https://translated.turbopages.org/proxy_u/en-ru.ru.db7879d4-62c6c3b4-1d59c169-74722d776562/https/en.wikipedia.org/wiki/S2CID_(identifier)" TargetMode="External"/><Relationship Id="rId5" Type="http://schemas.openxmlformats.org/officeDocument/2006/relationships/hyperlink" Target="https://translated.turbopages.org/proxy_u/en-ru.ru.db7879d4-62c6c3b4-1d59c169-74722d776562/https/arxiv.org/abs/1707.04393" TargetMode="External"/><Relationship Id="rId6" Type="http://schemas.openxmlformats.org/officeDocument/2006/relationships/hyperlink" Target="https://translated.turbopages.org/proxy_u/en-ru.ru.db7879d4-62c6c3b4-1d59c169-74722d776562/https/en.wikipedia.org/wiki/Bibcode_(identifier)" TargetMode="External"/><Relationship Id="rId7" Type="http://schemas.openxmlformats.org/officeDocument/2006/relationships/hyperlink" Target="https://translated.turbopages.org/proxy_u/en-ru.ru.db7879d4-62c6c3b4-1d59c169-74722d776562/https/ui.adsabs.harvard.edu/abs/2017arXiv170704393R" TargetMode="External"/><Relationship Id="rId8" Type="http://schemas.openxmlformats.org/officeDocument/2006/relationships/hyperlink" Target="https://translated.turbopages.org/proxy_u/en-ru.ru.db7879d4-62c6c3b4-1d59c169-74722d776562/https/en.wikipedia.org/wiki/Doi_(identifier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musicinformationretrieval.com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musicinformationretrieval.com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iusongxiang.github.io/diffsvc/" TargetMode="External"/><Relationship Id="rId4" Type="http://schemas.openxmlformats.org/officeDocument/2006/relationships/image" Target="../media/image18.png"/><Relationship Id="rId5" Type="http://schemas.openxmlformats.org/officeDocument/2006/relationships/hyperlink" Target="https://nobody996.github.io/FastSVC/" TargetMode="External"/><Relationship Id="rId6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11" Type="http://schemas.openxmlformats.org/officeDocument/2006/relationships/image" Target="../media/image31.png"/><Relationship Id="rId10" Type="http://schemas.openxmlformats.org/officeDocument/2006/relationships/hyperlink" Target="http://drive.google.com/file/d/1ztDOeP_D0lLZ8euznfaTYWP5Jyv-ReIs/view" TargetMode="External"/><Relationship Id="rId13" Type="http://schemas.openxmlformats.org/officeDocument/2006/relationships/image" Target="../media/image44.png"/><Relationship Id="rId12" Type="http://schemas.openxmlformats.org/officeDocument/2006/relationships/hyperlink" Target="http://drive.google.com/file/d/1biSwCi0-QRJUIiAM1Lts-_NnYeZXYZmb/view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reate.musicfy.lol/create/voice" TargetMode="External"/><Relationship Id="rId4" Type="http://schemas.openxmlformats.org/officeDocument/2006/relationships/hyperlink" Target="https://huggingface.co/QuickWick/Music-AI-Voices" TargetMode="External"/><Relationship Id="rId9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hyperlink" Target="http://drive.google.com/file/d/1m8QmxTWDKiHGuLWYms5qMwh6Ig5hINH-/view" TargetMode="External"/><Relationship Id="rId17" Type="http://schemas.openxmlformats.org/officeDocument/2006/relationships/image" Target="../media/image37.png"/><Relationship Id="rId16" Type="http://schemas.openxmlformats.org/officeDocument/2006/relationships/image" Target="../media/image25.png"/><Relationship Id="rId5" Type="http://schemas.openxmlformats.org/officeDocument/2006/relationships/hyperlink" Target="http://drive.google.com/file/d/1YwwWphX_62CODuqSfrflslb8jOwX66xa/view" TargetMode="External"/><Relationship Id="rId19" Type="http://schemas.openxmlformats.org/officeDocument/2006/relationships/image" Target="../media/image28.png"/><Relationship Id="rId6" Type="http://schemas.openxmlformats.org/officeDocument/2006/relationships/image" Target="../media/image14.png"/><Relationship Id="rId18" Type="http://schemas.openxmlformats.org/officeDocument/2006/relationships/image" Target="../media/image22.png"/><Relationship Id="rId7" Type="http://schemas.openxmlformats.org/officeDocument/2006/relationships/image" Target="../media/image52.png"/><Relationship Id="rId8" Type="http://schemas.openxmlformats.org/officeDocument/2006/relationships/hyperlink" Target="http://drive.google.com/file/d/1eSEwUsNhC6smPh-Kqyof5ef2Aj_Swo9l/view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benhayes.net/projects/nws/" TargetMode="External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youtu.be/DW61PpKJGm8" TargetMode="External"/><Relationship Id="rId4" Type="http://schemas.openxmlformats.org/officeDocument/2006/relationships/hyperlink" Target="https://www.aha-music.com/#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torage.googleapis.com/mt3/index.html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Relationship Id="rId7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Relationship Id="rId5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colab.research.google.com/drive/1ow6Y3J6oaf014ioVKGy29pZLcwPumKH9?usp=sharing" TargetMode="External"/><Relationship Id="rId4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</a:t>
            </a: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музыковедение</a:t>
            </a: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2852500" y="4079175"/>
            <a:ext cx="34992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endParaRPr b="1" sz="18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68" name="Google Shape;168;g282c83c1f8c_0_7"/>
          <p:cNvSpPr txBox="1"/>
          <p:nvPr/>
        </p:nvSpPr>
        <p:spPr>
          <a:xfrm>
            <a:off x="325950" y="1329650"/>
            <a:ext cx="8492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Знакомство и сбор ожиданий от курса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Организационные вопросы курса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Музыковедение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Смежные дисциплины с музыковедением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Вычислительные науки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 (ВМ, ВычМуз)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Современные результаты ВМ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Введение в ЦОС и сигналы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26ce6d162_0_7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8518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Знакомство</a:t>
            </a:r>
            <a:endParaRPr/>
          </a:p>
        </p:txBody>
      </p:sp>
      <p:sp>
        <p:nvSpPr>
          <p:cNvPr id="175" name="Google Shape;175;g2b26ce6d162_0_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6" name="Google Shape;176;g2b26ce6d162_0_71"/>
          <p:cNvSpPr/>
          <p:nvPr/>
        </p:nvSpPr>
        <p:spPr>
          <a:xfrm>
            <a:off x="2912050" y="529300"/>
            <a:ext cx="61080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None/>
            </a:pPr>
            <a:r>
              <a:rPr i="0" lang="ru-RU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Абросимов Кирилл </a:t>
            </a:r>
            <a:r>
              <a:rPr i="0" lang="ru-RU" sz="2100" u="none" cap="none" strike="noStrik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Игоревич</a:t>
            </a:r>
            <a:endParaRPr i="0" sz="2100" u="none" cap="none" strike="noStrike">
              <a:solidFill>
                <a:schemeClr val="accen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-"/>
            </a:pPr>
            <a:r>
              <a:rPr i="1" lang="ru-RU" sz="13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Бакалавриат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Нижегородский государственный технический университет им. Р.Е. Алексеева, ИВТ, Программное обеспечение средств вычислительной техники и автоматизированных систем </a:t>
            </a:r>
            <a:br>
              <a:rPr i="0" lang="ru-RU" sz="1300" u="none" cap="none" strike="noStrike">
                <a:solidFill>
                  <a:schemeClr val="dk1"/>
                </a:solidFill>
              </a:rPr>
            </a:b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(ВКР: Алгоритм генерации музыки на основе ABC-нотации и дистрибутивной семантики)</a:t>
            </a:r>
            <a:endParaRPr i="0" sz="1300" u="none" cap="none" strike="noStrike">
              <a:solidFill>
                <a:schemeClr val="dk1"/>
              </a:solidFill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-"/>
            </a:pPr>
            <a:r>
              <a:rPr i="1" lang="ru-RU" sz="13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Магистратура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Университет ИТМО, ИСТ, Речевые технологии и машинное обучение</a:t>
            </a:r>
            <a:r>
              <a:rPr lang="ru-RU" sz="1300">
                <a:solidFill>
                  <a:schemeClr val="dk1"/>
                </a:solidFill>
              </a:rPr>
              <a:t> 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ru-RU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ВКР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ru-RU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Разработка компонентов синтеза певческого голоса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i="0" sz="1300" u="none" cap="none" strike="noStrike">
              <a:solidFill>
                <a:schemeClr val="dk1"/>
              </a:solidFill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-"/>
            </a:pPr>
            <a:r>
              <a:rPr i="1" lang="ru-RU" sz="13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Работа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Data Scientist в области промышленности (исследование операций, предиктивная аналитика, анализ текстовых данных) в компании Factory 5 Dev.</a:t>
            </a:r>
            <a:endParaRPr i="0" sz="1300" u="none" cap="none" strike="noStrike">
              <a:solidFill>
                <a:schemeClr val="dk1"/>
              </a:solidFill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-"/>
            </a:pPr>
            <a:r>
              <a:rPr i="1" lang="ru-RU" sz="13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Области интересов</a:t>
            </a: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br>
              <a:rPr i="0" lang="ru-RU" sz="1300" u="none" cap="none" strike="noStrike">
                <a:solidFill>
                  <a:schemeClr val="dk1"/>
                </a:solidFill>
              </a:rPr>
            </a:b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1. Методы оптимизации и исследование операций </a:t>
            </a:r>
            <a:br>
              <a:rPr i="0" lang="ru-RU" sz="1300" u="none" cap="none" strike="noStrike">
                <a:solidFill>
                  <a:schemeClr val="dk1"/>
                </a:solidFill>
              </a:rPr>
            </a:b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2. Вычислительное музыковедение &amp; MIR</a:t>
            </a:r>
            <a:br>
              <a:rPr i="0" lang="ru-RU" sz="1300" u="none" cap="none" strike="noStrike">
                <a:solidFill>
                  <a:schemeClr val="dk1"/>
                </a:solidFill>
              </a:rPr>
            </a:b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3. Речевые технологии и машинное обучение </a:t>
            </a:r>
            <a:br>
              <a:rPr i="0" lang="ru-RU" sz="1300" u="none" cap="none" strike="noStrike">
                <a:solidFill>
                  <a:schemeClr val="dk1"/>
                </a:solidFill>
              </a:rPr>
            </a:br>
            <a:r>
              <a:rPr i="0" lang="ru-RU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4. Нечеткие модели в интеллектуальных системах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id="177" name="Google Shape;177;g2b26ce6d162_0_71"/>
          <p:cNvPicPr preferRelativeResize="0"/>
          <p:nvPr/>
        </p:nvPicPr>
        <p:blipFill rotWithShape="1">
          <a:blip r:embed="rId3">
            <a:alphaModFix/>
          </a:blip>
          <a:srcRect b="7202" l="23608" r="10830" t="12675"/>
          <a:stretch/>
        </p:blipFill>
        <p:spPr>
          <a:xfrm>
            <a:off x="122760" y="1942560"/>
            <a:ext cx="2789280" cy="191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a3d66f664_0_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Знакомство и сбор ожиданий</a:t>
            </a:r>
            <a:endParaRPr/>
          </a:p>
        </p:txBody>
      </p:sp>
      <p:sp>
        <p:nvSpPr>
          <p:cNvPr id="183" name="Google Shape;183;g2ba3d66f664_0_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4" name="Google Shape;184;g2ba3d66f664_0_4"/>
          <p:cNvSpPr txBox="1"/>
          <p:nvPr/>
        </p:nvSpPr>
        <p:spPr>
          <a:xfrm>
            <a:off x="497050" y="1195825"/>
            <a:ext cx="8140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AutoNum type="arabicPeriod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Разделю на группы по 4 человека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AutoNum type="arabicPeriod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Представьтесь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, расскажите о себе: факультет, курс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AutoNum type="arabicPeriod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Поделитесь опытом: какие современные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музыкальные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системы вы знаете? 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0" y="10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/>
              <a:t>План курса</a:t>
            </a:r>
            <a:endParaRPr/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91" name="Google Shape;191;p10"/>
          <p:cNvGraphicFramePr/>
          <p:nvPr/>
        </p:nvGraphicFramePr>
        <p:xfrm>
          <a:off x="278975" y="52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{9745B1A2-9B31-423D-BA5E-66191422E398}</a:tableStyleId>
              </a:tblPr>
              <a:tblGrid>
                <a:gridCol w="1089425"/>
                <a:gridCol w="4622650"/>
                <a:gridCol w="2856050"/>
              </a:tblGrid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Дата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Лекция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Практика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20.02.24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Введение в дисциплину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Звуковые сигналы на Python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27.02.24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Акустические признаки и Monophonic Pitch Detection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Monophonic Pitch Detection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05.03.24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Основы Data Mining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Классические классификаторы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12.03.24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Задачи Music Data Mining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MIR системы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19.03.24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Основы глубокого обучения I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Введение в инструменты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26.03.24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Основы глубокого обучения II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Классификация (DL)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02.04.24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Визуализация музыкальных данных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Визуализация и муз.поиск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16.04.24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Обработка музыки в символах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Защита докладов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a3d66f664_0_12"/>
          <p:cNvSpPr txBox="1"/>
          <p:nvPr>
            <p:ph type="title"/>
          </p:nvPr>
        </p:nvSpPr>
        <p:spPr>
          <a:xfrm>
            <a:off x="0" y="10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/>
              <a:t>План курса: оценочные средства</a:t>
            </a:r>
            <a:endParaRPr/>
          </a:p>
        </p:txBody>
      </p:sp>
      <p:sp>
        <p:nvSpPr>
          <p:cNvPr id="197" name="Google Shape;197;g2ba3d66f664_0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98" name="Google Shape;198;g2ba3d66f664_0_12"/>
          <p:cNvGraphicFramePr/>
          <p:nvPr/>
        </p:nvGraphicFramePr>
        <p:xfrm>
          <a:off x="227988" y="58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{9745B1A2-9B31-423D-BA5E-66191422E398}</a:tableStyleId>
              </a:tblPr>
              <a:tblGrid>
                <a:gridCol w="1089425"/>
                <a:gridCol w="6502825"/>
                <a:gridCol w="975875"/>
              </a:tblGrid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Что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Название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Баллы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ЛР1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Работа с звуковыми сигналами на Python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Monophonic Pitch Detection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Классификация музыкальных данных методами классического МО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MIR системы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Инструменты для работы с нейронными сетями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Классификация музыкальных данных </a:t>
                      </a:r>
                      <a:r>
                        <a:rPr lang="ru-RU"/>
                        <a:t>методами</a:t>
                      </a:r>
                      <a:r>
                        <a:rPr lang="ru-RU"/>
                        <a:t> глубокого обучения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ЛР7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Визуализация музыкальных данных и музыкальный поиск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48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Доклад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Современные методы Music Data Mining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a3d66f664_0_26"/>
          <p:cNvSpPr txBox="1"/>
          <p:nvPr>
            <p:ph type="title"/>
          </p:nvPr>
        </p:nvSpPr>
        <p:spPr>
          <a:xfrm>
            <a:off x="0" y="2521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/>
              <a:t>План курса: оценочные средства</a:t>
            </a:r>
            <a:endParaRPr/>
          </a:p>
        </p:txBody>
      </p:sp>
      <p:sp>
        <p:nvSpPr>
          <p:cNvPr id="204" name="Google Shape;204;g2ba3d66f664_0_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5" name="Google Shape;205;g2ba3d66f664_0_26"/>
          <p:cNvSpPr txBox="1"/>
          <p:nvPr/>
        </p:nvSpPr>
        <p:spPr>
          <a:xfrm>
            <a:off x="468250" y="1131000"/>
            <a:ext cx="80886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Char char="-"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ЛР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выполняются в команде (1-2-3 человека). </a:t>
            </a:r>
            <a:b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Оптимально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2. Третьим участником </a:t>
            </a:r>
            <a:r>
              <a:rPr lang="ru-RU" sz="2000" u="sng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может быть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первокурсник,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вольнослушатель.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Срок выполнения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неделя. За нарушение дедлайна: -2 балла.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Char char="-"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Доклад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защита на последней практике. Доклад групповой.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Char char="-"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Зачет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итоговый тест (20 баллов).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6" name="Google Shape;206;g2ba3d66f664_0_26"/>
          <p:cNvSpPr/>
          <p:nvPr/>
        </p:nvSpPr>
        <p:spPr>
          <a:xfrm>
            <a:off x="532600" y="3881275"/>
            <a:ext cx="3810900" cy="504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Лекция (15.20 - 16.50)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7" name="Google Shape;207;g2ba3d66f664_0_26"/>
          <p:cNvSpPr/>
          <p:nvPr/>
        </p:nvSpPr>
        <p:spPr>
          <a:xfrm>
            <a:off x="4343500" y="3881275"/>
            <a:ext cx="2074500" cy="504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Объяснение</a:t>
            </a: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 ЛР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8" name="Google Shape;208;g2ba3d66f664_0_26"/>
          <p:cNvSpPr/>
          <p:nvPr/>
        </p:nvSpPr>
        <p:spPr>
          <a:xfrm>
            <a:off x="6418000" y="3881275"/>
            <a:ext cx="2074500" cy="504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Сдача предыдущей / консультация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9" name="Google Shape;209;g2ba3d66f664_0_26"/>
          <p:cNvSpPr/>
          <p:nvPr/>
        </p:nvSpPr>
        <p:spPr>
          <a:xfrm>
            <a:off x="4343500" y="4385575"/>
            <a:ext cx="4149000" cy="210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(17.00 - 18.30)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4521e957d_0_2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Коммуникации и материалы</a:t>
            </a:r>
            <a:endParaRPr/>
          </a:p>
        </p:txBody>
      </p:sp>
      <p:sp>
        <p:nvSpPr>
          <p:cNvPr id="216" name="Google Shape;216;g2b4521e957d_0_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7" name="Google Shape;217;g2b4521e957d_0_28"/>
          <p:cNvSpPr txBox="1"/>
          <p:nvPr/>
        </p:nvSpPr>
        <p:spPr>
          <a:xfrm>
            <a:off x="590725" y="1167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https://t.me/+wGinttP2b9RlMzgy</a:t>
            </a:r>
            <a:r>
              <a:rPr lang="ru-RU"/>
              <a:t> </a:t>
            </a:r>
            <a:endParaRPr/>
          </a:p>
        </p:txBody>
      </p:sp>
      <p:pic>
        <p:nvPicPr>
          <p:cNvPr id="218" name="Google Shape;218;g2b4521e957d_0_28"/>
          <p:cNvPicPr preferRelativeResize="0"/>
          <p:nvPr/>
        </p:nvPicPr>
        <p:blipFill rotWithShape="1">
          <a:blip r:embed="rId4">
            <a:alphaModFix/>
          </a:blip>
          <a:srcRect b="67965" l="0" r="0" t="2893"/>
          <a:stretch/>
        </p:blipFill>
        <p:spPr>
          <a:xfrm>
            <a:off x="321475" y="1519974"/>
            <a:ext cx="3538475" cy="223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2b4521e957d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7447" y="1265647"/>
            <a:ext cx="4138900" cy="14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b4521e957d_0_28"/>
          <p:cNvSpPr txBox="1"/>
          <p:nvPr/>
        </p:nvSpPr>
        <p:spPr>
          <a:xfrm>
            <a:off x="4281600" y="2566500"/>
            <a:ext cx="40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6"/>
              </a:rPr>
              <a:t>https://disk.yandex.ru/d/l2n2GuTdzuWBtg</a:t>
            </a:r>
            <a:r>
              <a:rPr lang="ru-RU"/>
              <a:t> </a:t>
            </a:r>
            <a:endParaRPr/>
          </a:p>
        </p:txBody>
      </p:sp>
      <p:pic>
        <p:nvPicPr>
          <p:cNvPr id="221" name="Google Shape;221;g2b4521e957d_0_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725" y="4193737"/>
            <a:ext cx="7430227" cy="69186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b4521e957d_0_28"/>
          <p:cNvSpPr txBox="1"/>
          <p:nvPr/>
        </p:nvSpPr>
        <p:spPr>
          <a:xfrm>
            <a:off x="3983700" y="3472225"/>
            <a:ext cx="490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8"/>
              </a:rPr>
              <a:t>https://docs.google.com/spreadsheets/d/1UBTQsK2IxbYsNpDbzip-_cRM_95taaeF9z340sVolGw/edit?usp=sharing</a:t>
            </a:r>
            <a:r>
              <a:rPr lang="ru-RU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ba3d66f664_0_4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“Музыковедение”</a:t>
            </a:r>
            <a:endParaRPr/>
          </a:p>
        </p:txBody>
      </p:sp>
      <p:sp>
        <p:nvSpPr>
          <p:cNvPr id="228" name="Google Shape;228;g2ba3d66f664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29" name="Google Shape;229;g2ba3d66f664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320" y="957935"/>
            <a:ext cx="6933961" cy="37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ba3d66f664_0_42"/>
          <p:cNvSpPr/>
          <p:nvPr/>
        </p:nvSpPr>
        <p:spPr>
          <a:xfrm>
            <a:off x="70800" y="4665925"/>
            <a:ext cx="907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a3d66f664_0_11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“Музыковедение”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6" name="Google Shape;236;g2ba3d66f664_0_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7" name="Google Shape;237;g2ba3d66f664_0_112"/>
          <p:cNvSpPr/>
          <p:nvPr/>
        </p:nvSpPr>
        <p:spPr>
          <a:xfrm>
            <a:off x="183450" y="887175"/>
            <a:ext cx="8842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“анализ музыки”?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ba3d66f664_0_112"/>
          <p:cNvSpPr/>
          <p:nvPr/>
        </p:nvSpPr>
        <p:spPr>
          <a:xfrm>
            <a:off x="35400" y="4789475"/>
            <a:ext cx="907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a3d66f664_0_4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</a:t>
            </a: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“Музыковедение”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4" name="Google Shape;244;g2ba3d66f664_0_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5" name="Google Shape;245;g2ba3d66f664_0_47"/>
          <p:cNvSpPr/>
          <p:nvPr/>
        </p:nvSpPr>
        <p:spPr>
          <a:xfrm>
            <a:off x="183450" y="887175"/>
            <a:ext cx="8842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“анализ музыки”? </a:t>
            </a:r>
            <a:r>
              <a:rPr b="0" i="0" lang="ru-RU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Пушкинский Сальери: “Звуки умертвив, музыку я разъял как труп”. От целого к элементам. Анализировать можно все: средства выразительности (лад, ритм, фактура), жанры, стиль композитора… [1 - 115 стр]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2ba3d66f664_0_47"/>
          <p:cNvSpPr/>
          <p:nvPr/>
        </p:nvSpPr>
        <p:spPr>
          <a:xfrm>
            <a:off x="35400" y="4789475"/>
            <a:ext cx="907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a3d66f664_0_8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“Музыковедение”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2" name="Google Shape;252;g2ba3d66f664_0_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3" name="Google Shape;253;g2ba3d66f664_0_88"/>
          <p:cNvSpPr/>
          <p:nvPr/>
        </p:nvSpPr>
        <p:spPr>
          <a:xfrm>
            <a:off x="183450" y="887175"/>
            <a:ext cx="8842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“анализ музыки”? </a:t>
            </a:r>
            <a:r>
              <a:rPr b="0" i="0" lang="ru-RU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Пушкинский Сальери: “Звуки умертвив, музыку я разъял как труп”. От целого к элементам. Анализировать можно все: средства выразительности (лад, ритм, фактура), жанры, стиль композитора… [1 - 115 стр]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ba3d66f664_0_88"/>
          <p:cNvSpPr/>
          <p:nvPr/>
        </p:nvSpPr>
        <p:spPr>
          <a:xfrm>
            <a:off x="837930" y="1909088"/>
            <a:ext cx="73815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О чем говорит музыка?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ba3d66f664_0_88"/>
          <p:cNvSpPr/>
          <p:nvPr/>
        </p:nvSpPr>
        <p:spPr>
          <a:xfrm>
            <a:off x="35400" y="4789475"/>
            <a:ext cx="907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a3d66f664_0_10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“Музыковедение”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1" name="Google Shape;261;g2ba3d66f664_0_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2" name="Google Shape;262;g2ba3d66f664_0_100"/>
          <p:cNvSpPr/>
          <p:nvPr/>
        </p:nvSpPr>
        <p:spPr>
          <a:xfrm>
            <a:off x="183450" y="887175"/>
            <a:ext cx="8842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“анализ музыки”? </a:t>
            </a:r>
            <a:r>
              <a:rPr b="0" i="0" lang="ru-RU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Пушкинский Сальери: “Звуки умертвив, музыку я разъял как труп”. От целого к элементам. Анализировать можно все: средства выразительности (лад, ритм, фактура), жанры, стиль композитора… [1 - 115 стр]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ba3d66f664_0_100"/>
          <p:cNvSpPr/>
          <p:nvPr/>
        </p:nvSpPr>
        <p:spPr>
          <a:xfrm>
            <a:off x="837930" y="1909088"/>
            <a:ext cx="73815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О чем говорит музыка?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ba3d66f664_0_100"/>
          <p:cNvSpPr/>
          <p:nvPr/>
        </p:nvSpPr>
        <p:spPr>
          <a:xfrm>
            <a:off x="909570" y="2318048"/>
            <a:ext cx="1507200" cy="6474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Муз. риторика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2ba3d66f664_0_100"/>
          <p:cNvSpPr/>
          <p:nvPr/>
        </p:nvSpPr>
        <p:spPr>
          <a:xfrm>
            <a:off x="2609850" y="2318048"/>
            <a:ext cx="5438100" cy="3075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Общее построение произведения, структура [1 - 140 стр]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2ba3d66f664_0_100"/>
          <p:cNvSpPr/>
          <p:nvPr/>
        </p:nvSpPr>
        <p:spPr>
          <a:xfrm>
            <a:off x="2609850" y="2657888"/>
            <a:ext cx="5438100" cy="3075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Взаимоотношения конкретных черт (интонационные фигуры)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ba3d66f664_0_100"/>
          <p:cNvSpPr/>
          <p:nvPr/>
        </p:nvSpPr>
        <p:spPr>
          <a:xfrm>
            <a:off x="35400" y="4789475"/>
            <a:ext cx="907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ba3d66f664_0_7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Наука “Музыковедение”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3" name="Google Shape;273;g2ba3d66f664_0_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4" name="Google Shape;274;g2ba3d66f664_0_76"/>
          <p:cNvSpPr/>
          <p:nvPr/>
        </p:nvSpPr>
        <p:spPr>
          <a:xfrm>
            <a:off x="183450" y="887175"/>
            <a:ext cx="8842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Что такое “анализ музыки”? </a:t>
            </a:r>
            <a:r>
              <a:rPr b="0" i="0" lang="ru-RU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Пушкинский Сальери: “Звуки умертвив, музыку я разъял как труп”. От целого к элементам. Анализировать можно все: средства выразительности (лад, ритм, фактура), жанры, стиль композитора… [1 - 115 стр]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ba3d66f664_0_76"/>
          <p:cNvSpPr/>
          <p:nvPr/>
        </p:nvSpPr>
        <p:spPr>
          <a:xfrm>
            <a:off x="837930" y="1909088"/>
            <a:ext cx="73815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О чем говорит музыка?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ba3d66f664_0_76"/>
          <p:cNvSpPr/>
          <p:nvPr/>
        </p:nvSpPr>
        <p:spPr>
          <a:xfrm>
            <a:off x="183450" y="3115250"/>
            <a:ext cx="88428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Интерпретация музыки</a:t>
            </a:r>
            <a:r>
              <a:rPr b="0" i="0" lang="ru-RU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Ю.И. Левин: “Говоря об ученых (X), которые с помощью логики и математики (Y) пытаются подойти к осмыслению и описанию объектов культуры (Z) - “строить аппарат для полета в космоса из деталей холодильника или пылесоса”, причем взаимная неприспособленность Y и Z не так относительна, как может представиться: можно сказать, что пылесос не приспособлен для космического полета, но нельзя сказать, что космос не приспособлен для полета в него на пылесосе” [1 - 208 стр]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2ba3d66f664_0_76"/>
          <p:cNvSpPr/>
          <p:nvPr/>
        </p:nvSpPr>
        <p:spPr>
          <a:xfrm>
            <a:off x="909570" y="2318048"/>
            <a:ext cx="1507200" cy="6474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12C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Муз. риторика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ba3d66f664_0_76"/>
          <p:cNvSpPr/>
          <p:nvPr/>
        </p:nvSpPr>
        <p:spPr>
          <a:xfrm>
            <a:off x="2609850" y="2318048"/>
            <a:ext cx="5438100" cy="3075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Общее построение произведения, структура [1 - 140 стр]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2ba3d66f664_0_76"/>
          <p:cNvSpPr/>
          <p:nvPr/>
        </p:nvSpPr>
        <p:spPr>
          <a:xfrm>
            <a:off x="2609850" y="2657888"/>
            <a:ext cx="5438100" cy="307500"/>
          </a:xfrm>
          <a:prstGeom prst="rect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Взаимоотношения конкретных черт (интонационные фигуры)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ba3d66f664_0_76"/>
          <p:cNvSpPr/>
          <p:nvPr/>
        </p:nvSpPr>
        <p:spPr>
          <a:xfrm>
            <a:off x="35400" y="4789475"/>
            <a:ext cx="907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Бронфельд М.Ш. Введение в музыкознание: Учеб. пособие для студ.высш.учеб.заведений - М.: Гуманит.изд.центр ВЛАДОС, 2001 - 224 с.: ноты - Режим доступа:  </a:t>
            </a:r>
            <a:r>
              <a:rPr b="0" i="0" lang="ru-RU" sz="8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ba3d66f664_0_5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Смежные дисциплины</a:t>
            </a:r>
            <a:endParaRPr/>
          </a:p>
        </p:txBody>
      </p:sp>
      <p:sp>
        <p:nvSpPr>
          <p:cNvPr id="286" name="Google Shape;286;g2ba3d66f664_0_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7" name="Google Shape;287;g2ba3d66f664_0_52"/>
          <p:cNvSpPr/>
          <p:nvPr/>
        </p:nvSpPr>
        <p:spPr>
          <a:xfrm>
            <a:off x="33375" y="4524150"/>
            <a:ext cx="9058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[2] 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Tan, Siu-Lan; Pfordresher, Peter; Harré, Rom (2010). </a:t>
            </a: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Psychology of Music: From Sound to Significance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New York: Psychology Press. p. 2.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ISBN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978-1-84169-868-7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Laske, O. (1999). AI and music: A cornerstone of cognitive musicology. In M. Balaban, K. Ebcioglu, &amp; O. Laske (Eds.), </a:t>
            </a: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 music with AI: Perspectives on music cognition.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Cambridge: The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MIT Press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Anna Jordanous, Ph.D. (10 April 2014).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"What is Computational Creativity?"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Retrieved 7 January 2019.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g2ba3d66f664_0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4580" y="1236450"/>
            <a:ext cx="2595601" cy="183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2ba3d66f664_0_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8900" y="1215210"/>
            <a:ext cx="1882800" cy="18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ba3d66f664_0_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46140" y="1215210"/>
            <a:ext cx="2510640" cy="18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a3d66f664_0_52"/>
          <p:cNvSpPr/>
          <p:nvPr/>
        </p:nvSpPr>
        <p:spPr>
          <a:xfrm>
            <a:off x="134574" y="3176875"/>
            <a:ext cx="29952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Музыкальная психология [2]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2ba3d66f664_0_52"/>
          <p:cNvSpPr/>
          <p:nvPr/>
        </p:nvSpPr>
        <p:spPr>
          <a:xfrm>
            <a:off x="2816700" y="3529850"/>
            <a:ext cx="315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Когнитивное музыковедение [3]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2ba3d66f664_0_52"/>
          <p:cNvSpPr/>
          <p:nvPr/>
        </p:nvSpPr>
        <p:spPr>
          <a:xfrm>
            <a:off x="5863875" y="3076400"/>
            <a:ext cx="31554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Вычислительное творчество [4]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ba3d66f664_0_57"/>
          <p:cNvSpPr txBox="1"/>
          <p:nvPr>
            <p:ph type="title"/>
          </p:nvPr>
        </p:nvSpPr>
        <p:spPr>
          <a:xfrm>
            <a:off x="57625" y="306425"/>
            <a:ext cx="728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90"/>
              <a:buFont typeface="Montserrat"/>
              <a:buNone/>
            </a:pPr>
            <a:r>
              <a:rPr b="0" lang="ru-RU" sz="2190">
                <a:latin typeface="Montserrat"/>
                <a:ea typeface="Montserrat"/>
                <a:cs typeface="Montserrat"/>
                <a:sym typeface="Montserrat"/>
              </a:rPr>
              <a:t>Что означает </a:t>
            </a:r>
            <a:r>
              <a:rPr lang="ru-RU" sz="2190">
                <a:latin typeface="Montserrat"/>
                <a:ea typeface="Montserrat"/>
                <a:cs typeface="Montserrat"/>
                <a:sym typeface="Montserrat"/>
              </a:rPr>
              <a:t>computational</a:t>
            </a:r>
            <a:r>
              <a:rPr b="0" lang="ru-RU" sz="2190">
                <a:latin typeface="Montserrat"/>
                <a:ea typeface="Montserrat"/>
                <a:cs typeface="Montserrat"/>
                <a:sym typeface="Montserrat"/>
              </a:rPr>
              <a:t> - вычислительная?</a:t>
            </a:r>
            <a:endParaRPr b="0" sz="318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9" name="Google Shape;299;g2ba3d66f664_0_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0" name="Google Shape;300;g2ba3d66f664_0_57"/>
          <p:cNvSpPr/>
          <p:nvPr/>
        </p:nvSpPr>
        <p:spPr>
          <a:xfrm>
            <a:off x="93649" y="950675"/>
            <a:ext cx="81477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Вычислительная математика, вычислительная биология, вычислительная физика, вычислительная лингвистика, вычислительное музыковедение … астрофизика, химия, геофизика, история, информатика, право, интеллект</a:t>
            </a:r>
            <a:endParaRPr b="0" i="0" sz="1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2ba3d66f664_0_57"/>
          <p:cNvSpPr/>
          <p:nvPr/>
        </p:nvSpPr>
        <p:spPr>
          <a:xfrm>
            <a:off x="18650" y="4683275"/>
            <a:ext cx="9144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"Sustainable computational science: the ReScience initiative"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PeerJ Comput Sci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e142.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1707.04393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Bibcode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2017arXiv170704393R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10.7717/peerj-cs.142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PMC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8530091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PMID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34722870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S2CID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7392801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a3d66f664_0_139"/>
          <p:cNvSpPr txBox="1"/>
          <p:nvPr>
            <p:ph type="title"/>
          </p:nvPr>
        </p:nvSpPr>
        <p:spPr>
          <a:xfrm>
            <a:off x="57625" y="306425"/>
            <a:ext cx="7283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90"/>
              <a:buNone/>
            </a:pPr>
            <a:r>
              <a:rPr b="0" lang="ru-RU" sz="2190">
                <a:latin typeface="Montserrat"/>
                <a:ea typeface="Montserrat"/>
                <a:cs typeface="Montserrat"/>
                <a:sym typeface="Montserrat"/>
              </a:rPr>
              <a:t>Что означает </a:t>
            </a:r>
            <a:r>
              <a:rPr lang="ru-RU" sz="2190">
                <a:latin typeface="Montserrat"/>
                <a:ea typeface="Montserrat"/>
                <a:cs typeface="Montserrat"/>
                <a:sym typeface="Montserrat"/>
              </a:rPr>
              <a:t>computational</a:t>
            </a:r>
            <a:r>
              <a:rPr b="0" lang="ru-RU" sz="2190">
                <a:latin typeface="Montserrat"/>
                <a:ea typeface="Montserrat"/>
                <a:cs typeface="Montserrat"/>
                <a:sym typeface="Montserrat"/>
              </a:rPr>
              <a:t> - вычислительная?</a:t>
            </a:r>
            <a:endParaRPr b="0" sz="318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7" name="Google Shape;307;g2ba3d66f664_0_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8" name="Google Shape;308;g2ba3d66f664_0_139"/>
          <p:cNvSpPr/>
          <p:nvPr/>
        </p:nvSpPr>
        <p:spPr>
          <a:xfrm>
            <a:off x="93649" y="950675"/>
            <a:ext cx="81477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0" i="0" lang="ru-RU" sz="16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Вычислительная математика, вычислительная биология, вычислительная физика, вычислительная лингвистика, вычислительное музыковедение … астрофизика, химия, геофизика, история, информатика, право, интеллект</a:t>
            </a:r>
            <a:endParaRPr b="0" i="0" sz="1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2ba3d66f664_0_139"/>
          <p:cNvSpPr txBox="1"/>
          <p:nvPr/>
        </p:nvSpPr>
        <p:spPr>
          <a:xfrm>
            <a:off x="174600" y="2047575"/>
            <a:ext cx="88158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Вычислительные науки применяют передовые методы математики и информатики во многих дисциплинах для получения новых знаний и для решения сложных задач. Применяются такие области, как: алгебра и геометрия, статистика, методы оптимизации, численный анализ [5].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10" name="Google Shape;310;g2ba3d66f664_0_139"/>
          <p:cNvSpPr/>
          <p:nvPr/>
        </p:nvSpPr>
        <p:spPr>
          <a:xfrm>
            <a:off x="18650" y="4683275"/>
            <a:ext cx="9144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"Sustainable computational science: the ReScience initiative"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PeerJ Comput Sci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e142.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1707.04393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Bibcode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2017arXiv170704393R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10.7717/peerj-cs.142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PMC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8530091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PMID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34722870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S2CID</a:t>
            </a: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7392801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ba3d66f664_0_6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16" name="Google Shape;316;g2ba3d66f664_0_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7" name="Google Shape;317;g2ba3d66f664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415" y="1534968"/>
            <a:ext cx="3632761" cy="224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2ba3d66f664_0_62"/>
          <p:cNvSpPr txBox="1"/>
          <p:nvPr/>
        </p:nvSpPr>
        <p:spPr>
          <a:xfrm>
            <a:off x="4362840" y="1396440"/>
            <a:ext cx="45552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Междисциплинарная наука, изучающая музыку с помощью вычислительных и компьютерных методов: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музыкальная информатика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математическая теория музыки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музыкальный поиск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звуковые и музыкальные вычисления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компьютерная музыка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системное музыковедение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- цифровое музыковедение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a3d66f664_0_12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24" name="Google Shape;324;g2ba3d66f664_0_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5" name="Google Shape;325;g2ba3d66f664_0_126"/>
          <p:cNvSpPr/>
          <p:nvPr/>
        </p:nvSpPr>
        <p:spPr>
          <a:xfrm>
            <a:off x="508630" y="1114695"/>
            <a:ext cx="3539100" cy="297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6" name="Google Shape;326;g2ba3d66f664_0_126"/>
          <p:cNvSpPr/>
          <p:nvPr/>
        </p:nvSpPr>
        <p:spPr>
          <a:xfrm>
            <a:off x="4810630" y="1071855"/>
            <a:ext cx="3539100" cy="2972400"/>
          </a:xfrm>
          <a:prstGeom prst="ellipse">
            <a:avLst/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7" name="Google Shape;327;g2ba3d66f664_0_126"/>
          <p:cNvSpPr/>
          <p:nvPr/>
        </p:nvSpPr>
        <p:spPr>
          <a:xfrm>
            <a:off x="1075270" y="2290815"/>
            <a:ext cx="1496400" cy="12669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8" name="Google Shape;328;g2ba3d66f664_0_126"/>
          <p:cNvSpPr/>
          <p:nvPr/>
        </p:nvSpPr>
        <p:spPr>
          <a:xfrm>
            <a:off x="5216350" y="1587735"/>
            <a:ext cx="1496400" cy="1266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9" name="Google Shape;329;g2ba3d66f664_0_126"/>
          <p:cNvSpPr/>
          <p:nvPr/>
        </p:nvSpPr>
        <p:spPr>
          <a:xfrm>
            <a:off x="1246270" y="4087215"/>
            <a:ext cx="237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0" i="0" lang="ru-RU" sz="1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Computational musicology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ba3d66f664_0_126"/>
          <p:cNvSpPr/>
          <p:nvPr/>
        </p:nvSpPr>
        <p:spPr>
          <a:xfrm>
            <a:off x="5468350" y="4087215"/>
            <a:ext cx="23736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0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Computational linguistic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2ba3d66f664_0_126"/>
          <p:cNvSpPr/>
          <p:nvPr/>
        </p:nvSpPr>
        <p:spPr>
          <a:xfrm>
            <a:off x="5087830" y="2854935"/>
            <a:ext cx="3354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1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Natural Language Processing</a:t>
            </a:r>
            <a:r>
              <a:rPr b="0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(NLP)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ba3d66f664_0_126"/>
          <p:cNvSpPr/>
          <p:nvPr/>
        </p:nvSpPr>
        <p:spPr>
          <a:xfrm>
            <a:off x="755950" y="1890855"/>
            <a:ext cx="3354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1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Music Information Retrieval</a:t>
            </a:r>
            <a:r>
              <a:rPr b="0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(MIR)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2ba3d66f664_0_126"/>
          <p:cNvSpPr/>
          <p:nvPr/>
        </p:nvSpPr>
        <p:spPr>
          <a:xfrm>
            <a:off x="-8640" y="4912560"/>
            <a:ext cx="4665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CD"/>
              </a:buClr>
              <a:buSzPts val="900"/>
              <a:buFont typeface="Arial"/>
              <a:buNone/>
            </a:pPr>
            <a:r>
              <a:rPr b="0" i="0" lang="ru-RU" sz="900" u="sng" cap="none" strike="noStrike">
                <a:solidFill>
                  <a:srgbClr val="7890C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musicinformationretrieval.com | Instructional notebooks on music information retrieval.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ba3d66f664_0_42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39" name="Google Shape;339;g2ba3d66f664_0_4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0" name="Google Shape;340;g2ba3d66f664_0_420"/>
          <p:cNvSpPr/>
          <p:nvPr/>
        </p:nvSpPr>
        <p:spPr>
          <a:xfrm>
            <a:off x="508630" y="1114695"/>
            <a:ext cx="3539100" cy="297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1" name="Google Shape;341;g2ba3d66f664_0_420"/>
          <p:cNvSpPr/>
          <p:nvPr/>
        </p:nvSpPr>
        <p:spPr>
          <a:xfrm>
            <a:off x="1729700" y="2056225"/>
            <a:ext cx="4538400" cy="20310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2" name="Google Shape;342;g2ba3d66f664_0_420"/>
          <p:cNvSpPr/>
          <p:nvPr/>
        </p:nvSpPr>
        <p:spPr>
          <a:xfrm>
            <a:off x="1075270" y="2290815"/>
            <a:ext cx="1496400" cy="12669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3" name="Google Shape;343;g2ba3d66f664_0_420"/>
          <p:cNvSpPr/>
          <p:nvPr/>
        </p:nvSpPr>
        <p:spPr>
          <a:xfrm>
            <a:off x="1246270" y="4087215"/>
            <a:ext cx="237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0" i="0" lang="ru-RU" sz="1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Computational musicology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2ba3d66f664_0_420"/>
          <p:cNvSpPr/>
          <p:nvPr/>
        </p:nvSpPr>
        <p:spPr>
          <a:xfrm>
            <a:off x="3433200" y="3295765"/>
            <a:ext cx="23736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lang="ru-RU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Music Data Mining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2ba3d66f664_0_420"/>
          <p:cNvSpPr/>
          <p:nvPr/>
        </p:nvSpPr>
        <p:spPr>
          <a:xfrm>
            <a:off x="755950" y="1890855"/>
            <a:ext cx="3354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1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Music Information Retrieval</a:t>
            </a:r>
            <a:r>
              <a:rPr b="0" i="0" lang="ru-RU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(MIR)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2ba3d66f664_0_420"/>
          <p:cNvSpPr/>
          <p:nvPr/>
        </p:nvSpPr>
        <p:spPr>
          <a:xfrm>
            <a:off x="-8640" y="4912560"/>
            <a:ext cx="4665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CD"/>
              </a:buClr>
              <a:buSzPts val="900"/>
              <a:buFont typeface="Arial"/>
              <a:buNone/>
            </a:pPr>
            <a:r>
              <a:rPr b="0" i="0" lang="ru-RU" sz="900" u="sng" cap="none" strike="noStrike">
                <a:solidFill>
                  <a:srgbClr val="7890C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musicinformationretrieval.com | Instructional notebooks on music information retrieval.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a3d66f664_0_13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52" name="Google Shape;352;g2ba3d66f664_0_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53" name="Google Shape;353;g2ba3d66f664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80" y="1199520"/>
            <a:ext cx="8723878" cy="34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ba3d66f664_0_15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59" name="Google Shape;359;g2ba3d66f664_0_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0" name="Google Shape;360;g2ba3d66f664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20" y="1214280"/>
            <a:ext cx="8742239" cy="3448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ba3d66f664_0_16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66" name="Google Shape;366;g2ba3d66f664_0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7" name="Google Shape;367;g2ba3d66f664_0_163"/>
          <p:cNvPicPr preferRelativeResize="0"/>
          <p:nvPr/>
        </p:nvPicPr>
        <p:blipFill rotWithShape="1">
          <a:blip r:embed="rId3">
            <a:alphaModFix/>
          </a:blip>
          <a:srcRect b="0" l="0" r="1146" t="2610"/>
          <a:stretch/>
        </p:blipFill>
        <p:spPr>
          <a:xfrm>
            <a:off x="183240" y="1176120"/>
            <a:ext cx="8777519" cy="330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ba3d66f664_0_17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73" name="Google Shape;373;g2ba3d66f664_0_1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4" name="Google Shape;374;g2ba3d66f664_0_173"/>
          <p:cNvSpPr txBox="1"/>
          <p:nvPr/>
        </p:nvSpPr>
        <p:spPr>
          <a:xfrm>
            <a:off x="243712" y="3863225"/>
            <a:ext cx="4028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https://liusongxiang.github.io/diffsvc/</a:t>
            </a:r>
            <a:r>
              <a:rPr b="0" lang="ru-RU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2ba3d66f664_0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000" y="1412188"/>
            <a:ext cx="2949480" cy="2319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2ba3d66f664_0_173"/>
          <p:cNvSpPr txBox="1"/>
          <p:nvPr/>
        </p:nvSpPr>
        <p:spPr>
          <a:xfrm>
            <a:off x="4472137" y="3863225"/>
            <a:ext cx="440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https://nobody996.github.io/FastSVC/</a:t>
            </a:r>
            <a:r>
              <a:rPr b="0" lang="ru-RU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2ba3d66f664_0_1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7760" y="1470995"/>
            <a:ext cx="2884680" cy="23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2ba3d66f664_0_173"/>
          <p:cNvSpPr txBox="1"/>
          <p:nvPr/>
        </p:nvSpPr>
        <p:spPr>
          <a:xfrm>
            <a:off x="2787875" y="978400"/>
            <a:ext cx="41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Синтез певческого голоса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ba3d66f664_0_17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384" name="Google Shape;384;g2ba3d66f664_0_1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5" name="Google Shape;385;g2ba3d66f664_0_178"/>
          <p:cNvSpPr txBox="1"/>
          <p:nvPr/>
        </p:nvSpPr>
        <p:spPr>
          <a:xfrm>
            <a:off x="2795075" y="833825"/>
            <a:ext cx="41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Перенос певческого голоса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6" name="Google Shape;386;g2ba3d66f664_0_178"/>
          <p:cNvSpPr txBox="1"/>
          <p:nvPr/>
        </p:nvSpPr>
        <p:spPr>
          <a:xfrm>
            <a:off x="0" y="4527850"/>
            <a:ext cx="445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https://create.musicfy.lol/create/voice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https://huggingface.co/QuickWick/Music-AI-Voices</a:t>
            </a:r>
            <a:r>
              <a:rPr lang="ru-RU"/>
              <a:t> </a:t>
            </a:r>
            <a:endParaRPr/>
          </a:p>
        </p:txBody>
      </p:sp>
      <p:pic>
        <p:nvPicPr>
          <p:cNvPr id="387" name="Google Shape;387;g2ba3d66f664_0_178" title="Spongebob Squarepants__lady_gaga_bloody_mary_mp3_2shYFe4y_combined.wa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1650" y="1694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2ba3d66f664_0_1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425" y="1326425"/>
            <a:ext cx="1183575" cy="13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2ba3d66f664_0_178"/>
          <p:cNvSpPr txBox="1"/>
          <p:nvPr/>
        </p:nvSpPr>
        <p:spPr>
          <a:xfrm>
            <a:off x="2355650" y="1407825"/>
            <a:ext cx="648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5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90" name="Google Shape;390;g2ba3d66f664_0_178" title="Patrick Star__maksim_znaesh_li_ty_rvVRFxjA_combined.wav"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1650" y="33518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2ba3d66f664_0_1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7425" y="3057250"/>
            <a:ext cx="1183575" cy="11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2ba3d66f664_0_178"/>
          <p:cNvSpPr txBox="1"/>
          <p:nvPr/>
        </p:nvSpPr>
        <p:spPr>
          <a:xfrm>
            <a:off x="2355650" y="3064725"/>
            <a:ext cx="648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5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93" name="Google Shape;393;g2ba3d66f664_0_178" title="Donald Trump__moya_mishel_zima_v_serdce_mp3_OEtak3GM_combined.wav">
            <a:hlinkClick r:id="rId10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775" y="1694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2ba3d66f664_0_1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83650" y="1326425"/>
            <a:ext cx="1048598" cy="131024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2ba3d66f664_0_178"/>
          <p:cNvSpPr txBox="1"/>
          <p:nvPr/>
        </p:nvSpPr>
        <p:spPr>
          <a:xfrm>
            <a:off x="5401975" y="1407825"/>
            <a:ext cx="648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5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96" name="Google Shape;396;g2ba3d66f664_0_178" title="Mickey Mouse__deti_onlinecom_prekrasnoe_daleko_QGvPH8Wy_combined.wav">
            <a:hlinkClick r:id="rId12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775" y="335182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2ba3d66f664_0_17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83650" y="2862050"/>
            <a:ext cx="1048600" cy="157396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2ba3d66f664_0_178"/>
          <p:cNvSpPr txBox="1"/>
          <p:nvPr/>
        </p:nvSpPr>
        <p:spPr>
          <a:xfrm>
            <a:off x="5401975" y="3064725"/>
            <a:ext cx="648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5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99" name="Google Shape;399;g2ba3d66f664_0_178" title="ai-coi_YrYmm5ff.mp3">
            <a:hlinkClick r:id="rId14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1400" y="2516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2ba3d66f664_0_17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86317" y="2224500"/>
            <a:ext cx="1166131" cy="11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2ba3d66f664_0_178"/>
          <p:cNvSpPr txBox="1"/>
          <p:nvPr/>
        </p:nvSpPr>
        <p:spPr>
          <a:xfrm>
            <a:off x="8190775" y="2229063"/>
            <a:ext cx="648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5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02" name="Google Shape;402;g2ba3d66f664_0_17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304671" y="1562252"/>
            <a:ext cx="838575" cy="8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2ba3d66f664_0_17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069563" y="2891750"/>
            <a:ext cx="1183575" cy="118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2ba3d66f664_0_17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50500" y="1357488"/>
            <a:ext cx="760869" cy="118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2ba3d66f664_0_17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333850" y="3064725"/>
            <a:ext cx="838575" cy="113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2ba3d66f664_0_17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147550" y="2256524"/>
            <a:ext cx="838575" cy="1119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a3d66f664_0_18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412" name="Google Shape;412;g2ba3d66f664_0_1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3" name="Google Shape;413;g2ba3d66f664_0_183"/>
          <p:cNvSpPr/>
          <p:nvPr/>
        </p:nvSpPr>
        <p:spPr>
          <a:xfrm>
            <a:off x="1331245" y="1891350"/>
            <a:ext cx="2895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None/>
            </a:pP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Синтез звуков </a:t>
            </a:r>
            <a:br>
              <a:rPr lang="ru-RU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 реальном времени [</a:t>
            </a:r>
            <a:r>
              <a:rPr lang="ru-RU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]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None/>
            </a:pP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Англия - </a:t>
            </a:r>
            <a:r>
              <a:rPr b="0" lang="ru-RU" sz="1300" u="sng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Примеры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2ba3d66f664_0_183"/>
          <p:cNvSpPr/>
          <p:nvPr/>
        </p:nvSpPr>
        <p:spPr>
          <a:xfrm>
            <a:off x="42840" y="4644360"/>
            <a:ext cx="8790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lang="ru-RU" sz="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ru-RU" sz="800">
                <a:solidFill>
                  <a:schemeClr val="dk1"/>
                </a:solidFill>
              </a:rPr>
              <a:t>6</a:t>
            </a:r>
            <a:r>
              <a:rPr b="0" lang="ru-RU" sz="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Ben Hayes, Charalampos Saitis, George Fazekas, “Neural Waveshaping Synthesis”, in Proc. of the 22nd Int. Society for Music Information Retrieval Conf., Online, 2021.. Access mode: https://archives.ismir.net/ismir2021/paper/000031.pdf</a:t>
            </a:r>
            <a:endParaRPr b="0" sz="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2ba3d66f664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00" y="1644120"/>
            <a:ext cx="2819520" cy="219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ba3d66f664_0_22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421" name="Google Shape;421;g2ba3d66f664_0_2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2" name="Google Shape;422;g2ba3d66f664_0_227"/>
          <p:cNvSpPr txBox="1"/>
          <p:nvPr/>
        </p:nvSpPr>
        <p:spPr>
          <a:xfrm>
            <a:off x="4809801" y="3997388"/>
            <a:ext cx="3837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https://youtu.be/DW61PpKJGm8</a:t>
            </a:r>
            <a:r>
              <a:rPr b="0" lang="ru-RU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2ba3d66f664_0_227"/>
          <p:cNvSpPr txBox="1"/>
          <p:nvPr/>
        </p:nvSpPr>
        <p:spPr>
          <a:xfrm>
            <a:off x="5051874" y="3612250"/>
            <a:ext cx="3668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https://www.aha-music.com/#</a:t>
            </a:r>
            <a:r>
              <a:rPr b="0" lang="ru-RU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g2ba3d66f664_0_2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1240" y="1421280"/>
            <a:ext cx="2501280" cy="217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2ba3d66f664_0_227"/>
          <p:cNvSpPr txBox="1"/>
          <p:nvPr/>
        </p:nvSpPr>
        <p:spPr>
          <a:xfrm>
            <a:off x="540623" y="4000025"/>
            <a:ext cx="3614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 strike="noStrike">
                <a:latin typeface="Arial"/>
                <a:ea typeface="Arial"/>
                <a:cs typeface="Arial"/>
                <a:sym typeface="Arial"/>
              </a:rPr>
              <a:t>Query by humming systems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2ba3d66f664_0_2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505" y="953710"/>
            <a:ext cx="4084561" cy="292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ba3d66f664_0_23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432" name="Google Shape;432;g2ba3d66f664_0_2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3" name="Google Shape;433;g2ba3d66f664_0_232"/>
          <p:cNvSpPr/>
          <p:nvPr/>
        </p:nvSpPr>
        <p:spPr>
          <a:xfrm>
            <a:off x="152280" y="4259520"/>
            <a:ext cx="46272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None/>
            </a:pP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Музыкальная транскрипция [</a:t>
            </a:r>
            <a:r>
              <a:rPr lang="ru-RU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r>
              <a:rPr b="0" lang="ru-RU" sz="1300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] - Япония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2ba3d66f664_0_232"/>
          <p:cNvSpPr/>
          <p:nvPr/>
        </p:nvSpPr>
        <p:spPr>
          <a:xfrm>
            <a:off x="42840" y="4644360"/>
            <a:ext cx="8790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lang="ru-RU" sz="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ru-RU" sz="800">
                <a:solidFill>
                  <a:schemeClr val="dk1"/>
                </a:solidFill>
              </a:rPr>
              <a:t>7</a:t>
            </a:r>
            <a:r>
              <a:rPr b="0" lang="ru-RU" sz="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Y. Hiramatsu, E. Nakamura, and K. Yoshii, “Joint Estimation of Note Values and Voices for Audio-to-Score Piano Transcription”, in Proc. of the 22nd Int. Society for Music Information Retrieval Conf., Online, 2021. Access mode: https://archives.ismir.net/ismir2021/paper/000034.pdf</a:t>
            </a:r>
            <a:endParaRPr b="0" sz="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g2ba3d66f664_0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9640" y="1034280"/>
            <a:ext cx="3948121" cy="34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2ba3d66f664_0_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280" y="968400"/>
            <a:ext cx="4419360" cy="331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ba3d66f664_0_16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Вычислительное музыковедение</a:t>
            </a:r>
            <a:endParaRPr/>
          </a:p>
        </p:txBody>
      </p:sp>
      <p:sp>
        <p:nvSpPr>
          <p:cNvPr id="442" name="Google Shape;442;g2ba3d66f664_0_1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3" name="Google Shape;443;g2ba3d66f664_0_168"/>
          <p:cNvSpPr/>
          <p:nvPr/>
        </p:nvSpPr>
        <p:spPr>
          <a:xfrm>
            <a:off x="5867280" y="0"/>
            <a:ext cx="3276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https://ismir2021.ismir.net/papers/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2ba3d66f664_0_168"/>
          <p:cNvSpPr txBox="1"/>
          <p:nvPr/>
        </p:nvSpPr>
        <p:spPr>
          <a:xfrm>
            <a:off x="457200" y="4074425"/>
            <a:ext cx="7233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автоматической музыкальной  транскрипции</a:t>
            </a:r>
            <a:r>
              <a:rPr lang="ru-RU" sz="1800">
                <a:solidFill>
                  <a:schemeClr val="dk1"/>
                </a:solidFill>
              </a:rPr>
              <a:t> МТ3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2ba3d66f664_0_168"/>
          <p:cNvSpPr txBox="1"/>
          <p:nvPr/>
        </p:nvSpPr>
        <p:spPr>
          <a:xfrm>
            <a:off x="0" y="4796700"/>
            <a:ext cx="293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https://storage.googleapis.com/mt3/index.html</a:t>
            </a:r>
            <a:r>
              <a:rPr b="0" lang="ru-RU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2ba3d66f664_0_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1583280"/>
            <a:ext cx="5715000" cy="184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2ba3d66f664_0_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175" y="1300175"/>
            <a:ext cx="25146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ba3d66f664_0_24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</a:t>
            </a: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 дисциплины</a:t>
            </a:r>
            <a:endParaRPr/>
          </a:p>
        </p:txBody>
      </p:sp>
      <p:sp>
        <p:nvSpPr>
          <p:cNvPr id="453" name="Google Shape;453;g2ba3d66f664_0_2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4" name="Google Shape;454;g2ba3d66f664_0_249"/>
          <p:cNvSpPr txBox="1"/>
          <p:nvPr/>
        </p:nvSpPr>
        <p:spPr>
          <a:xfrm>
            <a:off x="1737300" y="2110050"/>
            <a:ext cx="615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Вопрос: Какие дисциплины могут помочь в задачах вычислительного музыковедения?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ba3d66f664_0_26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/>
          </a:p>
        </p:txBody>
      </p:sp>
      <p:sp>
        <p:nvSpPr>
          <p:cNvPr id="460" name="Google Shape;460;g2ba3d66f664_0_2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61" name="Google Shape;461;g2ba3d66f664_0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450" y="971975"/>
            <a:ext cx="7933099" cy="40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ba3d66f664_0_27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/>
          </a:p>
        </p:txBody>
      </p:sp>
      <p:sp>
        <p:nvSpPr>
          <p:cNvPr id="467" name="Google Shape;467;g2ba3d66f664_0_2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8" name="Google Shape;468;g2ba3d66f664_0_273"/>
          <p:cNvSpPr/>
          <p:nvPr/>
        </p:nvSpPr>
        <p:spPr>
          <a:xfrm>
            <a:off x="32080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Теория графов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2ba3d66f664_0_273"/>
          <p:cNvSpPr/>
          <p:nvPr/>
        </p:nvSpPr>
        <p:spPr>
          <a:xfrm>
            <a:off x="329415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ba3d66f664_0_273"/>
          <p:cNvSpPr/>
          <p:nvPr/>
        </p:nvSpPr>
        <p:spPr>
          <a:xfrm>
            <a:off x="6267500" y="1499188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2ba3d66f664_0_273"/>
          <p:cNvSpPr/>
          <p:nvPr/>
        </p:nvSpPr>
        <p:spPr>
          <a:xfrm>
            <a:off x="329415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ba3d66f664_0_273"/>
          <p:cNvSpPr/>
          <p:nvPr/>
        </p:nvSpPr>
        <p:spPr>
          <a:xfrm>
            <a:off x="6267500" y="1499188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Нечеткость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ba3d66f664_0_273"/>
          <p:cNvSpPr/>
          <p:nvPr/>
        </p:nvSpPr>
        <p:spPr>
          <a:xfrm>
            <a:off x="816300" y="2374950"/>
            <a:ext cx="4812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2ba3d66f664_0_273"/>
          <p:cNvSpPr/>
          <p:nvPr/>
        </p:nvSpPr>
        <p:spPr>
          <a:xfrm>
            <a:off x="1952475" y="2677075"/>
            <a:ext cx="4812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ba3d66f664_0_273"/>
          <p:cNvSpPr/>
          <p:nvPr/>
        </p:nvSpPr>
        <p:spPr>
          <a:xfrm>
            <a:off x="639900" y="3428275"/>
            <a:ext cx="4812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2ba3d66f664_0_273"/>
          <p:cNvSpPr/>
          <p:nvPr/>
        </p:nvSpPr>
        <p:spPr>
          <a:xfrm>
            <a:off x="1669150" y="3428275"/>
            <a:ext cx="4812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g2ba3d66f664_0_273"/>
          <p:cNvCxnSpPr>
            <a:stCxn id="473" idx="6"/>
            <a:endCxn id="474" idx="1"/>
          </p:cNvCxnSpPr>
          <p:nvPr/>
        </p:nvCxnSpPr>
        <p:spPr>
          <a:xfrm>
            <a:off x="1297500" y="2571750"/>
            <a:ext cx="725400" cy="16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8" name="Google Shape;478;g2ba3d66f664_0_273"/>
          <p:cNvCxnSpPr>
            <a:stCxn id="475" idx="6"/>
            <a:endCxn id="476" idx="2"/>
          </p:cNvCxnSpPr>
          <p:nvPr/>
        </p:nvCxnSpPr>
        <p:spPr>
          <a:xfrm>
            <a:off x="1121100" y="3625075"/>
            <a:ext cx="5481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g2ba3d66f664_0_273"/>
          <p:cNvCxnSpPr>
            <a:stCxn id="473" idx="5"/>
            <a:endCxn id="476" idx="1"/>
          </p:cNvCxnSpPr>
          <p:nvPr/>
        </p:nvCxnSpPr>
        <p:spPr>
          <a:xfrm>
            <a:off x="1227030" y="2710909"/>
            <a:ext cx="512700" cy="774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g2ba3d66f664_0_273"/>
          <p:cNvCxnSpPr>
            <a:stCxn id="475" idx="0"/>
            <a:endCxn id="473" idx="4"/>
          </p:cNvCxnSpPr>
          <p:nvPr/>
        </p:nvCxnSpPr>
        <p:spPr>
          <a:xfrm flipH="1" rot="10800000">
            <a:off x="880500" y="2768575"/>
            <a:ext cx="176400" cy="65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81" name="Google Shape;481;g2ba3d66f664_0_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424" y="2240200"/>
            <a:ext cx="2325144" cy="15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2ba3d66f664_0_2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500" y="2231749"/>
            <a:ext cx="2564630" cy="17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ba3d66f664_0_27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/>
          </a:p>
        </p:txBody>
      </p:sp>
      <p:sp>
        <p:nvSpPr>
          <p:cNvPr id="488" name="Google Shape;488;g2ba3d66f664_0_2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89" name="Google Shape;489;g2ba3d66f664_0_278"/>
          <p:cNvSpPr/>
          <p:nvPr/>
        </p:nvSpPr>
        <p:spPr>
          <a:xfrm>
            <a:off x="320800" y="1037250"/>
            <a:ext cx="8426400" cy="36258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Методы оптимизации, исследование операций и эволюционное моделирование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2ba3d66f664_0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9150" y="1952200"/>
            <a:ext cx="2233300" cy="22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2ba3d66f664_0_278"/>
          <p:cNvSpPr txBox="1"/>
          <p:nvPr/>
        </p:nvSpPr>
        <p:spPr>
          <a:xfrm>
            <a:off x="6585850" y="4185500"/>
            <a:ext cx="19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Evolutionary art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g2ba3d66f664_0_278"/>
          <p:cNvSpPr txBox="1"/>
          <p:nvPr/>
        </p:nvSpPr>
        <p:spPr>
          <a:xfrm>
            <a:off x="42775" y="4590625"/>
            <a:ext cx="744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ru-RU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Biles, J. Evolutionary Computer Music / J. Biles. – Springer, 2007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ru-RU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Romero, J. The Art of Artificial Evolution / J. Romero. - Springer, 2007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2ba3d66f664_0_278"/>
          <p:cNvSpPr/>
          <p:nvPr/>
        </p:nvSpPr>
        <p:spPr>
          <a:xfrm>
            <a:off x="695050" y="2178150"/>
            <a:ext cx="4383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2ba3d66f664_0_278"/>
          <p:cNvSpPr/>
          <p:nvPr/>
        </p:nvSpPr>
        <p:spPr>
          <a:xfrm>
            <a:off x="859200" y="2731063"/>
            <a:ext cx="438300" cy="3936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ba3d66f664_0_278"/>
          <p:cNvSpPr/>
          <p:nvPr/>
        </p:nvSpPr>
        <p:spPr>
          <a:xfrm>
            <a:off x="1297500" y="2258375"/>
            <a:ext cx="438300" cy="3936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2ba3d66f664_0_278"/>
          <p:cNvSpPr/>
          <p:nvPr/>
        </p:nvSpPr>
        <p:spPr>
          <a:xfrm>
            <a:off x="499950" y="3284000"/>
            <a:ext cx="438300" cy="39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2ba3d66f664_0_278"/>
          <p:cNvSpPr/>
          <p:nvPr/>
        </p:nvSpPr>
        <p:spPr>
          <a:xfrm>
            <a:off x="1208425" y="3258250"/>
            <a:ext cx="438300" cy="3936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2ba3d66f664_0_278"/>
          <p:cNvSpPr/>
          <p:nvPr/>
        </p:nvSpPr>
        <p:spPr>
          <a:xfrm>
            <a:off x="859200" y="3785425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2ba3d66f664_0_278"/>
          <p:cNvSpPr/>
          <p:nvPr/>
        </p:nvSpPr>
        <p:spPr>
          <a:xfrm>
            <a:off x="2225925" y="2258375"/>
            <a:ext cx="4383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2ba3d66f664_0_278"/>
          <p:cNvSpPr/>
          <p:nvPr/>
        </p:nvSpPr>
        <p:spPr>
          <a:xfrm>
            <a:off x="2030825" y="3364225"/>
            <a:ext cx="438300" cy="39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2ba3d66f664_0_278"/>
          <p:cNvSpPr/>
          <p:nvPr/>
        </p:nvSpPr>
        <p:spPr>
          <a:xfrm>
            <a:off x="2739300" y="3338475"/>
            <a:ext cx="438300" cy="3936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2ba3d66f664_0_278"/>
          <p:cNvSpPr/>
          <p:nvPr/>
        </p:nvSpPr>
        <p:spPr>
          <a:xfrm>
            <a:off x="2390075" y="386565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2ba3d66f664_0_278"/>
          <p:cNvSpPr/>
          <p:nvPr/>
        </p:nvSpPr>
        <p:spPr>
          <a:xfrm>
            <a:off x="2828375" y="2571750"/>
            <a:ext cx="4383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2ba3d66f664_0_278"/>
          <p:cNvSpPr/>
          <p:nvPr/>
        </p:nvSpPr>
        <p:spPr>
          <a:xfrm>
            <a:off x="2178900" y="286280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2ba3d66f664_0_278"/>
          <p:cNvSpPr/>
          <p:nvPr/>
        </p:nvSpPr>
        <p:spPr>
          <a:xfrm>
            <a:off x="3691350" y="2258375"/>
            <a:ext cx="438300" cy="39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2ba3d66f664_0_278"/>
          <p:cNvSpPr/>
          <p:nvPr/>
        </p:nvSpPr>
        <p:spPr>
          <a:xfrm>
            <a:off x="3496250" y="3364225"/>
            <a:ext cx="438300" cy="39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2ba3d66f664_0_278"/>
          <p:cNvSpPr/>
          <p:nvPr/>
        </p:nvSpPr>
        <p:spPr>
          <a:xfrm>
            <a:off x="4204725" y="3338475"/>
            <a:ext cx="438300" cy="393600"/>
          </a:xfrm>
          <a:prstGeom prst="ellipse">
            <a:avLst/>
          </a:prstGeom>
          <a:solidFill>
            <a:srgbClr val="FF00FF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2ba3d66f664_0_278"/>
          <p:cNvSpPr/>
          <p:nvPr/>
        </p:nvSpPr>
        <p:spPr>
          <a:xfrm>
            <a:off x="3855500" y="386565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2ba3d66f664_0_278"/>
          <p:cNvSpPr/>
          <p:nvPr/>
        </p:nvSpPr>
        <p:spPr>
          <a:xfrm>
            <a:off x="4293800" y="2571750"/>
            <a:ext cx="438300" cy="393600"/>
          </a:xfrm>
          <a:prstGeom prst="ellipse">
            <a:avLst/>
          </a:prstGeom>
          <a:solidFill>
            <a:srgbClr val="FF0000"/>
          </a:solidFill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2ba3d66f664_0_278"/>
          <p:cNvSpPr/>
          <p:nvPr/>
        </p:nvSpPr>
        <p:spPr>
          <a:xfrm>
            <a:off x="3644325" y="286280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2ba3d66f664_0_278"/>
          <p:cNvSpPr/>
          <p:nvPr/>
        </p:nvSpPr>
        <p:spPr>
          <a:xfrm>
            <a:off x="5191613" y="2258375"/>
            <a:ext cx="438300" cy="3936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2ba3d66f664_0_278"/>
          <p:cNvSpPr/>
          <p:nvPr/>
        </p:nvSpPr>
        <p:spPr>
          <a:xfrm>
            <a:off x="4996513" y="3364225"/>
            <a:ext cx="438300" cy="3936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2ba3d66f664_0_278"/>
          <p:cNvSpPr/>
          <p:nvPr/>
        </p:nvSpPr>
        <p:spPr>
          <a:xfrm>
            <a:off x="5704988" y="3338475"/>
            <a:ext cx="438300" cy="393600"/>
          </a:xfrm>
          <a:prstGeom prst="ellipse">
            <a:avLst/>
          </a:prstGeom>
          <a:solidFill>
            <a:srgbClr val="FF00FF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2ba3d66f664_0_278"/>
          <p:cNvSpPr/>
          <p:nvPr/>
        </p:nvSpPr>
        <p:spPr>
          <a:xfrm>
            <a:off x="5355763" y="386565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2ba3d66f664_0_278"/>
          <p:cNvSpPr/>
          <p:nvPr/>
        </p:nvSpPr>
        <p:spPr>
          <a:xfrm>
            <a:off x="5794063" y="2571750"/>
            <a:ext cx="438300" cy="393600"/>
          </a:xfrm>
          <a:prstGeom prst="ellipse">
            <a:avLst/>
          </a:prstGeom>
          <a:solidFill>
            <a:srgbClr val="FF9900"/>
          </a:solidFill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2ba3d66f664_0_278"/>
          <p:cNvSpPr/>
          <p:nvPr/>
        </p:nvSpPr>
        <p:spPr>
          <a:xfrm>
            <a:off x="5144588" y="2862800"/>
            <a:ext cx="438300" cy="393600"/>
          </a:xfrm>
          <a:prstGeom prst="ellipse">
            <a:avLst/>
          </a:prstGeom>
          <a:solidFill>
            <a:srgbClr val="0000FF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2ba3d66f664_0_278"/>
          <p:cNvSpPr txBox="1"/>
          <p:nvPr/>
        </p:nvSpPr>
        <p:spPr>
          <a:xfrm>
            <a:off x="1331750" y="4258125"/>
            <a:ext cx="548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Селекция       </a:t>
            </a:r>
            <a:r>
              <a:rPr lang="ru-RU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ru-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Кроссинговер          Мутация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a3d66f664_0_28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/>
          </a:p>
        </p:txBody>
      </p:sp>
      <p:sp>
        <p:nvSpPr>
          <p:cNvPr id="523" name="Google Shape;523;g2ba3d66f664_0_2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4" name="Google Shape;524;g2ba3d66f664_0_285"/>
          <p:cNvSpPr/>
          <p:nvPr/>
        </p:nvSpPr>
        <p:spPr>
          <a:xfrm>
            <a:off x="32080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ba3d66f664_0_285"/>
          <p:cNvSpPr/>
          <p:nvPr/>
        </p:nvSpPr>
        <p:spPr>
          <a:xfrm>
            <a:off x="329415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2ba3d66f664_0_285"/>
          <p:cNvSpPr/>
          <p:nvPr/>
        </p:nvSpPr>
        <p:spPr>
          <a:xfrm>
            <a:off x="6267500" y="1499188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ba3d66f664_0_285"/>
          <p:cNvSpPr/>
          <p:nvPr/>
        </p:nvSpPr>
        <p:spPr>
          <a:xfrm>
            <a:off x="320800" y="150775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Базы данных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2ba3d66f664_0_285"/>
          <p:cNvSpPr/>
          <p:nvPr/>
        </p:nvSpPr>
        <p:spPr>
          <a:xfrm>
            <a:off x="3294150" y="1499200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Теория информации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2ba3d66f664_0_285"/>
          <p:cNvSpPr/>
          <p:nvPr/>
        </p:nvSpPr>
        <p:spPr>
          <a:xfrm>
            <a:off x="6267500" y="1499188"/>
            <a:ext cx="2555700" cy="29727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Экспертные системы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g2ba3d66f664_0_285"/>
          <p:cNvPicPr preferRelativeResize="0"/>
          <p:nvPr/>
        </p:nvPicPr>
        <p:blipFill rotWithShape="1">
          <a:blip r:embed="rId3">
            <a:alphaModFix/>
          </a:blip>
          <a:srcRect b="-22084" l="1980" r="-1980" t="20220"/>
          <a:stretch/>
        </p:blipFill>
        <p:spPr>
          <a:xfrm>
            <a:off x="460325" y="2168625"/>
            <a:ext cx="2319950" cy="10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2ba3d66f664_0_2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25" y="2801650"/>
            <a:ext cx="2276651" cy="14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2ba3d66f664_0_2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0947" y="2380922"/>
            <a:ext cx="2202100" cy="8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g2ba3d66f664_0_2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1775" y="3357475"/>
            <a:ext cx="1780451" cy="10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g2ba3d66f664_0_2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4978" y="2380925"/>
            <a:ext cx="2100729" cy="20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ba3d66f664_0_35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Основополагающие дисциплины</a:t>
            </a:r>
            <a:endParaRPr/>
          </a:p>
        </p:txBody>
      </p:sp>
      <p:sp>
        <p:nvSpPr>
          <p:cNvPr id="540" name="Google Shape;540;g2ba3d66f664_0_3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41" name="Google Shape;541;g2ba3d66f664_0_356"/>
          <p:cNvSpPr/>
          <p:nvPr/>
        </p:nvSpPr>
        <p:spPr>
          <a:xfrm>
            <a:off x="320800" y="1037250"/>
            <a:ext cx="8426400" cy="3625800"/>
          </a:xfrm>
          <a:prstGeom prst="roundRect">
            <a:avLst>
              <a:gd fmla="val 16667" name="adj"/>
            </a:avLst>
          </a:prstGeom>
          <a:solidFill>
            <a:srgbClr val="82C7A5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Машинное обучение и вычислительный интеллект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g2ba3d66f664_0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00" y="1808251"/>
            <a:ext cx="4345252" cy="2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2ba3d66f664_0_356"/>
          <p:cNvSpPr txBox="1"/>
          <p:nvPr/>
        </p:nvSpPr>
        <p:spPr>
          <a:xfrm>
            <a:off x="4783650" y="3749538"/>
            <a:ext cx="567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https://www.asimovinstitute.org/neural-network-zoo/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2ba3d66f664_0_3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3650" y="1808248"/>
            <a:ext cx="3882726" cy="10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2ba3d66f664_0_3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3650" y="2882824"/>
            <a:ext cx="3882725" cy="86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ba3d66f664_0_29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Введение в ЦОС и сигналы</a:t>
            </a:r>
            <a:endParaRPr/>
          </a:p>
        </p:txBody>
      </p:sp>
      <p:sp>
        <p:nvSpPr>
          <p:cNvPr id="551" name="Google Shape;551;g2ba3d66f664_0_2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2" name="Google Shape;552;g2ba3d66f664_0_290"/>
          <p:cNvSpPr txBox="1"/>
          <p:nvPr/>
        </p:nvSpPr>
        <p:spPr>
          <a:xfrm>
            <a:off x="259875" y="940050"/>
            <a:ext cx="60276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Что такое сигнал?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-"/>
            </a:pPr>
            <a:r>
              <a:rPr lang="ru-RU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Сигнал - функция (математика)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-"/>
            </a:pPr>
            <a:r>
              <a:rPr lang="ru-RU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Сигнал - носитель (теория информации)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-"/>
            </a:pPr>
            <a:r>
              <a:rPr lang="ru-RU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Сигнал - описание эволюции физического явления (ЦОС)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g2ba3d66f664_0_290"/>
          <p:cNvSpPr txBox="1"/>
          <p:nvPr/>
        </p:nvSpPr>
        <p:spPr>
          <a:xfrm>
            <a:off x="0" y="4738450"/>
            <a:ext cx="615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Летняя школа от ЦРТ по ЦОС и речевым технологиям - https://www.youtube.com/watch?v=mE07Hv1R5uc&amp;list=PL950oao1ANsKP_NfxwSc4ZwfghRntYmzk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4" name="Google Shape;554;g2ba3d66f664_0_290"/>
          <p:cNvPicPr preferRelativeResize="0"/>
          <p:nvPr/>
        </p:nvPicPr>
        <p:blipFill rotWithShape="1">
          <a:blip r:embed="rId3">
            <a:alphaModFix/>
          </a:blip>
          <a:srcRect b="34194" l="16839" r="0" t="34935"/>
          <a:stretch/>
        </p:blipFill>
        <p:spPr>
          <a:xfrm>
            <a:off x="171100" y="3411250"/>
            <a:ext cx="4576751" cy="9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2ba3d66f664_0_2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5649" y="3125950"/>
            <a:ext cx="2489001" cy="188497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2ba3d66f664_0_290"/>
          <p:cNvSpPr txBox="1"/>
          <p:nvPr/>
        </p:nvSpPr>
        <p:spPr>
          <a:xfrm>
            <a:off x="171100" y="3011050"/>
            <a:ext cx="43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1D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g2ba3d66f664_0_290"/>
          <p:cNvSpPr txBox="1"/>
          <p:nvPr/>
        </p:nvSpPr>
        <p:spPr>
          <a:xfrm>
            <a:off x="4927350" y="3125950"/>
            <a:ext cx="43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2D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" name="Google Shape;558;g2ba3d66f664_0_290"/>
          <p:cNvSpPr/>
          <p:nvPr/>
        </p:nvSpPr>
        <p:spPr>
          <a:xfrm>
            <a:off x="6865100" y="1584900"/>
            <a:ext cx="887400" cy="393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1B212C"/>
                </a:solidFill>
                <a:latin typeface="Arial"/>
                <a:ea typeface="Arial"/>
                <a:cs typeface="Arial"/>
                <a:sym typeface="Arial"/>
              </a:rPr>
              <a:t>Анализ</a:t>
            </a:r>
            <a:endParaRPr b="0" i="0" sz="1400" u="none" cap="none" strike="noStrike">
              <a:solidFill>
                <a:srgbClr val="1B21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ba3d66f664_0_290"/>
          <p:cNvSpPr/>
          <p:nvPr/>
        </p:nvSpPr>
        <p:spPr>
          <a:xfrm>
            <a:off x="7966700" y="1584900"/>
            <a:ext cx="887400" cy="393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1B212C"/>
                </a:solidFill>
                <a:latin typeface="Arial"/>
                <a:ea typeface="Arial"/>
                <a:cs typeface="Arial"/>
                <a:sym typeface="Arial"/>
              </a:rPr>
              <a:t>Синтез</a:t>
            </a:r>
            <a:endParaRPr b="0" i="0" sz="1400" u="none" cap="none" strike="noStrike">
              <a:solidFill>
                <a:srgbClr val="1B21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ba3d66f664_0_290"/>
          <p:cNvSpPr/>
          <p:nvPr/>
        </p:nvSpPr>
        <p:spPr>
          <a:xfrm>
            <a:off x="6865100" y="1191300"/>
            <a:ext cx="1989000" cy="393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1B212C"/>
                </a:solidFill>
                <a:latin typeface="Arial"/>
                <a:ea typeface="Arial"/>
                <a:cs typeface="Arial"/>
                <a:sym typeface="Arial"/>
              </a:rPr>
              <a:t>Обработка сигнала</a:t>
            </a:r>
            <a:endParaRPr b="0" i="0" sz="1400" u="none" cap="none" strike="noStrike">
              <a:solidFill>
                <a:srgbClr val="1B212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ba3d66f664_0_29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Введение в ЦОС и сигналы</a:t>
            </a:r>
            <a:endParaRPr/>
          </a:p>
        </p:txBody>
      </p:sp>
      <p:sp>
        <p:nvSpPr>
          <p:cNvPr id="566" name="Google Shape;566;g2ba3d66f664_0_2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67" name="Google Shape;567;g2ba3d66f664_0_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300" y="833813"/>
            <a:ext cx="8543925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2ba3d66f664_0_295"/>
          <p:cNvSpPr txBox="1"/>
          <p:nvPr/>
        </p:nvSpPr>
        <p:spPr>
          <a:xfrm>
            <a:off x="125825" y="3985575"/>
            <a:ext cx="8736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Цифровой сигнал</a:t>
            </a: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- это сигнал дискретный, квантованный и закодированный (прямой, обратный, дополн. коды).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2ba3d66f664_0_295"/>
          <p:cNvSpPr txBox="1"/>
          <p:nvPr/>
        </p:nvSpPr>
        <p:spPr>
          <a:xfrm>
            <a:off x="0" y="4738450"/>
            <a:ext cx="615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Летняя школа от ЦРТ по ЦОС и речевым технологиям - https://www.youtube.com/watch?v=mE07Hv1R5uc&amp;list=PL950oao1ANsKP_NfxwSc4ZwfghRntYmzk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ba3d66f664_0_37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Введение в ЦОС и сигналы</a:t>
            </a:r>
            <a:endParaRPr/>
          </a:p>
        </p:txBody>
      </p:sp>
      <p:sp>
        <p:nvSpPr>
          <p:cNvPr id="575" name="Google Shape;575;g2ba3d66f664_0_3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76" name="Google Shape;576;g2ba3d66f664_0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50" y="1460250"/>
            <a:ext cx="8264908" cy="3050567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2ba3d66f664_0_375"/>
          <p:cNvSpPr txBox="1"/>
          <p:nvPr/>
        </p:nvSpPr>
        <p:spPr>
          <a:xfrm>
            <a:off x="0" y="4738450"/>
            <a:ext cx="615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Летняя школа от ЦРТ по ЦОС и речевым технологиям - https://www.youtube.com/watch?v=mE07Hv1R5uc&amp;list=PL950oao1ANsKP_NfxwSc4ZwfghRntYmzk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ba3d66f664_0_38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Введение в ЦОС и сигналы</a:t>
            </a:r>
            <a:endParaRPr/>
          </a:p>
        </p:txBody>
      </p:sp>
      <p:sp>
        <p:nvSpPr>
          <p:cNvPr id="583" name="Google Shape;583;g2ba3d66f664_0_3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84" name="Google Shape;584;g2ba3d66f664_0_380"/>
          <p:cNvSpPr txBox="1"/>
          <p:nvPr/>
        </p:nvSpPr>
        <p:spPr>
          <a:xfrm>
            <a:off x="243600" y="903075"/>
            <a:ext cx="5079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Теорема Котельникова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(теорема Уиттекера Найквиста Котельникова Шеннона, теорема отсчетов) гласит о том, что непрерывный сигнал с ограниченным спектром можно точно восстановить по его дискретным отсчетам, если они были взяты с частотой дискретизации, превышающего максимальную частоту сигнала минимум в два раза.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2ba3d66f664_0_380"/>
          <p:cNvSpPr txBox="1"/>
          <p:nvPr/>
        </p:nvSpPr>
        <p:spPr>
          <a:xfrm>
            <a:off x="482263" y="3711825"/>
            <a:ext cx="347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Непрерывный сигнал может быть получен с помощью ряда Котельникова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6" name="Google Shape;586;g2ba3d66f664_0_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25" y="2380575"/>
            <a:ext cx="39528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2ba3d66f664_0_3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00" y="2937138"/>
            <a:ext cx="42672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g2ba3d66f664_0_3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5873" y="1015712"/>
            <a:ext cx="2880125" cy="1739563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g2ba3d66f664_0_380"/>
          <p:cNvSpPr txBox="1"/>
          <p:nvPr/>
        </p:nvSpPr>
        <p:spPr>
          <a:xfrm>
            <a:off x="0" y="4738450"/>
            <a:ext cx="615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Летняя школа от ЦРТ по ЦОС и речевым технологиям - https://www.youtube.com/watch?v=mE07Hv1R5uc&amp;list=PL950oao1ANsKP_NfxwSc4ZwfghRntYmzk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ЛР1. Работа с звуковыми сигналами на Python</a:t>
            </a:r>
            <a:endParaRPr/>
          </a:p>
        </p:txBody>
      </p:sp>
      <p:sp>
        <p:nvSpPr>
          <p:cNvPr id="596" name="Google Shape;596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7" name="Google Shape;597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20 февраля 2024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27 февраля 2024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https://colab.research.google.com/drive/1ow6Y3J6oaf014ioVKGy29pZLcwPumKH9?usp=sharing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98" name="Google Shape;598;g2ba3d66f664_0_4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604" name="Google Shape;604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5" name="Google Shape;60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