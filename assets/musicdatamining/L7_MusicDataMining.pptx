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y="5143500" cx="9144000"/>
  <p:notesSz cx="6858000" cy="9144000"/>
  <p:embeddedFontLst>
    <p:embeddedFont>
      <p:font typeface="Golos Text"/>
      <p:regular r:id="rId50"/>
      <p:bold r:id="rId51"/>
    </p:embeddedFont>
    <p:embeddedFont>
      <p:font typeface="Corbel"/>
      <p:regular r:id="rId52"/>
      <p:bold r:id="rId53"/>
      <p:italic r:id="rId54"/>
      <p:boldItalic r:id="rId55"/>
    </p:embeddedFont>
    <p:embeddedFont>
      <p:font typeface="Lustria"/>
      <p:regular r:id="rId56"/>
    </p:embeddedFont>
    <p:embeddedFont>
      <p:font typeface="Golos Text SemiBold"/>
      <p:regular r:id="rId57"/>
      <p:bold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GoogleSlidesCustomDataVersion2">
      <go:slidesCustomData xmlns:go="http://customooxmlschemas.google.com/" r:id="rId59" roundtripDataSignature="AMtx7mi/4qtAghY+uqzL2sv5kY++qDex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A578F19-C291-49D1-9636-2060928151E0}">
  <a:tblStyle styleId="{DA578F19-C291-49D1-9636-2060928151E0}" styleName="Table_0">
    <a:wholeTbl>
      <a:tcTxStyle b="off" i="off">
        <a:font>
          <a:latin typeface="Corbel"/>
          <a:ea typeface="Corbel"/>
          <a:cs typeface="Corbel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B"/>
          </a:solidFill>
        </a:fill>
      </a:tcStyle>
    </a:wholeTbl>
    <a:band1H>
      <a:tcTxStyle/>
      <a:tcStyle>
        <a:fill>
          <a:solidFill>
            <a:srgbClr val="CCE2F8"/>
          </a:solidFill>
        </a:fill>
      </a:tcStyle>
    </a:band1H>
    <a:band2H>
      <a:tcTxStyle/>
    </a:band2H>
    <a:band1V>
      <a:tcTxStyle/>
      <a:tcStyle>
        <a:fill>
          <a:solidFill>
            <a:srgbClr val="CCE2F8"/>
          </a:solidFill>
        </a:fill>
      </a:tcStyle>
    </a:band1V>
    <a:band2V>
      <a:tcTxStyle/>
    </a:band2V>
    <a:lastCol>
      <a:tcTxStyle b="on" i="off">
        <a:font>
          <a:latin typeface="Corbel"/>
          <a:ea typeface="Corbel"/>
          <a:cs typeface="Corbel"/>
        </a:font>
        <a:srgbClr val="FFFFFF"/>
      </a:tcTxStyle>
      <a:tcStyle>
        <a:fill>
          <a:solidFill>
            <a:srgbClr val="30ACEC"/>
          </a:solidFill>
        </a:fill>
      </a:tcStyle>
    </a:lastCol>
    <a:firstCol>
      <a:tcTxStyle b="on" i="off">
        <a:font>
          <a:latin typeface="Corbel"/>
          <a:ea typeface="Corbel"/>
          <a:cs typeface="Corbel"/>
        </a:font>
        <a:srgbClr val="FFFFFF"/>
      </a:tcTxStyle>
      <a:tcStyle>
        <a:fill>
          <a:solidFill>
            <a:srgbClr val="30ACEC"/>
          </a:solidFill>
        </a:fill>
      </a:tcStyle>
    </a:firstCol>
    <a:lastRow>
      <a:tcTxStyle b="on" i="off">
        <a:font>
          <a:latin typeface="Corbel"/>
          <a:ea typeface="Corbel"/>
          <a:cs typeface="Corbel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30ACEC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orbel"/>
          <a:ea typeface="Corbel"/>
          <a:cs typeface="Corbel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30ACEC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1" orient="horz"/>
        <p:guide pos="28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GolosText-bold.fntdata"/><Relationship Id="rId50" Type="http://schemas.openxmlformats.org/officeDocument/2006/relationships/font" Target="fonts/GolosText-regular.fntdata"/><Relationship Id="rId53" Type="http://schemas.openxmlformats.org/officeDocument/2006/relationships/font" Target="fonts/Corbel-bold.fntdata"/><Relationship Id="rId52" Type="http://schemas.openxmlformats.org/officeDocument/2006/relationships/font" Target="fonts/Corbel-regular.fntdata"/><Relationship Id="rId11" Type="http://schemas.openxmlformats.org/officeDocument/2006/relationships/slide" Target="slides/slide5.xml"/><Relationship Id="rId55" Type="http://schemas.openxmlformats.org/officeDocument/2006/relationships/font" Target="fonts/Corbel-boldItalic.fntdata"/><Relationship Id="rId10" Type="http://schemas.openxmlformats.org/officeDocument/2006/relationships/slide" Target="slides/slide4.xml"/><Relationship Id="rId54" Type="http://schemas.openxmlformats.org/officeDocument/2006/relationships/font" Target="fonts/Corbel-italic.fntdata"/><Relationship Id="rId13" Type="http://schemas.openxmlformats.org/officeDocument/2006/relationships/slide" Target="slides/slide7.xml"/><Relationship Id="rId57" Type="http://schemas.openxmlformats.org/officeDocument/2006/relationships/font" Target="fonts/GolosTextSemiBold-regular.fntdata"/><Relationship Id="rId12" Type="http://schemas.openxmlformats.org/officeDocument/2006/relationships/slide" Target="slides/slide6.xml"/><Relationship Id="rId56" Type="http://schemas.openxmlformats.org/officeDocument/2006/relationships/font" Target="fonts/Lustria-regular.fntdata"/><Relationship Id="rId15" Type="http://schemas.openxmlformats.org/officeDocument/2006/relationships/slide" Target="slides/slide9.xml"/><Relationship Id="rId59" Type="http://customschemas.google.com/relationships/presentationmetadata" Target="metadata"/><Relationship Id="rId14" Type="http://schemas.openxmlformats.org/officeDocument/2006/relationships/slide" Target="slides/slide8.xml"/><Relationship Id="rId58" Type="http://schemas.openxmlformats.org/officeDocument/2006/relationships/font" Target="fonts/GolosTextSemiBold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82c83c1f8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282c83c1f8c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39dba05ed_0_1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2c39dba05ed_0_13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f50b7b3b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g1f50b7b3b1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f50b7b3b1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1f50b7b3b11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f50b7b3b1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g1f50b7b3b11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c832132dc9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g2c832132dc9_0_2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f50b7b3b1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g1f50b7b3b11_0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f50b7b3b1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1f50b7b3b11_0_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f50b7b3b1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g1f50b7b3b11_0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f50b7b3b11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g1f50b7b3b11_0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f50b7b3b11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g1f50b7b3b11_0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f50b7b3b11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g1f50b7b3b11_0_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f50b7b3b11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g1f50b7b3b11_0_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f50b7b3b11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g1f50b7b3b11_0_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f50b7b3b11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g1f50b7b3b11_0_1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f50b7b3b11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g1f50b7b3b11_0_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f50b7b3b11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g1f50b7b3b11_0_1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f50b7b3b11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g1f50b7b3b11_0_1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f50b7b3b1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g1f50b7b3b11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f50b7b3b1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g1f50b7b3b11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f50b7b3b11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g1f50b7b3b11_0_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f50b7b3b1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g1f50b7b3b11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f50b7b3b1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g1f50b7b3b11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f50b7b3b11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0" name="Google Shape;360;g1f50b7b3b11_0_1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f50b7b3b11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9" name="Google Shape;369;g1f50b7b3b11_0_1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f50b7b3b11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7" name="Google Shape;377;g1f50b7b3b11_0_1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f50b7b3b11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g1f50b7b3b11_0_1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f50b7b3b11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g1f50b7b3b11_0_1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1f50b7b3b11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g1f50b7b3b11_0_2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f50b7b3b11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g1f50b7b3b11_0_2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f50b7b3b11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0" name="Google Shape;420;g1f50b7b3b11_0_2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c832132dc9_0_2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2c832132dc9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2c832132dc9_0_27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1f50b7b3b11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g1f50b7b3b11_0_1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f50b7b3b11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4" name="Google Shape;444;g1f50b7b3b11_0_1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c832132dc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4" name="Google Shape;464;g2c832132dc9_0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c832132dc9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4" name="Google Shape;504;g2c832132dc9_0_1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2c832132dc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g2c832132dc9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2c832132dc9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8" name="Google Shape;568;g2c832132dc9_0_1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2c832132dc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1" name="Google Shape;611;g2c832132dc9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2c832132dc9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2" name="Google Shape;632;g2c832132dc9_0_2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2ba3d66f664_0_4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4" name="Google Shape;674;g2ba3d66f664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5" name="Google Shape;675;g2ba3d66f664_0_40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3" name="Google Shape;683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7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2" name="Google Shape;22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8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/>
          <p:nvPr>
            <p:ph idx="1" type="body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30"/>
          <p:cNvSpPr/>
          <p:nvPr>
            <p:ph idx="2" type="pic"/>
          </p:nvPr>
        </p:nvSpPr>
        <p:spPr>
          <a:xfrm>
            <a:off x="3095171" y="963397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31" name="Google Shape;31;p30"/>
          <p:cNvSpPr/>
          <p:nvPr>
            <p:ph idx="3" type="pic"/>
          </p:nvPr>
        </p:nvSpPr>
        <p:spPr>
          <a:xfrm>
            <a:off x="5733141" y="966928"/>
            <a:ext cx="2532744" cy="1883023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32" name="Google Shape;32;p30"/>
          <p:cNvSpPr/>
          <p:nvPr>
            <p:ph idx="4" type="pic"/>
          </p:nvPr>
        </p:nvSpPr>
        <p:spPr>
          <a:xfrm>
            <a:off x="5733141" y="2954042"/>
            <a:ext cx="2532744" cy="1883023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33" name="Google Shape;33;p30"/>
          <p:cNvSpPr/>
          <p:nvPr>
            <p:ph idx="5" type="pic"/>
          </p:nvPr>
        </p:nvSpPr>
        <p:spPr>
          <a:xfrm>
            <a:off x="3095171" y="2960314"/>
            <a:ext cx="2532744" cy="1883023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34" name="Google Shape;34;p30"/>
          <p:cNvSpPr/>
          <p:nvPr>
            <p:ph idx="6" type="pic"/>
          </p:nvPr>
        </p:nvSpPr>
        <p:spPr>
          <a:xfrm>
            <a:off x="457200" y="2960314"/>
            <a:ext cx="2532744" cy="1883023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  <p:sp>
        <p:nvSpPr>
          <p:cNvPr id="35" name="Google Shape;35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2c6577b9d44_0_880"/>
          <p:cNvSpPr txBox="1"/>
          <p:nvPr>
            <p:ph type="title"/>
          </p:nvPr>
        </p:nvSpPr>
        <p:spPr>
          <a:xfrm>
            <a:off x="1113233" y="514350"/>
            <a:ext cx="75141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2c6577b9d44_0_880"/>
          <p:cNvSpPr txBox="1"/>
          <p:nvPr>
            <p:ph idx="1" type="body"/>
          </p:nvPr>
        </p:nvSpPr>
        <p:spPr>
          <a:xfrm>
            <a:off x="1113232" y="2000249"/>
            <a:ext cx="7514100" cy="23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/>
            </a:lvl1pPr>
            <a:lvl2pPr indent="-355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2pPr>
            <a:lvl3pPr indent="-355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5pPr>
            <a:lvl6pPr indent="-355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39" name="Google Shape;39;g2c6577b9d44_0_880"/>
          <p:cNvSpPr txBox="1"/>
          <p:nvPr>
            <p:ph idx="10" type="dt"/>
          </p:nvPr>
        </p:nvSpPr>
        <p:spPr>
          <a:xfrm>
            <a:off x="7299492" y="4412456"/>
            <a:ext cx="8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g2c6577b9d44_0_880"/>
          <p:cNvSpPr txBox="1"/>
          <p:nvPr>
            <p:ph idx="11" type="ftr"/>
          </p:nvPr>
        </p:nvSpPr>
        <p:spPr>
          <a:xfrm>
            <a:off x="1929209" y="4412456"/>
            <a:ext cx="531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g2c6577b9d44_0_880"/>
          <p:cNvSpPr txBox="1"/>
          <p:nvPr>
            <p:ph idx="12" type="sldNum"/>
          </p:nvPr>
        </p:nvSpPr>
        <p:spPr>
          <a:xfrm>
            <a:off x="8213892" y="4400348"/>
            <a:ext cx="413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2c39dba05ed_0_28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098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ustria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44" name="Google Shape;44;g2c39dba05ed_0_28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098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5" name="Google Shape;45;g2c39dba05ed_0_2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  <a:defRPr b="0" i="0" sz="75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  <a:defRPr b="0" i="0" sz="75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  <a:defRPr b="0" i="0" sz="75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  <a:defRPr b="0" i="0" sz="75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  <a:defRPr b="0" i="0" sz="75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  <a:defRPr b="0" i="0" sz="75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  <a:defRPr b="0" i="0" sz="75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  <a:defRPr b="0" i="0" sz="75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Lustria"/>
              <a:buNone/>
              <a:defRPr b="0" i="0" sz="75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2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56" name="Google Shape;56;p31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1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3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33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33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33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3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4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9" name="Google Shape;69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5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3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6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6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36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7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84" name="Google Shape;84;p37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8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9" name="Google Shape;89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9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39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39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39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3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0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100" name="Google Shape;100;p40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1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5" name="Google Shape;105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42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42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42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42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3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115" name="Google Shape;115;p4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43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4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44"/>
          <p:cNvSpPr txBox="1"/>
          <p:nvPr>
            <p:ph idx="1" type="body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44"/>
          <p:cNvSpPr/>
          <p:nvPr>
            <p:ph idx="2" type="pic"/>
          </p:nvPr>
        </p:nvSpPr>
        <p:spPr>
          <a:xfrm>
            <a:off x="457200" y="943208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22" name="Google Shape;122;p44"/>
          <p:cNvSpPr/>
          <p:nvPr>
            <p:ph idx="3" type="pic"/>
          </p:nvPr>
        </p:nvSpPr>
        <p:spPr>
          <a:xfrm>
            <a:off x="457200" y="2935720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23" name="Google Shape;123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5"/>
          <p:cNvSpPr txBox="1"/>
          <p:nvPr>
            <p:ph idx="1" type="body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45"/>
          <p:cNvSpPr txBox="1"/>
          <p:nvPr>
            <p:ph idx="2" type="body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45"/>
          <p:cNvSpPr txBox="1"/>
          <p:nvPr>
            <p:ph idx="3" type="body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45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6"/>
          <p:cNvSpPr txBox="1"/>
          <p:nvPr>
            <p:ph idx="1" type="body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46"/>
          <p:cNvSpPr txBox="1"/>
          <p:nvPr>
            <p:ph idx="2" type="body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46"/>
          <p:cNvSpPr txBox="1"/>
          <p:nvPr>
            <p:ph idx="3" type="body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46"/>
          <p:cNvSpPr txBox="1"/>
          <p:nvPr>
            <p:ph idx="4" type="body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5" name="Google Shape;135;p46"/>
          <p:cNvSpPr txBox="1"/>
          <p:nvPr>
            <p:ph idx="5" type="body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6" name="Google Shape;136;p46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46"/>
          <p:cNvSpPr txBox="1"/>
          <p:nvPr>
            <p:ph idx="6" type="body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8" name="Google Shape;138;p46"/>
          <p:cNvSpPr/>
          <p:nvPr>
            <p:ph idx="7" type="pic"/>
          </p:nvPr>
        </p:nvSpPr>
        <p:spPr>
          <a:xfrm>
            <a:off x="469081" y="944463"/>
            <a:ext cx="2577001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39" name="Google Shape;139;p46"/>
          <p:cNvSpPr/>
          <p:nvPr>
            <p:ph idx="8" type="pic"/>
          </p:nvPr>
        </p:nvSpPr>
        <p:spPr>
          <a:xfrm>
            <a:off x="3221666" y="944462"/>
            <a:ext cx="2577001" cy="1883023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140" name="Google Shape;140;p46"/>
          <p:cNvSpPr/>
          <p:nvPr>
            <p:ph idx="9" type="pic"/>
          </p:nvPr>
        </p:nvSpPr>
        <p:spPr>
          <a:xfrm>
            <a:off x="5980690" y="944463"/>
            <a:ext cx="2577001" cy="1883023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  <p:sp>
        <p:nvSpPr>
          <p:cNvPr id="141" name="Google Shape;141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7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47"/>
          <p:cNvSpPr txBox="1"/>
          <p:nvPr>
            <p:ph idx="1" type="body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47"/>
          <p:cNvSpPr/>
          <p:nvPr>
            <p:ph idx="2" type="pic"/>
          </p:nvPr>
        </p:nvSpPr>
        <p:spPr>
          <a:xfrm>
            <a:off x="457200" y="949329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46" name="Google Shape;146;p47"/>
          <p:cNvSpPr/>
          <p:nvPr>
            <p:ph idx="3" type="pic"/>
          </p:nvPr>
        </p:nvSpPr>
        <p:spPr>
          <a:xfrm>
            <a:off x="3095171" y="949328"/>
            <a:ext cx="2532744" cy="1883023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147" name="Google Shape;147;p47"/>
          <p:cNvSpPr/>
          <p:nvPr>
            <p:ph idx="4" type="pic"/>
          </p:nvPr>
        </p:nvSpPr>
        <p:spPr>
          <a:xfrm>
            <a:off x="3095171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48" name="Google Shape;148;p47"/>
          <p:cNvSpPr/>
          <p:nvPr>
            <p:ph idx="5" type="pic"/>
          </p:nvPr>
        </p:nvSpPr>
        <p:spPr>
          <a:xfrm>
            <a:off x="457199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49" name="Google Shape;149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8"/>
          <p:cNvSpPr txBox="1"/>
          <p:nvPr>
            <p:ph idx="1" type="body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48"/>
          <p:cNvSpPr txBox="1"/>
          <p:nvPr>
            <p:ph idx="2" type="body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48"/>
          <p:cNvSpPr txBox="1"/>
          <p:nvPr>
            <p:ph idx="3" type="body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48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48"/>
          <p:cNvSpPr/>
          <p:nvPr>
            <p:ph idx="4" type="pic"/>
          </p:nvPr>
        </p:nvSpPr>
        <p:spPr>
          <a:xfrm>
            <a:off x="454050" y="952607"/>
            <a:ext cx="2589213" cy="1304294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156" name="Google Shape;156;p48"/>
          <p:cNvSpPr/>
          <p:nvPr>
            <p:ph idx="5" type="pic"/>
          </p:nvPr>
        </p:nvSpPr>
        <p:spPr>
          <a:xfrm>
            <a:off x="3275818" y="952607"/>
            <a:ext cx="2589213" cy="1304294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157" name="Google Shape;157;p48"/>
          <p:cNvSpPr/>
          <p:nvPr>
            <p:ph idx="6" type="pic"/>
          </p:nvPr>
        </p:nvSpPr>
        <p:spPr>
          <a:xfrm>
            <a:off x="6089789" y="952607"/>
            <a:ext cx="2589213" cy="1304294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158" name="Google Shape;158;p48"/>
          <p:cNvSpPr txBox="1"/>
          <p:nvPr>
            <p:ph idx="7" type="body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48"/>
          <p:cNvSpPr txBox="1"/>
          <p:nvPr>
            <p:ph idx="8" type="body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p48"/>
          <p:cNvSpPr txBox="1"/>
          <p:nvPr>
            <p:ph idx="9" type="body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p48"/>
          <p:cNvSpPr/>
          <p:nvPr>
            <p:ph idx="13" type="pic"/>
          </p:nvPr>
        </p:nvSpPr>
        <p:spPr>
          <a:xfrm>
            <a:off x="457201" y="2866358"/>
            <a:ext cx="2589213" cy="1304294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162" name="Google Shape;162;p48"/>
          <p:cNvSpPr/>
          <p:nvPr>
            <p:ph idx="14" type="pic"/>
          </p:nvPr>
        </p:nvSpPr>
        <p:spPr>
          <a:xfrm>
            <a:off x="3278969" y="2866358"/>
            <a:ext cx="2589213" cy="1304294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163" name="Google Shape;163;p48"/>
          <p:cNvSpPr/>
          <p:nvPr>
            <p:ph idx="15" type="pic"/>
          </p:nvPr>
        </p:nvSpPr>
        <p:spPr>
          <a:xfrm>
            <a:off x="6092940" y="2866358"/>
            <a:ext cx="2589213" cy="1304294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  <p:sp>
        <p:nvSpPr>
          <p:cNvPr id="164" name="Google Shape;164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6"/>
          <p:cNvSpPr txBox="1"/>
          <p:nvPr>
            <p:ph idx="1" type="body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png"/><Relationship Id="rId4" Type="http://schemas.openxmlformats.org/officeDocument/2006/relationships/image" Target="../media/image31.png"/><Relationship Id="rId5" Type="http://schemas.openxmlformats.org/officeDocument/2006/relationships/hyperlink" Target="https://en.wikipedia.org/wiki/nonlinear_dimensionality_reduction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habr.com/ru/articles/267041/" TargetMode="External"/><Relationship Id="rId4" Type="http://schemas.openxmlformats.org/officeDocument/2006/relationships/image" Target="../media/image25.png"/><Relationship Id="rId5" Type="http://schemas.openxmlformats.org/officeDocument/2006/relationships/image" Target="../media/image45.png"/><Relationship Id="rId6" Type="http://schemas.openxmlformats.org/officeDocument/2006/relationships/image" Target="../media/image33.png"/><Relationship Id="rId7" Type="http://schemas.openxmlformats.org/officeDocument/2006/relationships/image" Target="../media/image30.png"/><Relationship Id="rId8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habr.com/ru/articles/267041/" TargetMode="External"/><Relationship Id="rId4" Type="http://schemas.openxmlformats.org/officeDocument/2006/relationships/hyperlink" Target="https://scikit-learn.org/stable/modules/generated/sklearn.manifold.TSNE.html" TargetMode="External"/><Relationship Id="rId5" Type="http://schemas.openxmlformats.org/officeDocument/2006/relationships/image" Target="../media/image52.png"/><Relationship Id="rId6" Type="http://schemas.openxmlformats.org/officeDocument/2006/relationships/image" Target="../media/image50.png"/><Relationship Id="rId7" Type="http://schemas.openxmlformats.org/officeDocument/2006/relationships/image" Target="../media/image4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3.png"/><Relationship Id="rId4" Type="http://schemas.openxmlformats.org/officeDocument/2006/relationships/image" Target="../media/image3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4.png"/><Relationship Id="rId4" Type="http://schemas.openxmlformats.org/officeDocument/2006/relationships/image" Target="../media/image58.png"/><Relationship Id="rId5" Type="http://schemas.openxmlformats.org/officeDocument/2006/relationships/hyperlink" Target="https://www.dialog-21.ru/media/5751/bondarenkoi113.pdf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www.youtube.com/watch?v=PPCaEuHpQLk" TargetMode="External"/><Relationship Id="rId4" Type="http://schemas.openxmlformats.org/officeDocument/2006/relationships/image" Target="../media/image46.jpg"/><Relationship Id="rId5" Type="http://schemas.openxmlformats.org/officeDocument/2006/relationships/hyperlink" Target="http://www.youtube.com/watch?v=LPwLY7QNz0s" TargetMode="External"/><Relationship Id="rId6" Type="http://schemas.openxmlformats.org/officeDocument/2006/relationships/image" Target="../media/image48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://www.youtube.com/watch?v=SpKODROINU8" TargetMode="External"/><Relationship Id="rId4" Type="http://schemas.openxmlformats.org/officeDocument/2006/relationships/image" Target="../media/image42.jpg"/><Relationship Id="rId9" Type="http://schemas.openxmlformats.org/officeDocument/2006/relationships/hyperlink" Target="http://drive.google.com/file/d/1PUKr44Q1syXqYCXt_yP72R11CG0pXPkF/view" TargetMode="External"/><Relationship Id="rId5" Type="http://schemas.openxmlformats.org/officeDocument/2006/relationships/hyperlink" Target="http://www.youtube.com/watch?v=O_XKi_DaPsc" TargetMode="External"/><Relationship Id="rId6" Type="http://schemas.openxmlformats.org/officeDocument/2006/relationships/image" Target="../media/image49.jpg"/><Relationship Id="rId7" Type="http://schemas.openxmlformats.org/officeDocument/2006/relationships/hyperlink" Target="http://www.youtube.com/watch?v=jeBmDddEckU" TargetMode="External"/><Relationship Id="rId8" Type="http://schemas.openxmlformats.org/officeDocument/2006/relationships/image" Target="../media/image47.jpg"/><Relationship Id="rId10" Type="http://schemas.openxmlformats.org/officeDocument/2006/relationships/image" Target="../media/image4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www.cs.princeton.edu/~hy2/teaching/fall22-cos521/notes/NNS%20&amp;%20LSH.pdf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www.cs.princeton.edu/~hy2/teaching/fall22-cos521/notes/NNS%20&amp;%20LSH.pdf" TargetMode="External"/><Relationship Id="rId4" Type="http://schemas.openxmlformats.org/officeDocument/2006/relationships/image" Target="../media/image6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www.cs.princeton.edu/~hy2/teaching/fall22-cos521/notes/NNS%20&amp;%20LSH.pdf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cs.princeton.edu/~hy2/teaching/fall22-cos521/notes/NNS%20&amp;%20LSH.pdf" TargetMode="External"/><Relationship Id="rId4" Type="http://schemas.openxmlformats.org/officeDocument/2006/relationships/hyperlink" Target="https://github.com/cchatzis/Nearest-Neighbour-LSH" TargetMode="External"/><Relationship Id="rId5" Type="http://schemas.openxmlformats.org/officeDocument/2006/relationships/image" Target="../media/image55.png"/><Relationship Id="rId6" Type="http://schemas.openxmlformats.org/officeDocument/2006/relationships/image" Target="../media/image5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www.cs.princeton.edu/~hy2/teaching/fall22-cos521/notes/NNS%20&amp;%20LSH.pdf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Relationship Id="rId4" Type="http://schemas.openxmlformats.org/officeDocument/2006/relationships/image" Target="../media/image5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colab.research.google.com/drive/1c5UePwWhNuaCjgx6DeRWO8eMEfjQEqBq?usp=sharing" TargetMode="External"/><Relationship Id="rId4" Type="http://schemas.openxmlformats.org/officeDocument/2006/relationships/image" Target="../media/image5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"/>
          <p:cNvSpPr txBox="1"/>
          <p:nvPr>
            <p:ph type="title"/>
          </p:nvPr>
        </p:nvSpPr>
        <p:spPr>
          <a:xfrm>
            <a:off x="679879" y="1902925"/>
            <a:ext cx="77724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Введение а </a:t>
            </a:r>
            <a:b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вычислительное музыковедение:</a:t>
            </a:r>
            <a:b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Модели и методы Music Data Mining </a:t>
            </a:r>
            <a:endParaRPr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"/>
          <p:cNvSpPr txBox="1"/>
          <p:nvPr>
            <p:ph type="title"/>
          </p:nvPr>
        </p:nvSpPr>
        <p:spPr>
          <a:xfrm>
            <a:off x="672675" y="1836975"/>
            <a:ext cx="77724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lang="ru-RU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Введение в </a:t>
            </a:r>
            <a:br>
              <a:rPr lang="ru-RU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вычислительное музыковедение: </a:t>
            </a:r>
            <a:br>
              <a:rPr lang="ru-RU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Модели и методы Music Data Mining</a:t>
            </a:r>
            <a:endParaRPr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2" name="Google Shape;172;p1"/>
          <p:cNvSpPr txBox="1"/>
          <p:nvPr/>
        </p:nvSpPr>
        <p:spPr>
          <a:xfrm>
            <a:off x="2852500" y="4545575"/>
            <a:ext cx="34992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Абросимов Кирилл</a:t>
            </a:r>
            <a:b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</a:b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abrosimov.kirill.1999@mail.ru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3" name="Google Shape;173;p1"/>
          <p:cNvSpPr txBox="1"/>
          <p:nvPr/>
        </p:nvSpPr>
        <p:spPr>
          <a:xfrm>
            <a:off x="0" y="3579450"/>
            <a:ext cx="9144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ru-RU" sz="2000">
                <a:solidFill>
                  <a:srgbClr val="FFFF00"/>
                </a:solidFill>
                <a:latin typeface="Golos Text"/>
                <a:ea typeface="Golos Text"/>
                <a:cs typeface="Golos Text"/>
                <a:sym typeface="Golos Text"/>
              </a:rPr>
              <a:t>Визуализация музыкальных данных</a:t>
            </a:r>
            <a:br>
              <a:rPr b="1" lang="ru-RU" sz="2000">
                <a:solidFill>
                  <a:srgbClr val="FFFF00"/>
                </a:solidFill>
                <a:latin typeface="Golos Text"/>
                <a:ea typeface="Golos Text"/>
                <a:cs typeface="Golos Text"/>
                <a:sym typeface="Golos Text"/>
              </a:rPr>
            </a:br>
            <a:r>
              <a:rPr b="1" lang="ru-RU" sz="2000">
                <a:solidFill>
                  <a:srgbClr val="FFFF00"/>
                </a:solidFill>
                <a:latin typeface="Golos Text"/>
                <a:ea typeface="Golos Text"/>
                <a:cs typeface="Golos Text"/>
                <a:sym typeface="Golos Text"/>
              </a:rPr>
              <a:t>и музыкальный поиск</a:t>
            </a:r>
            <a:endParaRPr b="1" i="0" sz="2000" u="none" cap="none" strike="noStrike">
              <a:solidFill>
                <a:srgbClr val="FFFF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82c83c1f8c_0_7"/>
          <p:cNvSpPr txBox="1"/>
          <p:nvPr>
            <p:ph type="title"/>
          </p:nvPr>
        </p:nvSpPr>
        <p:spPr>
          <a:xfrm>
            <a:off x="243401" y="306435"/>
            <a:ext cx="70383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79" name="Google Shape;179;g282c83c1f8c_0_7"/>
          <p:cNvSpPr txBox="1"/>
          <p:nvPr/>
        </p:nvSpPr>
        <p:spPr>
          <a:xfrm>
            <a:off x="325950" y="1329650"/>
            <a:ext cx="84921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Задача снижения размерностей</a:t>
            </a:r>
            <a:endParaRPr b="0" i="0" sz="22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PCA</a:t>
            </a:r>
            <a:endParaRPr b="0" i="0" sz="22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t-SNE</a:t>
            </a:r>
            <a:endParaRPr b="0" i="0" sz="22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Визуализация коллекции музыкальных произведений</a:t>
            </a:r>
            <a:endParaRPr b="0" i="0" sz="22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Визуализация музыкального произведения</a:t>
            </a:r>
            <a:endParaRPr sz="2200"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Музыкальный поиск</a:t>
            </a:r>
            <a:endParaRPr sz="2200"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LSH</a:t>
            </a:r>
            <a:endParaRPr sz="22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0" name="Google Shape;180;g282c83c1f8c_0_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39dba05ed_0_1301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454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Задача снижения размерностей</a:t>
            </a:r>
            <a:endParaRPr/>
          </a:p>
        </p:txBody>
      </p:sp>
      <p:sp>
        <p:nvSpPr>
          <p:cNvPr id="186" name="Google Shape;186;g2c39dba05ed_0_130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87" name="Google Shape;187;g2c39dba05ed_0_1301"/>
          <p:cNvPicPr preferRelativeResize="0"/>
          <p:nvPr/>
        </p:nvPicPr>
        <p:blipFill rotWithShape="1">
          <a:blip r:embed="rId3">
            <a:alphaModFix/>
          </a:blip>
          <a:srcRect b="47301" l="0" r="0" t="0"/>
          <a:stretch/>
        </p:blipFill>
        <p:spPr>
          <a:xfrm>
            <a:off x="2177125" y="1019125"/>
            <a:ext cx="4789749" cy="14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2c39dba05ed_0_1301"/>
          <p:cNvSpPr txBox="1"/>
          <p:nvPr/>
        </p:nvSpPr>
        <p:spPr>
          <a:xfrm>
            <a:off x="1013450" y="4408250"/>
            <a:ext cx="204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Визуализация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89" name="Google Shape;189;g2c39dba05ed_0_13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425" y="2476625"/>
            <a:ext cx="3676075" cy="188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2c39dba05ed_0_1301"/>
          <p:cNvSpPr txBox="1"/>
          <p:nvPr/>
        </p:nvSpPr>
        <p:spPr>
          <a:xfrm>
            <a:off x="5985875" y="4408250"/>
            <a:ext cx="204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Для обучения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91" name="Google Shape;191;g2c39dba05ed_0_13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1175" y="2451987"/>
            <a:ext cx="3369101" cy="193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f50b7b3b11_0_0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454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PCA</a:t>
            </a:r>
            <a:endParaRPr/>
          </a:p>
        </p:txBody>
      </p:sp>
      <p:sp>
        <p:nvSpPr>
          <p:cNvPr id="197" name="Google Shape;197;g1f50b7b3b11_0_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98" name="Google Shape;198;g1f50b7b3b11_0_0"/>
          <p:cNvSpPr txBox="1"/>
          <p:nvPr/>
        </p:nvSpPr>
        <p:spPr>
          <a:xfrm>
            <a:off x="457200" y="882399"/>
            <a:ext cx="8067600" cy="380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69" r="-919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857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 </a:t>
            </a:r>
            <a:endParaRPr sz="24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f50b7b3b11_0_5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PCA</a:t>
            </a:r>
            <a:endParaRPr/>
          </a:p>
        </p:txBody>
      </p:sp>
      <p:sp>
        <p:nvSpPr>
          <p:cNvPr id="204" name="Google Shape;204;g1f50b7b3b11_0_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05" name="Google Shape;205;g1f50b7b3b11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7875" y="922625"/>
            <a:ext cx="5037325" cy="391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f50b7b3b11_0_21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PCA</a:t>
            </a:r>
            <a:endParaRPr/>
          </a:p>
        </p:txBody>
      </p:sp>
      <p:sp>
        <p:nvSpPr>
          <p:cNvPr id="211" name="Google Shape;211;g1f50b7b3b11_0_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12" name="Google Shape;212;g1f50b7b3b11_0_21"/>
          <p:cNvSpPr txBox="1"/>
          <p:nvPr/>
        </p:nvSpPr>
        <p:spPr>
          <a:xfrm>
            <a:off x="1" y="1147775"/>
            <a:ext cx="90411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10000"/>
          </a:bodyPr>
          <a:lstStyle/>
          <a:p>
            <a:pPr indent="-440626" lvl="0" marL="457200" rtl="0" algn="l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Corbel"/>
              <a:buAutoNum type="arabicPeriod"/>
            </a:pPr>
            <a:r>
              <a:rPr lang="ru-RU" sz="24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Ищется центр облака данных, и туда переносится новое начало координат;</a:t>
            </a:r>
            <a:endParaRPr sz="24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440626" lvl="0" marL="457200" rtl="0" algn="l">
              <a:spcBef>
                <a:spcPts val="1044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Corbel"/>
              <a:buAutoNum type="arabicPeriod"/>
            </a:pPr>
            <a:r>
              <a:rPr lang="ru-RU" sz="24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Выбирается направление максимального изменения исходных данных и проводится прямая линия регрессии- это первая главная компонента PC1. </a:t>
            </a:r>
            <a:endParaRPr sz="24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440626" lvl="0" marL="457200" rtl="0" algn="l">
              <a:spcBef>
                <a:spcPts val="1044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Corbel"/>
              <a:buAutoNum type="arabicPeriod"/>
            </a:pPr>
            <a:r>
              <a:rPr lang="ru-RU" sz="24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Если данные описаны не полностью (отклонения от PC1 велики), то выбирается еще одно направление, перпендикулярное к первому, и через центр эллипсоида проводится прямая – вторая главная компонента РС2.</a:t>
            </a:r>
            <a:endParaRPr sz="24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c832132dc9_0_288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PCA</a:t>
            </a:r>
            <a:endParaRPr/>
          </a:p>
        </p:txBody>
      </p:sp>
      <p:sp>
        <p:nvSpPr>
          <p:cNvPr id="218" name="Google Shape;218;g2c832132dc9_0_28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19" name="Google Shape;219;g2c832132dc9_0_288"/>
          <p:cNvSpPr txBox="1"/>
          <p:nvPr/>
        </p:nvSpPr>
        <p:spPr>
          <a:xfrm>
            <a:off x="123600" y="1138475"/>
            <a:ext cx="88968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1. </a:t>
            </a:r>
            <a:r>
              <a:rPr b="1" lang="ru-RU"/>
              <a:t>Стандартизация данных</a:t>
            </a:r>
            <a:r>
              <a:rPr lang="ru-RU"/>
              <a:t>: Сначала данные стандартизируются для обеспечения их нулевого среднего и единичной дисперсии. Это важно, чтобы признаки были сопоставимы между собой.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2. </a:t>
            </a:r>
            <a:r>
              <a:rPr b="1" lang="ru-RU"/>
              <a:t>Расчет ковариационной матрицы</a:t>
            </a:r>
            <a:r>
              <a:rPr lang="ru-RU"/>
              <a:t>: PCA ищет направления, вдоль которых данные имеют наибольшую дисперсию. Для этого вычисляется ковариационная матрица, которая показывает связи между признаками.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3. </a:t>
            </a:r>
            <a:r>
              <a:rPr b="1" lang="ru-RU"/>
              <a:t>Вычисление собственных векторов и собственных значений</a:t>
            </a:r>
            <a:r>
              <a:rPr lang="ru-RU"/>
              <a:t>: Собственные векторы этой ковариационной матрицы и собственные значения (которые показывают, какую часть общей вариации объясняет каждый собственный вектор) находятся.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4. </a:t>
            </a:r>
            <a:r>
              <a:rPr b="1" lang="ru-RU"/>
              <a:t>Выбор главных компонент</a:t>
            </a:r>
            <a:r>
              <a:rPr lang="ru-RU"/>
              <a:t>: Главные компоненты выбираются из собственных векторов на основе их собственных значений. Главные компоненты упорядочиваются по убыванию значений дисперсии, чтобы первый компонент объяснял наибольшую часть вариации в данных.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5. </a:t>
            </a:r>
            <a:r>
              <a:rPr b="1" lang="ru-RU"/>
              <a:t>Проекция данных</a:t>
            </a:r>
            <a:r>
              <a:rPr lang="ru-RU"/>
              <a:t>: Данные проецируются на новое пространство признаков, определяемое главными компонентами. Менее информативные компоненты могут быть отброшены, что позволяет уменьшить размерность данных.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f50b7b3b11_0_32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PCA: этап 1</a:t>
            </a:r>
            <a:endParaRPr/>
          </a:p>
        </p:txBody>
      </p:sp>
      <p:sp>
        <p:nvSpPr>
          <p:cNvPr id="225" name="Google Shape;225;g1f50b7b3b11_0_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26" name="Google Shape;226;g1f50b7b3b11_0_32"/>
          <p:cNvSpPr txBox="1"/>
          <p:nvPr/>
        </p:nvSpPr>
        <p:spPr>
          <a:xfrm>
            <a:off x="566851" y="1338325"/>
            <a:ext cx="8193900" cy="3354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69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857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 </a:t>
            </a:r>
            <a:endParaRPr sz="24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f50b7b3b11_0_49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PCA: этап 1</a:t>
            </a:r>
            <a:endParaRPr/>
          </a:p>
        </p:txBody>
      </p:sp>
      <p:sp>
        <p:nvSpPr>
          <p:cNvPr id="232" name="Google Shape;232;g1f50b7b3b11_0_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33" name="Google Shape;233;g1f50b7b3b11_0_49"/>
          <p:cNvSpPr txBox="1"/>
          <p:nvPr/>
        </p:nvSpPr>
        <p:spPr>
          <a:xfrm>
            <a:off x="110850" y="898350"/>
            <a:ext cx="8922300" cy="1577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579" r="0" t="-3759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857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 </a:t>
            </a:r>
            <a:endParaRPr sz="24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aphicFrame>
        <p:nvGraphicFramePr>
          <p:cNvPr id="234" name="Google Shape;234;g1f50b7b3b11_0_49"/>
          <p:cNvGraphicFramePr/>
          <p:nvPr/>
        </p:nvGraphicFramePr>
        <p:xfrm>
          <a:off x="4562476" y="23866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{DA578F19-C291-49D1-9636-2060928151E0}</a:tableStyleId>
              </a:tblPr>
              <a:tblGrid>
                <a:gridCol w="1846475"/>
                <a:gridCol w="1846475"/>
              </a:tblGrid>
              <a:tr h="388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х1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х2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8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1,79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18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4,00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16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6,11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20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8,42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f50b7b3b11_0_54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PCA: этап 1</a:t>
            </a:r>
            <a:endParaRPr/>
          </a:p>
        </p:txBody>
      </p:sp>
      <p:sp>
        <p:nvSpPr>
          <p:cNvPr id="240" name="Google Shape;240;g1f50b7b3b11_0_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1" name="Google Shape;241;g1f50b7b3b11_0_54"/>
          <p:cNvSpPr txBox="1"/>
          <p:nvPr/>
        </p:nvSpPr>
        <p:spPr>
          <a:xfrm>
            <a:off x="490350" y="1056138"/>
            <a:ext cx="8241300" cy="3374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89" r="-729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857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 </a:t>
            </a:r>
            <a:endParaRPr sz="24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aphicFrame>
        <p:nvGraphicFramePr>
          <p:cNvPr id="242" name="Google Shape;242;g1f50b7b3b11_0_54"/>
          <p:cNvGraphicFramePr/>
          <p:nvPr/>
        </p:nvGraphicFramePr>
        <p:xfrm>
          <a:off x="263900" y="17713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{DA578F19-C291-49D1-9636-2060928151E0}</a:tableStyleId>
              </a:tblPr>
              <a:tblGrid>
                <a:gridCol w="1846475"/>
                <a:gridCol w="1846475"/>
              </a:tblGrid>
              <a:tr h="388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х1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х2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-1,426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-1,158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0,475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-0,380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0,095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0,363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0,856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1,176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43" name="Google Shape;243;g1f50b7b3b11_0_54"/>
          <p:cNvSpPr txBox="1"/>
          <p:nvPr/>
        </p:nvSpPr>
        <p:spPr>
          <a:xfrm>
            <a:off x="5496434" y="2764846"/>
            <a:ext cx="1114500" cy="307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5999" l="-2729" r="-546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latin typeface="Corbel"/>
                <a:ea typeface="Corbel"/>
                <a:cs typeface="Corbel"/>
                <a:sym typeface="Corbel"/>
              </a:rPr>
              <a:t> </a:t>
            </a:r>
            <a:endParaRPr/>
          </a:p>
        </p:txBody>
      </p:sp>
      <p:sp>
        <p:nvSpPr>
          <p:cNvPr id="244" name="Google Shape;244;g1f50b7b3b11_0_54"/>
          <p:cNvSpPr/>
          <p:nvPr/>
        </p:nvSpPr>
        <p:spPr>
          <a:xfrm>
            <a:off x="6975672" y="2718654"/>
            <a:ext cx="1575000" cy="4002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latin typeface="Corbel"/>
                <a:ea typeface="Corbel"/>
                <a:cs typeface="Corbel"/>
                <a:sym typeface="Corbe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f50b7b3b11_0_62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PCA: этап 2</a:t>
            </a:r>
            <a:endParaRPr/>
          </a:p>
        </p:txBody>
      </p:sp>
      <p:sp>
        <p:nvSpPr>
          <p:cNvPr id="250" name="Google Shape;250;g1f50b7b3b11_0_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51" name="Google Shape;251;g1f50b7b3b11_0_62"/>
          <p:cNvSpPr txBox="1"/>
          <p:nvPr/>
        </p:nvSpPr>
        <p:spPr>
          <a:xfrm>
            <a:off x="166801" y="944652"/>
            <a:ext cx="8810400" cy="4198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49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857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 </a:t>
            </a:r>
            <a:endParaRPr sz="24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f50b7b3b11_0_72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PCA: этап 3</a:t>
            </a:r>
            <a:endParaRPr/>
          </a:p>
        </p:txBody>
      </p:sp>
      <p:sp>
        <p:nvSpPr>
          <p:cNvPr id="257" name="Google Shape;257;g1f50b7b3b11_0_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58" name="Google Shape;258;g1f50b7b3b11_0_72"/>
          <p:cNvSpPr txBox="1"/>
          <p:nvPr/>
        </p:nvSpPr>
        <p:spPr>
          <a:xfrm>
            <a:off x="227125" y="743500"/>
            <a:ext cx="8966400" cy="4829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19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857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 </a:t>
            </a:r>
            <a:endParaRPr sz="24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f50b7b3b11_0_78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PCA: этап 3</a:t>
            </a:r>
            <a:endParaRPr/>
          </a:p>
        </p:txBody>
      </p:sp>
      <p:sp>
        <p:nvSpPr>
          <p:cNvPr id="264" name="Google Shape;264;g1f50b7b3b11_0_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65" name="Google Shape;265;g1f50b7b3b11_0_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6700" y="1261202"/>
            <a:ext cx="6593049" cy="324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f50b7b3b11_0_84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PCA: этап 4</a:t>
            </a:r>
            <a:endParaRPr/>
          </a:p>
        </p:txBody>
      </p:sp>
      <p:sp>
        <p:nvSpPr>
          <p:cNvPr id="271" name="Google Shape;271;g1f50b7b3b11_0_8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72" name="Google Shape;272;g1f50b7b3b11_0_84"/>
          <p:cNvSpPr txBox="1"/>
          <p:nvPr/>
        </p:nvSpPr>
        <p:spPr>
          <a:xfrm>
            <a:off x="47925" y="744874"/>
            <a:ext cx="9709800" cy="5229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19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857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 </a:t>
            </a:r>
            <a:endParaRPr sz="24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f50b7b3b11_0_91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PCA: этап 4</a:t>
            </a:r>
            <a:endParaRPr/>
          </a:p>
        </p:txBody>
      </p:sp>
      <p:sp>
        <p:nvSpPr>
          <p:cNvPr id="278" name="Google Shape;278;g1f50b7b3b11_0_9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79" name="Google Shape;279;g1f50b7b3b11_0_91"/>
          <p:cNvSpPr txBox="1"/>
          <p:nvPr/>
        </p:nvSpPr>
        <p:spPr>
          <a:xfrm>
            <a:off x="502101" y="947052"/>
            <a:ext cx="7976400" cy="4063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809" l="-979" r="0" t="-119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857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 </a:t>
            </a:r>
            <a:endParaRPr sz="24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f50b7b3b11_0_102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PCA: этап 4</a:t>
            </a:r>
            <a:endParaRPr/>
          </a:p>
        </p:txBody>
      </p:sp>
      <p:sp>
        <p:nvSpPr>
          <p:cNvPr id="285" name="Google Shape;285;g1f50b7b3b11_0_10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86" name="Google Shape;286;g1f50b7b3b11_0_102"/>
          <p:cNvSpPr txBox="1"/>
          <p:nvPr/>
        </p:nvSpPr>
        <p:spPr>
          <a:xfrm>
            <a:off x="639551" y="753876"/>
            <a:ext cx="7212300" cy="4348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857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 </a:t>
            </a:r>
            <a:endParaRPr sz="24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f50b7b3b11_0_96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PCA: этап 5</a:t>
            </a:r>
            <a:endParaRPr/>
          </a:p>
        </p:txBody>
      </p:sp>
      <p:sp>
        <p:nvSpPr>
          <p:cNvPr id="292" name="Google Shape;292;g1f50b7b3b11_0_9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93" name="Google Shape;293;g1f50b7b3b11_0_96"/>
          <p:cNvSpPr txBox="1"/>
          <p:nvPr/>
        </p:nvSpPr>
        <p:spPr>
          <a:xfrm>
            <a:off x="296876" y="833825"/>
            <a:ext cx="8808600" cy="4467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69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857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 </a:t>
            </a:r>
            <a:endParaRPr sz="24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f50b7b3b11_0_109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PCA: этап 6</a:t>
            </a:r>
            <a:endParaRPr/>
          </a:p>
        </p:txBody>
      </p:sp>
      <p:sp>
        <p:nvSpPr>
          <p:cNvPr id="299" name="Google Shape;299;g1f50b7b3b11_0_10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00" name="Google Shape;300;g1f50b7b3b11_0_109"/>
          <p:cNvSpPr txBox="1"/>
          <p:nvPr/>
        </p:nvSpPr>
        <p:spPr>
          <a:xfrm>
            <a:off x="457200" y="997900"/>
            <a:ext cx="7929300" cy="4072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19" r="0" t="-3019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857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 </a:t>
            </a:r>
            <a:endParaRPr sz="24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aphicFrame>
        <p:nvGraphicFramePr>
          <p:cNvPr id="301" name="Google Shape;301;g1f50b7b3b11_0_109"/>
          <p:cNvGraphicFramePr/>
          <p:nvPr/>
        </p:nvGraphicFramePr>
        <p:xfrm>
          <a:off x="1208647" y="2044976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{DA578F19-C291-49D1-9636-2060928151E0}</a:tableStyleId>
              </a:tblPr>
              <a:tblGrid>
                <a:gridCol w="4225775"/>
                <a:gridCol w="1184525"/>
                <a:gridCol w="1016125"/>
              </a:tblGrid>
              <a:tr h="425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lambda 1</a:t>
                      </a:r>
                      <a:endParaRPr sz="180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ru-RU" sz="1800">
                          <a:solidFill>
                            <a:schemeClr val="lt1"/>
                          </a:solidFill>
                        </a:rPr>
                        <a:t>lambda2</a:t>
                      </a:r>
                      <a:endParaRPr sz="1800"/>
                    </a:p>
                  </a:txBody>
                  <a:tcPr marT="0" marB="0" marR="68575" marL="68575"/>
                </a:tc>
              </a:tr>
              <a:tr h="425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Собственные числа</a:t>
                      </a:r>
                      <a:endParaRPr sz="180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1,837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0,163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425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Доля объясненной дисперсии</a:t>
                      </a:r>
                      <a:endParaRPr sz="180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91,85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8,15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37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Накопительное</a:t>
                      </a:r>
                      <a:endParaRPr sz="180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91,85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f50b7b3b11_0_114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454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Визуализация музыкальной коллекции</a:t>
            </a:r>
            <a:endParaRPr/>
          </a:p>
        </p:txBody>
      </p:sp>
      <p:sp>
        <p:nvSpPr>
          <p:cNvPr id="307" name="Google Shape;307;g1f50b7b3b11_0_1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08" name="Google Shape;308;g1f50b7b3b11_0_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9025" y="1363977"/>
            <a:ext cx="3796150" cy="318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g1f50b7b3b11_0_1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625" y="833824"/>
            <a:ext cx="4296851" cy="42471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f50b7b3b11_0_37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454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t-SNE</a:t>
            </a:r>
            <a:endParaRPr/>
          </a:p>
        </p:txBody>
      </p:sp>
      <p:sp>
        <p:nvSpPr>
          <p:cNvPr id="315" name="Google Shape;315;g1f50b7b3b11_0_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16" name="Google Shape;316;g1f50b7b3b11_0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375" y="728700"/>
            <a:ext cx="3172150" cy="24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g1f50b7b3b11_0_37"/>
          <p:cNvPicPr preferRelativeResize="0"/>
          <p:nvPr/>
        </p:nvPicPr>
        <p:blipFill rotWithShape="1">
          <a:blip r:embed="rId4">
            <a:alphaModFix/>
          </a:blip>
          <a:srcRect b="11527" l="12813" r="5520" t="0"/>
          <a:stretch/>
        </p:blipFill>
        <p:spPr>
          <a:xfrm>
            <a:off x="4157325" y="526523"/>
            <a:ext cx="3060282" cy="249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1f50b7b3b11_0_37"/>
          <p:cNvSpPr txBox="1"/>
          <p:nvPr/>
        </p:nvSpPr>
        <p:spPr>
          <a:xfrm>
            <a:off x="136225" y="3299600"/>
            <a:ext cx="87444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100">
                <a:solidFill>
                  <a:schemeClr val="dk1"/>
                </a:solidFill>
              </a:rPr>
              <a:t>Стохастическое вложение соседей с t-распределением</a:t>
            </a:r>
            <a:r>
              <a:rPr lang="ru-RU" sz="1100">
                <a:solidFill>
                  <a:schemeClr val="dk1"/>
                </a:solidFill>
              </a:rPr>
              <a:t> (англ. </a:t>
            </a:r>
            <a:r>
              <a:rPr i="1" lang="ru-RU" sz="1100">
                <a:solidFill>
                  <a:schemeClr val="dk1"/>
                </a:solidFill>
              </a:rPr>
              <a:t>t-distributed Stochastic Neighbor Embedding</a:t>
            </a:r>
            <a:r>
              <a:rPr lang="ru-RU" sz="1100">
                <a:solidFill>
                  <a:schemeClr val="dk1"/>
                </a:solidFill>
              </a:rPr>
              <a:t>, t-SNE) — это алгоритм машинного обучени</a:t>
            </a:r>
            <a:r>
              <a:rPr lang="ru-RU" sz="1100">
                <a:solidFill>
                  <a:schemeClr val="dk1"/>
                </a:solidFill>
              </a:rPr>
              <a:t>я</a:t>
            </a:r>
            <a:r>
              <a:rPr lang="ru-RU" sz="1100">
                <a:solidFill>
                  <a:schemeClr val="dk1"/>
                </a:solidFill>
              </a:rPr>
              <a:t> для визуализации, разработанный Лоренсом ван дер Маатеном и Джеффри Хинтоном. Он является техникой нелинейного снижения размерности</a:t>
            </a:r>
            <a:r>
              <a:rPr baseline="30000" lang="ru-RU" sz="1100" u="sng">
                <a:solidFill>
                  <a:schemeClr val="hlink"/>
                </a:solidFill>
                <a:hlinkClick r:id="rId5"/>
              </a:rPr>
              <a:t>[en]</a:t>
            </a:r>
            <a:r>
              <a:rPr lang="ru-RU" sz="1100">
                <a:solidFill>
                  <a:schemeClr val="dk1"/>
                </a:solidFill>
              </a:rPr>
              <a:t>, хорошо подходящей для вложения данных высокой размерности для визуализации в пространство низкой размерности (двух- или трехмерное). В частности, метод моделирует каждый объект высокой размерности двух- или </a:t>
            </a:r>
            <a:r>
              <a:rPr lang="ru-RU" sz="1100">
                <a:solidFill>
                  <a:schemeClr val="dk1"/>
                </a:solidFill>
              </a:rPr>
              <a:t>трехмерной</a:t>
            </a:r>
            <a:r>
              <a:rPr lang="ru-RU" sz="1100">
                <a:solidFill>
                  <a:schemeClr val="dk1"/>
                </a:solidFill>
              </a:rPr>
              <a:t> точкой таким образом, что похожие объекты моделируются близко расположенными точками, а непохожие точки моделируются с большой вероятностью точками, далеко друг от друга отстоящими.</a:t>
            </a:r>
            <a:br>
              <a:rPr lang="ru-RU" sz="1100">
                <a:solidFill>
                  <a:schemeClr val="dk1"/>
                </a:solidFill>
              </a:rPr>
            </a:br>
            <a:r>
              <a:rPr lang="ru-RU" sz="1100">
                <a:solidFill>
                  <a:schemeClr val="dk1"/>
                </a:solidFill>
              </a:rPr>
              <a:t>[</a:t>
            </a:r>
            <a:r>
              <a:rPr lang="ru-RU" sz="700">
                <a:solidFill>
                  <a:schemeClr val="dk1"/>
                </a:solidFill>
              </a:rPr>
              <a:t>https://ru.wikipedia.org/wiki/%D0%A1%D1%82%D0%BE%D1%85%D0%B0%D1%81%D1%82%D0%B8%D1%87%D0%B5%D1%81%D0%BA%D0%BE%D0%B5_%D0%B2%D0%BB%D0%BE%D0%B6%D0%B5%D0%BD%D0%B8%D0%B5_%D1%81%D0%BE%D1%81%D0%B5%D0%B4%D0%B5%D0%B9_%D1%81_t-%D1%80%D0%B0%D1%81%D0%BF%D1%80%D0%B5%D0%B4%D0%B5%D0%BB%D0%B5%D0%BD%D0%B8%D0%B5%D0%BC</a:t>
            </a:r>
            <a:r>
              <a:rPr lang="ru-RU" sz="1100">
                <a:solidFill>
                  <a:schemeClr val="dk1"/>
                </a:solidFill>
              </a:rPr>
              <a:t>]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1f50b7b3b11_0_42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t-SNE</a:t>
            </a:r>
            <a:endParaRPr/>
          </a:p>
        </p:txBody>
      </p:sp>
      <p:sp>
        <p:nvSpPr>
          <p:cNvPr id="324" name="Google Shape;324;g1f50b7b3b11_0_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25" name="Google Shape;325;g1f50b7b3b11_0_42"/>
          <p:cNvSpPr txBox="1"/>
          <p:nvPr/>
        </p:nvSpPr>
        <p:spPr>
          <a:xfrm>
            <a:off x="0" y="47465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u="sng">
                <a:solidFill>
                  <a:schemeClr val="hlink"/>
                </a:solidFill>
                <a:hlinkClick r:id="rId3"/>
              </a:rPr>
              <a:t>https://habr.com/ru/articles/267041/</a:t>
            </a:r>
            <a:r>
              <a:rPr lang="ru-RU"/>
              <a:t> </a:t>
            </a:r>
            <a:endParaRPr/>
          </a:p>
        </p:txBody>
      </p:sp>
      <p:pic>
        <p:nvPicPr>
          <p:cNvPr id="326" name="Google Shape;326;g1f50b7b3b11_0_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700" y="1018585"/>
            <a:ext cx="32861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g1f50b7b3b11_0_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500" y="1756926"/>
            <a:ext cx="5846001" cy="267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g1f50b7b3b11_0_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56501" y="3325835"/>
            <a:ext cx="2257425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g1f50b7b3b11_0_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85950" y="3865335"/>
            <a:ext cx="3819525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g1f50b7b3b11_0_4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79513" y="2582298"/>
            <a:ext cx="260985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f50b7b3b11_0_138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t-SNE</a:t>
            </a:r>
            <a:endParaRPr/>
          </a:p>
        </p:txBody>
      </p:sp>
      <p:sp>
        <p:nvSpPr>
          <p:cNvPr id="336" name="Google Shape;336;g1f50b7b3b11_0_1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37" name="Google Shape;337;g1f50b7b3b11_0_138"/>
          <p:cNvSpPr txBox="1"/>
          <p:nvPr/>
        </p:nvSpPr>
        <p:spPr>
          <a:xfrm>
            <a:off x="0" y="4527850"/>
            <a:ext cx="7934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u="sng">
                <a:solidFill>
                  <a:schemeClr val="hlink"/>
                </a:solidFill>
                <a:hlinkClick r:id="rId3"/>
              </a:rPr>
              <a:t>https://habr.com/ru/articles/267041/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u="sng">
                <a:solidFill>
                  <a:schemeClr val="hlink"/>
                </a:solidFill>
                <a:hlinkClick r:id="rId4"/>
              </a:rPr>
              <a:t>https://scikit-learn.org/stable/modules/generated/sklearn.manifold.TSNE.html</a:t>
            </a:r>
            <a:r>
              <a:rPr lang="ru-RU"/>
              <a:t> </a:t>
            </a:r>
            <a:r>
              <a:rPr lang="ru-RU"/>
              <a:t> </a:t>
            </a:r>
            <a:endParaRPr/>
          </a:p>
        </p:txBody>
      </p:sp>
      <p:pic>
        <p:nvPicPr>
          <p:cNvPr id="338" name="Google Shape;338;g1f50b7b3b11_0_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8525" y="833830"/>
            <a:ext cx="4142601" cy="17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g1f50b7b3b11_0_138"/>
          <p:cNvSpPr txBox="1"/>
          <p:nvPr/>
        </p:nvSpPr>
        <p:spPr>
          <a:xfrm>
            <a:off x="274975" y="1044075"/>
            <a:ext cx="42465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</a:rPr>
              <a:t>В данном случае перплексия может быть интерпретирована как сглаженная оценка эффективного количества «соседей» для точки X</a:t>
            </a:r>
            <a:r>
              <a:rPr baseline="-25000" lang="ru-RU" sz="1100">
                <a:solidFill>
                  <a:schemeClr val="dk1"/>
                </a:solidFill>
              </a:rPr>
              <a:t>i</a:t>
            </a:r>
            <a:r>
              <a:rPr lang="ru-RU" sz="1100">
                <a:solidFill>
                  <a:schemeClr val="dk1"/>
                </a:solidFill>
              </a:rPr>
              <a:t>. Она задается в качестве параметра метода. Авторы рекомендуют использовать значение в интервале от 5 до 50.</a:t>
            </a:r>
            <a:endParaRPr/>
          </a:p>
        </p:txBody>
      </p:sp>
      <p:pic>
        <p:nvPicPr>
          <p:cNvPr id="340" name="Google Shape;340;g1f50b7b3b11_0_1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750" y="2557476"/>
            <a:ext cx="4579699" cy="162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g1f50b7b3b11_0_1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14625" y="2687919"/>
            <a:ext cx="4246501" cy="993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f50b7b3b11_0_26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Визуализация эмбеддингов: зачем?</a:t>
            </a:r>
            <a:endParaRPr/>
          </a:p>
        </p:txBody>
      </p:sp>
      <p:sp>
        <p:nvSpPr>
          <p:cNvPr id="347" name="Google Shape;347;g1f50b7b3b11_0_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48" name="Google Shape;348;g1f50b7b3b11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8525" y="251526"/>
            <a:ext cx="2719224" cy="219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g1f50b7b3b11_0_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75" y="2505477"/>
            <a:ext cx="7603976" cy="263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f50b7b3b11_0_10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Визуализация эмбеддингов</a:t>
            </a:r>
            <a:endParaRPr/>
          </a:p>
        </p:txBody>
      </p:sp>
      <p:sp>
        <p:nvSpPr>
          <p:cNvPr id="355" name="Google Shape;355;g1f50b7b3b11_0_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56" name="Google Shape;356;g1f50b7b3b11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13460"/>
            <a:ext cx="4114399" cy="4004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g1f50b7b3b11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9199" y="1034760"/>
            <a:ext cx="3985185" cy="3839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f50b7b3b11_0_157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5454"/>
              <a:buFont typeface="Arial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Визуализация эмбеддингов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454"/>
              <a:buNone/>
            </a:pPr>
            <a:r>
              <a:t/>
            </a:r>
            <a:endParaRPr b="0" sz="22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63" name="Google Shape;363;g1f50b7b3b11_0_1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64" name="Google Shape;364;g1f50b7b3b11_0_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00" y="589950"/>
            <a:ext cx="4408251" cy="231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g1f50b7b3b11_0_1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3850" y="2025075"/>
            <a:ext cx="5990551" cy="311837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1f50b7b3b11_0_157"/>
          <p:cNvSpPr txBox="1"/>
          <p:nvPr/>
        </p:nvSpPr>
        <p:spPr>
          <a:xfrm>
            <a:off x="0" y="4649150"/>
            <a:ext cx="695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u="sng">
                <a:solidFill>
                  <a:schemeClr val="hlink"/>
                </a:solidFill>
                <a:hlinkClick r:id="rId5"/>
              </a:rPr>
              <a:t>https://www.dialog-21.ru/media/5751/bondarenkoi113.pdf</a:t>
            </a:r>
            <a:r>
              <a:rPr lang="ru-RU"/>
              <a:t>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1f50b7b3b11_0_177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Визуализация музыкального произведения</a:t>
            </a:r>
            <a:endParaRPr/>
          </a:p>
        </p:txBody>
      </p:sp>
      <p:sp>
        <p:nvSpPr>
          <p:cNvPr id="372" name="Google Shape;372;g1f50b7b3b11_0_1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descr="Я решил посмотреть как выглядит Бах. Возможно ли это вообще? Как выглядит музыка? Слушайте и смотрите Бах - Токката и Фуга ре минор BWV 565. Визуализация №1.&#10;Смотрите вторую визуализацию Баха: https://youtu.be/SOYzZFrXfO4&#10;&#10;Благодаря визуализации в Winamp это стало возможным. &#10;Изначально я вдохновился послушав выступление Михаила Казиника. Как он рассказывает о музыке? Сразу хочется что-то сделать)))&#10;Послушайте его выступление обязательно: https://youtu.be/fCzFMzwAX-Y" id="373" name="Google Shape;373;g1f50b7b3b11_0_177" title="Бах - Токката и Фуга. Визуализация Winamp №1. Бах - Токката и Фуга ре минор BWV 565.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800" y="1463372"/>
            <a:ext cx="4100650" cy="2306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indows Media Player - доступный каждому проигрыватель музыки, но многие забывают, что  в Windows Media Player можно найти любимый способ визуализации аудиофайлов. В Windows Media Player есть ссылка на сайт, где можно бесплатно скачать дополнительные программы зрительных образов. Вторая часть вышла тут: https://www.youtube.com/watch?v=NeKCw4NS3s4&amp;t=190s&#10;       Композиции собственного производства, сделанные в старенькой Techno eJay 4:&#10;1- 00:06, 2 - 01:10, 3 - 02:12, 4 - 04:57  Остальные треки - фонотека YouTube.&#10;       На этом канале,  вероятно, есть клип о вашей любимой игре, я делаю видео из вкусных  моментов известных игр. Они помогут  в выборе хорошей игры, которую вдруг пропустили. &#10;      Тут еще  мои музыкальные клипы  с мощной ритм-секцией - плейлист Cool Music.&#10;       Удачи! А меня зовут  Игорь, я автор канала Cool Videomax." id="374" name="Google Shape;374;g1f50b7b3b11_0_177" title="Windows Media Player. Бесплатная визуализация музыки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54825" y="1463372"/>
            <a:ext cx="4100650" cy="2306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f50b7b3b11_0_199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Визуализация музыкального произведения</a:t>
            </a:r>
            <a:endParaRPr/>
          </a:p>
        </p:txBody>
      </p:sp>
      <p:sp>
        <p:nvSpPr>
          <p:cNvPr id="380" name="Google Shape;380;g1f50b7b3b11_0_19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descr=" " id="381" name="Google Shape;381;g1f50b7b3b11_0_199" title="Визуализация. Григ - В пещере горного короля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150" y="1067075"/>
            <a:ext cx="3471350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third movement of Vivaldi's Concerto for solo baroque violin and strings in F Minor, &quot;Winter&quot; (L'Inverno, RV 297), performed by Cynthia Miller Freivogel and the Early Music ensemble Voices of Music, with an animated graphical score.&#10;FAQ&#10;&#10;Q: Where can I learn more about the ensemble?&#10;A: Here:&#10; https://www.voicesofmusic.org/&#10;&#10;Q: Where can I get this recording?&#10;A: You can get the recording from Soundcloud ...&#10; https://soundcloud.com/voices-of-music-1/vivaldi-winter-complete-2017&#10;... and you can watch Voices of Music perform it on YouTube ...&#10; https://www.youtube.com/watch?v=ZPdk5GaIDjo&#10;&#10;Q: What do the colors mean?&#10;A: Colors are assigned according to pitch, in a system I call &quot;harmonic coloring&quot; (since it shows changes in harmonies).  You can read more about this here:&#10; http://www.musanim.com/HarmonicColoring/&#10;In this video, blue is assigned to the F for the first and last movements and E-flat for the middle movement.&#10;&#10;Q: Why is the pitch one-half step flat?&#10;A: The music is being performed at &quot;Baroque pitch.&quot;  To learn more about this, see ...&#10;https://en.wikipedia.org/wiki/Pitch_(music)#Pitch_standards_and_Standard_pitch&#10;&#10;Q: I appreciate your work; how can I support it?&#10;A: There are several ways:&#10;free: like, subscribe, spread the word&#10;donate: https://paypal.me/musanim&#10;subscribe: https://www.patreon.com/musanim&#10;underwrite: https://www.musanim.com/underwriting&#10;&#10;Q: Could you please do a video of ______?&#10;A: Please read this:&#10; http://www.musanim.com/requests/" id="382" name="Google Shape;382;g1f50b7b3b11_0_199" title="Vivaldi, Winter (Four Seasons, RV 397) 3. Allegro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81825" y="1067074"/>
            <a:ext cx="3471350" cy="19526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 have had a lot of requests to synchronize a track to Vivaldi's &quot;Winter&quot; and it came first in the poll I did recently, so here it is. I spent my whole weekend make this so I would really appreciate if you subscribed, or even shared the video!!!!! &#10;&#10;I hope you enjoy the video!!!!!!! &#10;&#10;-------------------------------------------------------------------------------------------------------------------------------- &#10;&#10;Song: &#10;Le quattro stagioni [The Four Seasons]: Violin Concerto in E maj &#10;&#10;Artist: &#10;Herbert von Karajan &#10;&#10;Album :&#10;Concerto recordings 1969 - 1984 &#10;&#10;Licensed to YouTube by :&#10;WMG (on behalf of PLG UK Classics); Public Domain Compositions, and 1 music rights societies&#10;&#10;Wiener Philharmoniker&#10;&#10;Herbert Von Karajan, Conductor&#10;&#10;Anne-Sophie Mutter, Violin&#10;&#10;Antonio Vivaldi, Composer&#10; &#10;&#10;_______________________________________________________________________________ &#10;&#10;THANKS FOR WATCHING!!!!!!!!!" id="383" name="Google Shape;383;g1f50b7b3b11_0_199" title="Line Rider - Winter - Vivaldi's Four Seasons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9150" y="3083125"/>
            <a:ext cx="3471334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g1f50b7b3b11_0_199" title="84314017_free.mp4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89124" y="3083124"/>
            <a:ext cx="2603518" cy="19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1f50b7b3b11_0_182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Музыкальный поиск</a:t>
            </a:r>
            <a:endParaRPr/>
          </a:p>
        </p:txBody>
      </p:sp>
      <p:sp>
        <p:nvSpPr>
          <p:cNvPr id="390" name="Google Shape;390;g1f50b7b3b11_0_18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91" name="Google Shape;391;g1f50b7b3b11_0_182"/>
          <p:cNvSpPr txBox="1"/>
          <p:nvPr/>
        </p:nvSpPr>
        <p:spPr>
          <a:xfrm>
            <a:off x="0" y="4777300"/>
            <a:ext cx="528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u="sng">
                <a:solidFill>
                  <a:schemeClr val="hlink"/>
                </a:solidFill>
                <a:hlinkClick r:id="rId3"/>
              </a:rPr>
              <a:t>https://www.cs.princeton.edu/~hy2/teaching/fall22-cos521/notes/NNS%20&amp;%20LSH.pdf</a:t>
            </a:r>
            <a:r>
              <a:rPr lang="ru-RU" sz="1000"/>
              <a:t>  </a:t>
            </a:r>
            <a:endParaRPr sz="1000"/>
          </a:p>
        </p:txBody>
      </p:sp>
      <p:sp>
        <p:nvSpPr>
          <p:cNvPr id="392" name="Google Shape;392;g1f50b7b3b11_0_182"/>
          <p:cNvSpPr txBox="1"/>
          <p:nvPr/>
        </p:nvSpPr>
        <p:spPr>
          <a:xfrm>
            <a:off x="388175" y="955125"/>
            <a:ext cx="73440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/>
              <a:t>Поиск ближайшего соседа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ru-RU"/>
              <a:t>Есть База данных: Xi = {x1, x2, …, xn}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ru-RU"/>
              <a:t>Метрика расстояния d(a, b)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Наша цель: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ru-RU"/>
              <a:t>Создать структуру данных для X (у нас есть время на предварительную обработку и дополнительное пространство памяти)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ru-RU"/>
              <a:t>Для любого примера запроса q найти ближайшие точки x в нашей БД, аргумент min</a:t>
            </a:r>
            <a:r>
              <a:rPr lang="ru-RU" sz="600"/>
              <a:t>x∈X</a:t>
            </a:r>
            <a:r>
              <a:rPr lang="ru-RU"/>
              <a:t> d(q, x)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В общем, здесь будет компромисс: структуры данных с занимаемым большим пространством памяти позволяют сократить время запроса. Классическая проблема сложности  по времени и памяти.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f50b7b3b11_0_187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Музыкальный поиск</a:t>
            </a:r>
            <a:endParaRPr/>
          </a:p>
        </p:txBody>
      </p:sp>
      <p:sp>
        <p:nvSpPr>
          <p:cNvPr id="398" name="Google Shape;398;g1f50b7b3b11_0_18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99" name="Google Shape;399;g1f50b7b3b11_0_187"/>
          <p:cNvSpPr txBox="1"/>
          <p:nvPr/>
        </p:nvSpPr>
        <p:spPr>
          <a:xfrm>
            <a:off x="0" y="4777300"/>
            <a:ext cx="528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u="sng">
                <a:solidFill>
                  <a:schemeClr val="hlink"/>
                </a:solidFill>
                <a:hlinkClick r:id="rId3"/>
              </a:rPr>
              <a:t>https://www.cs.princeton.edu/~hy2/teaching/fall22-cos521/notes/NNS%20&amp;%20LSH.pdf</a:t>
            </a:r>
            <a:r>
              <a:rPr lang="ru-RU" sz="1000"/>
              <a:t> </a:t>
            </a:r>
            <a:r>
              <a:rPr lang="ru-RU" sz="1000"/>
              <a:t> </a:t>
            </a:r>
            <a:endParaRPr sz="1000"/>
          </a:p>
        </p:txBody>
      </p:sp>
      <p:pic>
        <p:nvPicPr>
          <p:cNvPr id="400" name="Google Shape;400;g1f50b7b3b11_0_1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275" y="986235"/>
            <a:ext cx="7450602" cy="3638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f50b7b3b11_0_219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Музыкальный поиск: LSH</a:t>
            </a:r>
            <a:endParaRPr/>
          </a:p>
        </p:txBody>
      </p:sp>
      <p:sp>
        <p:nvSpPr>
          <p:cNvPr id="406" name="Google Shape;406;g1f50b7b3b11_0_2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07" name="Google Shape;407;g1f50b7b3b11_0_219"/>
          <p:cNvSpPr txBox="1"/>
          <p:nvPr/>
        </p:nvSpPr>
        <p:spPr>
          <a:xfrm>
            <a:off x="0" y="4777300"/>
            <a:ext cx="528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u="sng">
                <a:solidFill>
                  <a:schemeClr val="hlink"/>
                </a:solidFill>
                <a:hlinkClick r:id="rId3"/>
              </a:rPr>
              <a:t>https://www.cs.princeton.edu/~hy2/teaching/fall22-cos521/notes/NNS%20&amp;%20LSH.pdf</a:t>
            </a:r>
            <a:r>
              <a:rPr lang="ru-RU" sz="1000"/>
              <a:t>  </a:t>
            </a:r>
            <a:endParaRPr sz="1000"/>
          </a:p>
        </p:txBody>
      </p:sp>
      <p:sp>
        <p:nvSpPr>
          <p:cNvPr id="408" name="Google Shape;408;g1f50b7b3b11_0_219"/>
          <p:cNvSpPr txBox="1"/>
          <p:nvPr/>
        </p:nvSpPr>
        <p:spPr>
          <a:xfrm>
            <a:off x="102225" y="833825"/>
            <a:ext cx="89205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Locality Sensitive Hashing (LSH) - это метод индексации и поиска данных, который находит близкие объекты с помощью хэширования. Основная идея LSH заключается в том, что схожие объекты должны иметь одинаковый или близкий хэш, таким образом ускоряя процесс поиска.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Процесс работы LSH обычно включает следующие шаги: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1. Хэширование данных: Исходные данные или векторы сначала хэшируются в хэш-таблицу с использованием специальных хэш-функций, которые разделяют данные на различные корзины (buckets).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2. Поиск близких объектов: При поиске близких объектов, запрос также хэшируется, и затем происходит поиск соседних хэшей. Объекты, у которых совпадают или близки хэши, считаются потенциально похожими.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3. Проверка соседства: Для уменьшения ложных срабатываний, объекты из потенциально похожих групп подвергаются дополнительной проверке (например, вычисление реального расстояния между ними).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1f50b7b3b11_0_231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Музыкальный поиск: LSH</a:t>
            </a:r>
            <a:endParaRPr/>
          </a:p>
        </p:txBody>
      </p:sp>
      <p:sp>
        <p:nvSpPr>
          <p:cNvPr id="414" name="Google Shape;414;g1f50b7b3b11_0_2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15" name="Google Shape;415;g1f50b7b3b11_0_231"/>
          <p:cNvSpPr txBox="1"/>
          <p:nvPr/>
        </p:nvSpPr>
        <p:spPr>
          <a:xfrm>
            <a:off x="0" y="4545275"/>
            <a:ext cx="528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u="sng">
                <a:solidFill>
                  <a:schemeClr val="hlink"/>
                </a:solidFill>
                <a:hlinkClick r:id="rId3"/>
              </a:rPr>
              <a:t>https://www.cs.princeton.edu/~hy2/teaching/fall22-cos521/notes/NNS%20&amp;%20LSH.pdf</a:t>
            </a:r>
            <a:r>
              <a:rPr lang="ru-RU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u="sng">
                <a:solidFill>
                  <a:schemeClr val="hlink"/>
                </a:solidFill>
                <a:hlinkClick r:id="rId4"/>
              </a:rPr>
              <a:t>https://github.com/cchatzis/Nearest-Neighbour-LSH</a:t>
            </a:r>
            <a:r>
              <a:rPr lang="ru-RU" sz="1000"/>
              <a:t> </a:t>
            </a:r>
            <a:r>
              <a:rPr lang="ru-RU" sz="1000"/>
              <a:t> </a:t>
            </a:r>
            <a:endParaRPr sz="1000"/>
          </a:p>
        </p:txBody>
      </p:sp>
      <p:pic>
        <p:nvPicPr>
          <p:cNvPr id="416" name="Google Shape;416;g1f50b7b3b11_0_2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050" y="1641300"/>
            <a:ext cx="3633149" cy="2043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g1f50b7b3b11_0_2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39949" y="906598"/>
            <a:ext cx="3086692" cy="3638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1f50b7b3b11_0_225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Музыкальный поиск: LSH</a:t>
            </a:r>
            <a:endParaRPr/>
          </a:p>
        </p:txBody>
      </p:sp>
      <p:sp>
        <p:nvSpPr>
          <p:cNvPr id="423" name="Google Shape;423;g1f50b7b3b11_0_2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24" name="Google Shape;424;g1f50b7b3b11_0_225"/>
          <p:cNvSpPr txBox="1"/>
          <p:nvPr/>
        </p:nvSpPr>
        <p:spPr>
          <a:xfrm>
            <a:off x="0" y="4777300"/>
            <a:ext cx="528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u="sng">
                <a:solidFill>
                  <a:schemeClr val="hlink"/>
                </a:solidFill>
                <a:hlinkClick r:id="rId3"/>
              </a:rPr>
              <a:t>https://www.cs.princeton.edu/~hy2/teaching/fall22-cos521/notes/NNS%20&amp;%20LSH.pdf</a:t>
            </a:r>
            <a:r>
              <a:rPr lang="ru-RU" sz="1000"/>
              <a:t>  </a:t>
            </a:r>
            <a:endParaRPr sz="1000"/>
          </a:p>
        </p:txBody>
      </p:sp>
      <p:sp>
        <p:nvSpPr>
          <p:cNvPr id="425" name="Google Shape;425;g1f50b7b3b11_0_225"/>
          <p:cNvSpPr txBox="1"/>
          <p:nvPr/>
        </p:nvSpPr>
        <p:spPr>
          <a:xfrm>
            <a:off x="134400" y="686350"/>
            <a:ext cx="85812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/>
              <a:t>В методе Locality Sensitive Hashing (LSH) могут использоваться различные виды хэш-функций в зависимости от конкретной задачи и требований. Некоторые из наиболее распространенных хэш-функций, которые могут применяться в LSH, включают: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/>
              <a:t>1. Hash functions for Euclidean space (Хэш-функции для евклидова пространства):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/>
              <a:t>   - Randomized Projection Hashing: Проектирует данные на случайно выбранные подпространства.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/>
              <a:t>   - Cryptographic Hash Functions: Например, SHA (Secure Hash Algorithm), MD5 (Message Digest Algorithm 5).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/>
              <a:t>2. Hash functions for Jaccard similarity (Хэш-функции для коэффициента Жаккара):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/>
              <a:t>   - MinHash: Ключевой метод для приближенного вычисления коэффициента Жаккара.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/>
              <a:t>3. Hash functions for Cosine similarity (Хэш-функции для косинусного сходства):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/>
              <a:t>   - Random Hyperplane Hashing: Использует случайные гиперплоскости для разделения данных.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/>
              <a:t>4. Hash functions for Hamming distance (Хэш-функции для расстояния Хэмминга):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/>
              <a:t>   - Locality Sensitive Hashing for Hamming space (LSH-H): Специализированные хэш-функции для работы с бинарными данными.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/>
              <a:t>Выбор конкретной хэш-функции в методе LSH зависит от структуры данных, типа расстояния между объектами и задачи, которую необходимо решить. Эффективный выбор хороших хэш-функций играет важную роль в работе LSH, поскольку от них зависит качество и скорость поиска близких объектов.</a:t>
            </a:r>
            <a:endParaRPr sz="12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c832132dc9_0_273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Музыкальный поиск: LSH</a:t>
            </a:r>
            <a:endParaRPr/>
          </a:p>
        </p:txBody>
      </p:sp>
      <p:sp>
        <p:nvSpPr>
          <p:cNvPr id="432" name="Google Shape;432;g2c832132dc9_0_2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33" name="Google Shape;433;g2c832132dc9_0_273"/>
          <p:cNvSpPr txBox="1"/>
          <p:nvPr/>
        </p:nvSpPr>
        <p:spPr>
          <a:xfrm>
            <a:off x="-9525" y="1067525"/>
            <a:ext cx="9144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/>
              <a:t>Randomized Projection Hashing</a:t>
            </a:r>
            <a:r>
              <a:rPr lang="ru-RU" sz="1200"/>
              <a:t> (Случайное проекционное хэширование) - это метод хэширования, который используется для поиска близких объектов в евклидовом пространстве. Он основан на идее проектирования данных на случайные подпространства с целью сохранения отношений близости между объектами. Вот как работает Randomized Projection Hashing: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/>
              <a:t>1. </a:t>
            </a:r>
            <a:r>
              <a:rPr b="1" lang="ru-RU" sz="1200"/>
              <a:t>Генерация случайных подпространств</a:t>
            </a:r>
            <a:r>
              <a:rPr lang="ru-RU" sz="1200"/>
              <a:t>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/>
              <a:t>   - Сначала случайным образом генерируются векторы, которые представляют собой подпространства в исходном евклидовом пространстве.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/>
              <a:t>2. </a:t>
            </a:r>
            <a:r>
              <a:rPr b="1" lang="ru-RU" sz="1200"/>
              <a:t>Проекция данных</a:t>
            </a:r>
            <a:r>
              <a:rPr lang="ru-RU" sz="1200"/>
              <a:t>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/>
              <a:t>   - Для каждого объекта данных выполняется проекция на сгенерированные случайные подпространства путем вычисления скалярного произведения между объектом и каждым вектором подпространства.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/>
              <a:t>3. </a:t>
            </a:r>
            <a:r>
              <a:rPr b="1" lang="ru-RU" sz="1200"/>
              <a:t>Бинаризация</a:t>
            </a:r>
            <a:r>
              <a:rPr lang="ru-RU" sz="1200"/>
              <a:t>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/>
              <a:t>   - Результаты проекции могут быть бинаризованы, например, сравнивая их со значением 0: если проекция больше 0, то хэш-значение равно 1, иначе - 0.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/>
              <a:t>4. </a:t>
            </a:r>
            <a:r>
              <a:rPr b="1" lang="ru-RU" sz="1200"/>
              <a:t>Хэширование</a:t>
            </a:r>
            <a:r>
              <a:rPr lang="ru-RU" sz="1200"/>
              <a:t>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/>
              <a:t>   - Полученные бинарные значения для каждого подпространства объединяются в хэш-функцию, которая затем используется для индексации и поиска близких объектов.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/>
              <a:t>Randomized Projection Hashing</a:t>
            </a:r>
            <a:r>
              <a:rPr lang="ru-RU" sz="1200"/>
              <a:t> позволяет снизить размерность данных, сохраняя при этом структуру и исходные отношения близости между объектами</a:t>
            </a:r>
            <a:endParaRPr sz="12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1f50b7b3b11_0_162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Музыкальный поиск</a:t>
            </a:r>
            <a:endParaRPr/>
          </a:p>
        </p:txBody>
      </p:sp>
      <p:sp>
        <p:nvSpPr>
          <p:cNvPr id="439" name="Google Shape;439;g1f50b7b3b11_0_1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440" name="Google Shape;440;g1f50b7b3b11_0_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86235"/>
            <a:ext cx="8760983" cy="3611215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g1f50b7b3b11_0_162"/>
          <p:cNvSpPr txBox="1"/>
          <p:nvPr/>
        </p:nvSpPr>
        <p:spPr>
          <a:xfrm>
            <a:off x="3300275" y="4554500"/>
            <a:ext cx="21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Хромограмма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1f50b7b3b11_0_192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Музыкальный поиск</a:t>
            </a:r>
            <a:endParaRPr/>
          </a:p>
        </p:txBody>
      </p:sp>
      <p:sp>
        <p:nvSpPr>
          <p:cNvPr id="447" name="Google Shape;447;g1f50b7b3b11_0_19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48" name="Google Shape;448;g1f50b7b3b11_0_192"/>
          <p:cNvSpPr/>
          <p:nvPr/>
        </p:nvSpPr>
        <p:spPr>
          <a:xfrm>
            <a:off x="5944800" y="4480350"/>
            <a:ext cx="2717100" cy="5661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ЛР7. Реализация простого муз.поиска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49" name="Google Shape;449;g1f50b7b3b11_0_192"/>
          <p:cNvSpPr/>
          <p:nvPr/>
        </p:nvSpPr>
        <p:spPr>
          <a:xfrm>
            <a:off x="2928950" y="833825"/>
            <a:ext cx="2717100" cy="22002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Hash Table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450" name="Google Shape;450;g1f50b7b3b11_0_192"/>
          <p:cNvPicPr preferRelativeResize="0"/>
          <p:nvPr/>
        </p:nvPicPr>
        <p:blipFill rotWithShape="1">
          <a:blip r:embed="rId3">
            <a:alphaModFix/>
          </a:blip>
          <a:srcRect b="11811" l="9247" r="62602" t="4303"/>
          <a:stretch/>
        </p:blipFill>
        <p:spPr>
          <a:xfrm>
            <a:off x="829225" y="1400450"/>
            <a:ext cx="994570" cy="122172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g1f50b7b3b11_0_192"/>
          <p:cNvSpPr txBox="1"/>
          <p:nvPr/>
        </p:nvSpPr>
        <p:spPr>
          <a:xfrm>
            <a:off x="348425" y="1723925"/>
            <a:ext cx="60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12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52" name="Google Shape;452;g1f50b7b3b11_0_192"/>
          <p:cNvSpPr/>
          <p:nvPr/>
        </p:nvSpPr>
        <p:spPr>
          <a:xfrm>
            <a:off x="591025" y="3548800"/>
            <a:ext cx="2866200" cy="11121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Golos Text"/>
                <a:ea typeface="Golos Text"/>
                <a:cs typeface="Golos Text"/>
                <a:sym typeface="Golos Text"/>
              </a:rPr>
              <a:t>Hash Func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dot((n,12)x</a:t>
            </a:r>
            <a:r>
              <a:rPr lang="ru-RU">
                <a:highlight>
                  <a:srgbClr val="FFF2CC"/>
                </a:highlight>
                <a:latin typeface="Golos Text"/>
                <a:ea typeface="Golos Text"/>
                <a:cs typeface="Golos Text"/>
                <a:sym typeface="Golos Text"/>
              </a:rPr>
              <a:t>(12,8)</a:t>
            </a: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)=(n,8)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bool &gt; 0</a:t>
            </a:r>
            <a:br>
              <a:rPr lang="ru-RU">
                <a:latin typeface="Golos Text"/>
                <a:ea typeface="Golos Text"/>
                <a:cs typeface="Golos Text"/>
                <a:sym typeface="Golos Text"/>
              </a:rPr>
            </a:b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bool2int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53" name="Google Shape;453;g1f50b7b3b11_0_192"/>
          <p:cNvSpPr/>
          <p:nvPr/>
        </p:nvSpPr>
        <p:spPr>
          <a:xfrm>
            <a:off x="6894975" y="833825"/>
            <a:ext cx="1261500" cy="86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сл.матр.по норм.распр.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54" name="Google Shape;454;g1f50b7b3b11_0_192"/>
          <p:cNvSpPr txBox="1"/>
          <p:nvPr/>
        </p:nvSpPr>
        <p:spPr>
          <a:xfrm>
            <a:off x="7278975" y="1711475"/>
            <a:ext cx="49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12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55" name="Google Shape;455;g1f50b7b3b11_0_192"/>
          <p:cNvSpPr txBox="1"/>
          <p:nvPr/>
        </p:nvSpPr>
        <p:spPr>
          <a:xfrm>
            <a:off x="6502275" y="1020125"/>
            <a:ext cx="39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8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56" name="Google Shape;456;g1f50b7b3b11_0_192"/>
          <p:cNvSpPr txBox="1"/>
          <p:nvPr/>
        </p:nvSpPr>
        <p:spPr>
          <a:xfrm>
            <a:off x="3552688" y="1266225"/>
            <a:ext cx="1613400" cy="492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projections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457" name="Google Shape;457;g1f50b7b3b11_0_192"/>
          <p:cNvCxnSpPr>
            <a:stCxn id="456" idx="3"/>
            <a:endCxn id="455" idx="1"/>
          </p:cNvCxnSpPr>
          <p:nvPr/>
        </p:nvCxnSpPr>
        <p:spPr>
          <a:xfrm flipH="1" rot="10800000">
            <a:off x="5166088" y="1266525"/>
            <a:ext cx="1336200" cy="24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8" name="Google Shape;458;g1f50b7b3b11_0_192"/>
          <p:cNvSpPr/>
          <p:nvPr/>
        </p:nvSpPr>
        <p:spPr>
          <a:xfrm>
            <a:off x="825575" y="1093125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0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59" name="Google Shape;459;g1f50b7b3b11_0_192"/>
          <p:cNvSpPr txBox="1"/>
          <p:nvPr/>
        </p:nvSpPr>
        <p:spPr>
          <a:xfrm>
            <a:off x="3552688" y="1839175"/>
            <a:ext cx="1613400" cy="4926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add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60" name="Google Shape;460;g1f50b7b3b11_0_192"/>
          <p:cNvSpPr txBox="1"/>
          <p:nvPr/>
        </p:nvSpPr>
        <p:spPr>
          <a:xfrm>
            <a:off x="3552688" y="2412125"/>
            <a:ext cx="1613400" cy="4926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query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61" name="Google Shape;461;g1f50b7b3b11_0_192"/>
          <p:cNvSpPr txBox="1"/>
          <p:nvPr/>
        </p:nvSpPr>
        <p:spPr>
          <a:xfrm>
            <a:off x="1130158" y="2622175"/>
            <a:ext cx="39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n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c832132dc9_0_64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Музыкальный поиск</a:t>
            </a:r>
            <a:endParaRPr/>
          </a:p>
        </p:txBody>
      </p:sp>
      <p:sp>
        <p:nvSpPr>
          <p:cNvPr id="467" name="Google Shape;467;g2c832132dc9_0_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68" name="Google Shape;468;g2c832132dc9_0_64"/>
          <p:cNvSpPr/>
          <p:nvPr/>
        </p:nvSpPr>
        <p:spPr>
          <a:xfrm>
            <a:off x="5944800" y="4480350"/>
            <a:ext cx="2717100" cy="5661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ЛР7. Реализация простого муз.поиска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69" name="Google Shape;469;g2c832132dc9_0_64"/>
          <p:cNvSpPr/>
          <p:nvPr/>
        </p:nvSpPr>
        <p:spPr>
          <a:xfrm>
            <a:off x="2928950" y="833825"/>
            <a:ext cx="2717100" cy="22002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Hash Table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470" name="Google Shape;470;g2c832132dc9_0_64"/>
          <p:cNvPicPr preferRelativeResize="0"/>
          <p:nvPr/>
        </p:nvPicPr>
        <p:blipFill rotWithShape="1">
          <a:blip r:embed="rId3">
            <a:alphaModFix/>
          </a:blip>
          <a:srcRect b="11811" l="9247" r="62602" t="4303"/>
          <a:stretch/>
        </p:blipFill>
        <p:spPr>
          <a:xfrm>
            <a:off x="829225" y="1400450"/>
            <a:ext cx="994570" cy="1221725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g2c832132dc9_0_64"/>
          <p:cNvSpPr txBox="1"/>
          <p:nvPr/>
        </p:nvSpPr>
        <p:spPr>
          <a:xfrm>
            <a:off x="348425" y="1723925"/>
            <a:ext cx="60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12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72" name="Google Shape;472;g2c832132dc9_0_64"/>
          <p:cNvSpPr/>
          <p:nvPr/>
        </p:nvSpPr>
        <p:spPr>
          <a:xfrm>
            <a:off x="591025" y="3548800"/>
            <a:ext cx="2866200" cy="11121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Golos Text"/>
                <a:ea typeface="Golos Text"/>
                <a:cs typeface="Golos Text"/>
                <a:sym typeface="Golos Text"/>
              </a:rPr>
              <a:t>Hash Func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dot((n,12)x</a:t>
            </a:r>
            <a:r>
              <a:rPr lang="ru-RU">
                <a:highlight>
                  <a:srgbClr val="FFF2CC"/>
                </a:highlight>
                <a:latin typeface="Golos Text"/>
                <a:ea typeface="Golos Text"/>
                <a:cs typeface="Golos Text"/>
                <a:sym typeface="Golos Text"/>
              </a:rPr>
              <a:t>(12,8)</a:t>
            </a: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)=(n,8)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bool &gt; 0</a:t>
            </a:r>
            <a:br>
              <a:rPr lang="ru-RU">
                <a:latin typeface="Golos Text"/>
                <a:ea typeface="Golos Text"/>
                <a:cs typeface="Golos Text"/>
                <a:sym typeface="Golos Text"/>
              </a:rPr>
            </a:b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bool2int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73" name="Google Shape;473;g2c832132dc9_0_64"/>
          <p:cNvSpPr/>
          <p:nvPr/>
        </p:nvSpPr>
        <p:spPr>
          <a:xfrm>
            <a:off x="6894975" y="833825"/>
            <a:ext cx="1261500" cy="86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сл.матр.по норм.распр.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74" name="Google Shape;474;g2c832132dc9_0_64"/>
          <p:cNvSpPr txBox="1"/>
          <p:nvPr/>
        </p:nvSpPr>
        <p:spPr>
          <a:xfrm>
            <a:off x="1130158" y="2622175"/>
            <a:ext cx="39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n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75" name="Google Shape;475;g2c832132dc9_0_64"/>
          <p:cNvSpPr txBox="1"/>
          <p:nvPr/>
        </p:nvSpPr>
        <p:spPr>
          <a:xfrm>
            <a:off x="7278975" y="1711475"/>
            <a:ext cx="49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12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76" name="Google Shape;476;g2c832132dc9_0_64"/>
          <p:cNvSpPr txBox="1"/>
          <p:nvPr/>
        </p:nvSpPr>
        <p:spPr>
          <a:xfrm>
            <a:off x="6502275" y="1020125"/>
            <a:ext cx="39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8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77" name="Google Shape;477;g2c832132dc9_0_64"/>
          <p:cNvSpPr txBox="1"/>
          <p:nvPr/>
        </p:nvSpPr>
        <p:spPr>
          <a:xfrm>
            <a:off x="3552688" y="1266225"/>
            <a:ext cx="1613400" cy="492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projections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478" name="Google Shape;478;g2c832132dc9_0_64"/>
          <p:cNvCxnSpPr>
            <a:stCxn id="477" idx="3"/>
            <a:endCxn id="476" idx="1"/>
          </p:cNvCxnSpPr>
          <p:nvPr/>
        </p:nvCxnSpPr>
        <p:spPr>
          <a:xfrm flipH="1" rot="10800000">
            <a:off x="5166088" y="1266525"/>
            <a:ext cx="1336200" cy="24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9" name="Google Shape;479;g2c832132dc9_0_64"/>
          <p:cNvSpPr/>
          <p:nvPr/>
        </p:nvSpPr>
        <p:spPr>
          <a:xfrm>
            <a:off x="825575" y="1093125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0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80" name="Google Shape;480;g2c832132dc9_0_64"/>
          <p:cNvSpPr txBox="1"/>
          <p:nvPr/>
        </p:nvSpPr>
        <p:spPr>
          <a:xfrm>
            <a:off x="3552688" y="1839175"/>
            <a:ext cx="1613400" cy="4926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add</a:t>
            </a:r>
            <a:endParaRPr b="1"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81" name="Google Shape;481;g2c832132dc9_0_64"/>
          <p:cNvSpPr txBox="1"/>
          <p:nvPr/>
        </p:nvSpPr>
        <p:spPr>
          <a:xfrm>
            <a:off x="3552688" y="2412125"/>
            <a:ext cx="1613400" cy="4926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query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482" name="Google Shape;482;g2c832132dc9_0_64"/>
          <p:cNvCxnSpPr>
            <a:stCxn id="479" idx="3"/>
            <a:endCxn id="480" idx="1"/>
          </p:cNvCxnSpPr>
          <p:nvPr/>
        </p:nvCxnSpPr>
        <p:spPr>
          <a:xfrm>
            <a:off x="1820075" y="1179675"/>
            <a:ext cx="1732500" cy="90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3" name="Google Shape;483;g2c832132dc9_0_64"/>
          <p:cNvCxnSpPr>
            <a:stCxn id="470" idx="3"/>
            <a:endCxn id="480" idx="1"/>
          </p:cNvCxnSpPr>
          <p:nvPr/>
        </p:nvCxnSpPr>
        <p:spPr>
          <a:xfrm>
            <a:off x="1823795" y="2011313"/>
            <a:ext cx="1728900" cy="7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4" name="Google Shape;484;g2c832132dc9_0_64"/>
          <p:cNvCxnSpPr>
            <a:stCxn id="474" idx="2"/>
            <a:endCxn id="472" idx="0"/>
          </p:cNvCxnSpPr>
          <p:nvPr/>
        </p:nvCxnSpPr>
        <p:spPr>
          <a:xfrm flipH="1" rot="-5400000">
            <a:off x="1458208" y="2983075"/>
            <a:ext cx="434100" cy="697500"/>
          </a:xfrm>
          <a:prstGeom prst="curvedConnector3">
            <a:avLst>
              <a:gd fmla="val 4999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g2c832132dc9_0_64"/>
          <p:cNvCxnSpPr>
            <a:stCxn id="477" idx="1"/>
            <a:endCxn id="472" idx="0"/>
          </p:cNvCxnSpPr>
          <p:nvPr/>
        </p:nvCxnSpPr>
        <p:spPr>
          <a:xfrm flipH="1">
            <a:off x="2024188" y="1512525"/>
            <a:ext cx="1528500" cy="20364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6" name="Google Shape;486;g2c832132dc9_0_64"/>
          <p:cNvSpPr/>
          <p:nvPr/>
        </p:nvSpPr>
        <p:spPr>
          <a:xfrm>
            <a:off x="3906925" y="3595450"/>
            <a:ext cx="392700" cy="33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h1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87" name="Google Shape;487;g2c832132dc9_0_64"/>
          <p:cNvSpPr/>
          <p:nvPr/>
        </p:nvSpPr>
        <p:spPr>
          <a:xfrm>
            <a:off x="3906925" y="3935050"/>
            <a:ext cx="392700" cy="33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…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88" name="Google Shape;488;g2c832132dc9_0_64"/>
          <p:cNvSpPr/>
          <p:nvPr/>
        </p:nvSpPr>
        <p:spPr>
          <a:xfrm>
            <a:off x="3906925" y="4274650"/>
            <a:ext cx="392700" cy="33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latin typeface="Golos Text"/>
                <a:ea typeface="Golos Text"/>
                <a:cs typeface="Golos Text"/>
                <a:sym typeface="Golos Text"/>
              </a:rPr>
              <a:t>hn</a:t>
            </a:r>
            <a:endParaRPr sz="1200"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489" name="Google Shape;489;g2c832132dc9_0_64"/>
          <p:cNvCxnSpPr>
            <a:stCxn id="472" idx="3"/>
            <a:endCxn id="487" idx="1"/>
          </p:cNvCxnSpPr>
          <p:nvPr/>
        </p:nvCxnSpPr>
        <p:spPr>
          <a:xfrm>
            <a:off x="3457225" y="4104850"/>
            <a:ext cx="44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0" name="Google Shape;490;g2c832132dc9_0_64"/>
          <p:cNvSpPr/>
          <p:nvPr/>
        </p:nvSpPr>
        <p:spPr>
          <a:xfrm>
            <a:off x="6445075" y="2387675"/>
            <a:ext cx="392700" cy="33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Golos Text"/>
                <a:ea typeface="Golos Text"/>
                <a:cs typeface="Golos Text"/>
                <a:sym typeface="Golos Text"/>
              </a:rPr>
              <a:t>H1</a:t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91" name="Google Shape;491;g2c832132dc9_0_64"/>
          <p:cNvSpPr/>
          <p:nvPr/>
        </p:nvSpPr>
        <p:spPr>
          <a:xfrm>
            <a:off x="6445075" y="2775175"/>
            <a:ext cx="392700" cy="33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Golos Text"/>
                <a:ea typeface="Golos Text"/>
                <a:cs typeface="Golos Text"/>
                <a:sym typeface="Golos Text"/>
              </a:rPr>
              <a:t>H2</a:t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92" name="Google Shape;492;g2c832132dc9_0_64"/>
          <p:cNvSpPr/>
          <p:nvPr/>
        </p:nvSpPr>
        <p:spPr>
          <a:xfrm>
            <a:off x="6445075" y="3162675"/>
            <a:ext cx="392700" cy="33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Golos Text"/>
                <a:ea typeface="Golos Text"/>
                <a:cs typeface="Golos Text"/>
                <a:sym typeface="Golos Text"/>
              </a:rPr>
              <a:t>H3</a:t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93" name="Google Shape;493;g2c832132dc9_0_64"/>
          <p:cNvSpPr/>
          <p:nvPr/>
        </p:nvSpPr>
        <p:spPr>
          <a:xfrm>
            <a:off x="6445075" y="3550175"/>
            <a:ext cx="392700" cy="33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Golos Text"/>
                <a:ea typeface="Golos Text"/>
                <a:cs typeface="Golos Text"/>
                <a:sym typeface="Golos Text"/>
              </a:rPr>
              <a:t>H4</a:t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494" name="Google Shape;494;g2c832132dc9_0_64"/>
          <p:cNvCxnSpPr>
            <a:stCxn id="486" idx="3"/>
            <a:endCxn id="491" idx="1"/>
          </p:cNvCxnSpPr>
          <p:nvPr/>
        </p:nvCxnSpPr>
        <p:spPr>
          <a:xfrm flipH="1" rot="10800000">
            <a:off x="4299625" y="2945050"/>
            <a:ext cx="2145600" cy="82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5" name="Google Shape;495;g2c832132dc9_0_64"/>
          <p:cNvCxnSpPr>
            <a:stCxn id="488" idx="3"/>
            <a:endCxn id="492" idx="1"/>
          </p:cNvCxnSpPr>
          <p:nvPr/>
        </p:nvCxnSpPr>
        <p:spPr>
          <a:xfrm flipH="1" rot="10800000">
            <a:off x="4299625" y="3332350"/>
            <a:ext cx="2145600" cy="111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6" name="Google Shape;496;g2c832132dc9_0_64"/>
          <p:cNvSpPr/>
          <p:nvPr/>
        </p:nvSpPr>
        <p:spPr>
          <a:xfrm>
            <a:off x="6894975" y="2781925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Golos Text"/>
                <a:ea typeface="Golos Text"/>
                <a:cs typeface="Golos Text"/>
                <a:sym typeface="Golos Text"/>
              </a:rPr>
              <a:t>label 0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97" name="Google Shape;497;g2c832132dc9_0_64"/>
          <p:cNvSpPr/>
          <p:nvPr/>
        </p:nvSpPr>
        <p:spPr>
          <a:xfrm>
            <a:off x="6894975" y="3162675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Golos Text"/>
                <a:ea typeface="Golos Text"/>
                <a:cs typeface="Golos Text"/>
                <a:sym typeface="Golos Text"/>
              </a:rPr>
              <a:t>label 0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98" name="Google Shape;498;g2c832132dc9_0_64"/>
          <p:cNvSpPr/>
          <p:nvPr/>
        </p:nvSpPr>
        <p:spPr>
          <a:xfrm>
            <a:off x="6895000" y="2406450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1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99" name="Google Shape;499;g2c832132dc9_0_64"/>
          <p:cNvSpPr/>
          <p:nvPr/>
        </p:nvSpPr>
        <p:spPr>
          <a:xfrm>
            <a:off x="7946725" y="2406438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2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00" name="Google Shape;500;g2c832132dc9_0_64"/>
          <p:cNvSpPr/>
          <p:nvPr/>
        </p:nvSpPr>
        <p:spPr>
          <a:xfrm>
            <a:off x="7946675" y="3162663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2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01" name="Google Shape;501;g2c832132dc9_0_64"/>
          <p:cNvSpPr/>
          <p:nvPr/>
        </p:nvSpPr>
        <p:spPr>
          <a:xfrm>
            <a:off x="6895000" y="3543413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2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c832132dc9_0_104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Музыкальный поиск</a:t>
            </a:r>
            <a:endParaRPr/>
          </a:p>
        </p:txBody>
      </p:sp>
      <p:sp>
        <p:nvSpPr>
          <p:cNvPr id="507" name="Google Shape;507;g2c832132dc9_0_10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08" name="Google Shape;508;g2c832132dc9_0_104"/>
          <p:cNvSpPr/>
          <p:nvPr/>
        </p:nvSpPr>
        <p:spPr>
          <a:xfrm>
            <a:off x="5944800" y="4480350"/>
            <a:ext cx="2717100" cy="5661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ЛР7. Реализация простого муз.поиска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09" name="Google Shape;509;g2c832132dc9_0_104"/>
          <p:cNvSpPr/>
          <p:nvPr/>
        </p:nvSpPr>
        <p:spPr>
          <a:xfrm>
            <a:off x="2928950" y="833825"/>
            <a:ext cx="2717100" cy="22002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Hash Table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510" name="Google Shape;510;g2c832132dc9_0_104"/>
          <p:cNvPicPr preferRelativeResize="0"/>
          <p:nvPr/>
        </p:nvPicPr>
        <p:blipFill rotWithShape="1">
          <a:blip r:embed="rId3">
            <a:alphaModFix/>
          </a:blip>
          <a:srcRect b="11811" l="9247" r="62602" t="4303"/>
          <a:stretch/>
        </p:blipFill>
        <p:spPr>
          <a:xfrm>
            <a:off x="829225" y="1400450"/>
            <a:ext cx="994570" cy="1221725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g2c832132dc9_0_104"/>
          <p:cNvSpPr txBox="1"/>
          <p:nvPr/>
        </p:nvSpPr>
        <p:spPr>
          <a:xfrm>
            <a:off x="348425" y="1723925"/>
            <a:ext cx="60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12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12" name="Google Shape;512;g2c832132dc9_0_104"/>
          <p:cNvSpPr/>
          <p:nvPr/>
        </p:nvSpPr>
        <p:spPr>
          <a:xfrm>
            <a:off x="591025" y="3548800"/>
            <a:ext cx="2866200" cy="11121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Golos Text"/>
                <a:ea typeface="Golos Text"/>
                <a:cs typeface="Golos Text"/>
                <a:sym typeface="Golos Text"/>
              </a:rPr>
              <a:t>Hash Func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dot((n,12)x</a:t>
            </a:r>
            <a:r>
              <a:rPr lang="ru-RU">
                <a:highlight>
                  <a:srgbClr val="FFF2CC"/>
                </a:highlight>
                <a:latin typeface="Golos Text"/>
                <a:ea typeface="Golos Text"/>
                <a:cs typeface="Golos Text"/>
                <a:sym typeface="Golos Text"/>
              </a:rPr>
              <a:t>(12,8)</a:t>
            </a: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)=(n,8)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bool &gt; 0</a:t>
            </a:r>
            <a:br>
              <a:rPr lang="ru-RU">
                <a:latin typeface="Golos Text"/>
                <a:ea typeface="Golos Text"/>
                <a:cs typeface="Golos Text"/>
                <a:sym typeface="Golos Text"/>
              </a:rPr>
            </a:b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bool2int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13" name="Google Shape;513;g2c832132dc9_0_104"/>
          <p:cNvSpPr/>
          <p:nvPr/>
        </p:nvSpPr>
        <p:spPr>
          <a:xfrm>
            <a:off x="6894975" y="833825"/>
            <a:ext cx="1261500" cy="86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сл.матр.по норм.распр.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14" name="Google Shape;514;g2c832132dc9_0_104"/>
          <p:cNvSpPr txBox="1"/>
          <p:nvPr/>
        </p:nvSpPr>
        <p:spPr>
          <a:xfrm>
            <a:off x="1130158" y="2622175"/>
            <a:ext cx="39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n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15" name="Google Shape;515;g2c832132dc9_0_104"/>
          <p:cNvSpPr txBox="1"/>
          <p:nvPr/>
        </p:nvSpPr>
        <p:spPr>
          <a:xfrm>
            <a:off x="7278975" y="1711475"/>
            <a:ext cx="49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12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16" name="Google Shape;516;g2c832132dc9_0_104"/>
          <p:cNvSpPr txBox="1"/>
          <p:nvPr/>
        </p:nvSpPr>
        <p:spPr>
          <a:xfrm>
            <a:off x="6502275" y="1020125"/>
            <a:ext cx="39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8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17" name="Google Shape;517;g2c832132dc9_0_104"/>
          <p:cNvSpPr txBox="1"/>
          <p:nvPr/>
        </p:nvSpPr>
        <p:spPr>
          <a:xfrm>
            <a:off x="3552688" y="1266225"/>
            <a:ext cx="1613400" cy="492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projections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518" name="Google Shape;518;g2c832132dc9_0_104"/>
          <p:cNvCxnSpPr>
            <a:stCxn id="517" idx="3"/>
            <a:endCxn id="516" idx="1"/>
          </p:cNvCxnSpPr>
          <p:nvPr/>
        </p:nvCxnSpPr>
        <p:spPr>
          <a:xfrm flipH="1" rot="10800000">
            <a:off x="5166088" y="1266525"/>
            <a:ext cx="1336200" cy="24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9" name="Google Shape;519;g2c832132dc9_0_104"/>
          <p:cNvSpPr txBox="1"/>
          <p:nvPr/>
        </p:nvSpPr>
        <p:spPr>
          <a:xfrm>
            <a:off x="3552688" y="1839175"/>
            <a:ext cx="1613400" cy="4926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add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20" name="Google Shape;520;g2c832132dc9_0_104"/>
          <p:cNvSpPr txBox="1"/>
          <p:nvPr/>
        </p:nvSpPr>
        <p:spPr>
          <a:xfrm>
            <a:off x="3552688" y="2412125"/>
            <a:ext cx="1613400" cy="4926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query</a:t>
            </a:r>
            <a:endParaRPr b="1"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521" name="Google Shape;521;g2c832132dc9_0_104"/>
          <p:cNvCxnSpPr>
            <a:stCxn id="510" idx="3"/>
            <a:endCxn id="520" idx="1"/>
          </p:cNvCxnSpPr>
          <p:nvPr/>
        </p:nvCxnSpPr>
        <p:spPr>
          <a:xfrm>
            <a:off x="1823795" y="2011313"/>
            <a:ext cx="1728900" cy="64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2" name="Google Shape;522;g2c832132dc9_0_104"/>
          <p:cNvCxnSpPr>
            <a:stCxn id="514" idx="2"/>
            <a:endCxn id="512" idx="0"/>
          </p:cNvCxnSpPr>
          <p:nvPr/>
        </p:nvCxnSpPr>
        <p:spPr>
          <a:xfrm flipH="1" rot="-5400000">
            <a:off x="1458208" y="2983075"/>
            <a:ext cx="434100" cy="697500"/>
          </a:xfrm>
          <a:prstGeom prst="curvedConnector3">
            <a:avLst>
              <a:gd fmla="val 4999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" name="Google Shape;523;g2c832132dc9_0_104"/>
          <p:cNvCxnSpPr>
            <a:stCxn id="517" idx="1"/>
            <a:endCxn id="512" idx="0"/>
          </p:cNvCxnSpPr>
          <p:nvPr/>
        </p:nvCxnSpPr>
        <p:spPr>
          <a:xfrm flipH="1">
            <a:off x="2024188" y="1512525"/>
            <a:ext cx="1528500" cy="20364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4" name="Google Shape;524;g2c832132dc9_0_104"/>
          <p:cNvSpPr/>
          <p:nvPr/>
        </p:nvSpPr>
        <p:spPr>
          <a:xfrm>
            <a:off x="3906925" y="3595450"/>
            <a:ext cx="392700" cy="33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h1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25" name="Google Shape;525;g2c832132dc9_0_104"/>
          <p:cNvSpPr/>
          <p:nvPr/>
        </p:nvSpPr>
        <p:spPr>
          <a:xfrm>
            <a:off x="3906925" y="3935050"/>
            <a:ext cx="392700" cy="33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…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26" name="Google Shape;526;g2c832132dc9_0_104"/>
          <p:cNvSpPr/>
          <p:nvPr/>
        </p:nvSpPr>
        <p:spPr>
          <a:xfrm>
            <a:off x="3906925" y="4274650"/>
            <a:ext cx="392700" cy="33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latin typeface="Golos Text"/>
                <a:ea typeface="Golos Text"/>
                <a:cs typeface="Golos Text"/>
                <a:sym typeface="Golos Text"/>
              </a:rPr>
              <a:t>hn</a:t>
            </a:r>
            <a:endParaRPr sz="1200"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527" name="Google Shape;527;g2c832132dc9_0_104"/>
          <p:cNvCxnSpPr>
            <a:stCxn id="512" idx="3"/>
            <a:endCxn id="525" idx="1"/>
          </p:cNvCxnSpPr>
          <p:nvPr/>
        </p:nvCxnSpPr>
        <p:spPr>
          <a:xfrm>
            <a:off x="3457225" y="4104850"/>
            <a:ext cx="44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8" name="Google Shape;528;g2c832132dc9_0_104"/>
          <p:cNvSpPr/>
          <p:nvPr/>
        </p:nvSpPr>
        <p:spPr>
          <a:xfrm>
            <a:off x="6445075" y="2387675"/>
            <a:ext cx="392700" cy="33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Golos Text"/>
                <a:ea typeface="Golos Text"/>
                <a:cs typeface="Golos Text"/>
                <a:sym typeface="Golos Text"/>
              </a:rPr>
              <a:t>H1</a:t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29" name="Google Shape;529;g2c832132dc9_0_104"/>
          <p:cNvSpPr/>
          <p:nvPr/>
        </p:nvSpPr>
        <p:spPr>
          <a:xfrm>
            <a:off x="6445075" y="2775175"/>
            <a:ext cx="392700" cy="33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Golos Text"/>
                <a:ea typeface="Golos Text"/>
                <a:cs typeface="Golos Text"/>
                <a:sym typeface="Golos Text"/>
              </a:rPr>
              <a:t>H2</a:t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30" name="Google Shape;530;g2c832132dc9_0_104"/>
          <p:cNvSpPr/>
          <p:nvPr/>
        </p:nvSpPr>
        <p:spPr>
          <a:xfrm>
            <a:off x="6445075" y="3162675"/>
            <a:ext cx="392700" cy="33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Golos Text"/>
                <a:ea typeface="Golos Text"/>
                <a:cs typeface="Golos Text"/>
                <a:sym typeface="Golos Text"/>
              </a:rPr>
              <a:t>H3</a:t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31" name="Google Shape;531;g2c832132dc9_0_104"/>
          <p:cNvSpPr/>
          <p:nvPr/>
        </p:nvSpPr>
        <p:spPr>
          <a:xfrm>
            <a:off x="6445075" y="3550175"/>
            <a:ext cx="392700" cy="33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latin typeface="Golos Text"/>
                <a:ea typeface="Golos Text"/>
                <a:cs typeface="Golos Text"/>
                <a:sym typeface="Golos Text"/>
              </a:rPr>
              <a:t>H4</a:t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532" name="Google Shape;532;g2c832132dc9_0_104"/>
          <p:cNvCxnSpPr>
            <a:stCxn id="524" idx="3"/>
            <a:endCxn id="528" idx="1"/>
          </p:cNvCxnSpPr>
          <p:nvPr/>
        </p:nvCxnSpPr>
        <p:spPr>
          <a:xfrm flipH="1" rot="10800000">
            <a:off x="4299625" y="2557450"/>
            <a:ext cx="2145600" cy="120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3" name="Google Shape;533;g2c832132dc9_0_104"/>
          <p:cNvCxnSpPr>
            <a:stCxn id="526" idx="3"/>
            <a:endCxn id="531" idx="1"/>
          </p:cNvCxnSpPr>
          <p:nvPr/>
        </p:nvCxnSpPr>
        <p:spPr>
          <a:xfrm flipH="1" rot="10800000">
            <a:off x="4299625" y="3719950"/>
            <a:ext cx="2145600" cy="72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4" name="Google Shape;534;g2c832132dc9_0_104"/>
          <p:cNvSpPr/>
          <p:nvPr/>
        </p:nvSpPr>
        <p:spPr>
          <a:xfrm>
            <a:off x="6894975" y="2781925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0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35" name="Google Shape;535;g2c832132dc9_0_104"/>
          <p:cNvSpPr/>
          <p:nvPr/>
        </p:nvSpPr>
        <p:spPr>
          <a:xfrm>
            <a:off x="6894975" y="3162675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0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36" name="Google Shape;536;g2c832132dc9_0_104"/>
          <p:cNvSpPr/>
          <p:nvPr/>
        </p:nvSpPr>
        <p:spPr>
          <a:xfrm>
            <a:off x="6895000" y="2406450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Golos Text"/>
                <a:ea typeface="Golos Text"/>
                <a:cs typeface="Golos Text"/>
                <a:sym typeface="Golos Text"/>
              </a:rPr>
              <a:t>label 1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37" name="Google Shape;537;g2c832132dc9_0_104"/>
          <p:cNvSpPr/>
          <p:nvPr/>
        </p:nvSpPr>
        <p:spPr>
          <a:xfrm>
            <a:off x="7946725" y="2406438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Golos Text"/>
                <a:ea typeface="Golos Text"/>
                <a:cs typeface="Golos Text"/>
                <a:sym typeface="Golos Text"/>
              </a:rPr>
              <a:t>label 2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38" name="Google Shape;538;g2c832132dc9_0_104"/>
          <p:cNvSpPr/>
          <p:nvPr/>
        </p:nvSpPr>
        <p:spPr>
          <a:xfrm>
            <a:off x="7946675" y="3162663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2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39" name="Google Shape;539;g2c832132dc9_0_104"/>
          <p:cNvSpPr/>
          <p:nvPr/>
        </p:nvSpPr>
        <p:spPr>
          <a:xfrm>
            <a:off x="6895000" y="3543413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Golos Text"/>
                <a:ea typeface="Golos Text"/>
                <a:cs typeface="Golos Text"/>
                <a:sym typeface="Golos Text"/>
              </a:rPr>
              <a:t>label 2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540" name="Google Shape;540;g2c832132dc9_0_104"/>
          <p:cNvCxnSpPr>
            <a:stCxn id="520" idx="1"/>
          </p:cNvCxnSpPr>
          <p:nvPr/>
        </p:nvCxnSpPr>
        <p:spPr>
          <a:xfrm rot="10800000">
            <a:off x="1909288" y="1125425"/>
            <a:ext cx="1643400" cy="153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1" name="Google Shape;541;g2c832132dc9_0_104"/>
          <p:cNvSpPr/>
          <p:nvPr/>
        </p:nvSpPr>
        <p:spPr>
          <a:xfrm>
            <a:off x="227125" y="887600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1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42" name="Google Shape;542;g2c832132dc9_0_104"/>
          <p:cNvSpPr/>
          <p:nvPr/>
        </p:nvSpPr>
        <p:spPr>
          <a:xfrm>
            <a:off x="1270125" y="893063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2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43" name="Google Shape;543;g2c832132dc9_0_104"/>
          <p:cNvSpPr/>
          <p:nvPr/>
        </p:nvSpPr>
        <p:spPr>
          <a:xfrm>
            <a:off x="768925" y="1144013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2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2c832132dc9_0_23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Музыкальный поиск</a:t>
            </a:r>
            <a:endParaRPr/>
          </a:p>
        </p:txBody>
      </p:sp>
      <p:sp>
        <p:nvSpPr>
          <p:cNvPr id="549" name="Google Shape;549;g2c832132dc9_0_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50" name="Google Shape;550;g2c832132dc9_0_23"/>
          <p:cNvSpPr/>
          <p:nvPr/>
        </p:nvSpPr>
        <p:spPr>
          <a:xfrm>
            <a:off x="5944800" y="4480350"/>
            <a:ext cx="2717100" cy="5661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ЛР7. Реализация простого муз.поиска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51" name="Google Shape;551;g2c832132dc9_0_23"/>
          <p:cNvSpPr/>
          <p:nvPr/>
        </p:nvSpPr>
        <p:spPr>
          <a:xfrm>
            <a:off x="2880425" y="1092625"/>
            <a:ext cx="2717100" cy="22002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Golos Text"/>
                <a:ea typeface="Golos Text"/>
                <a:cs typeface="Golos Text"/>
                <a:sym typeface="Golos Text"/>
              </a:rPr>
              <a:t>LSH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tables [K]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52" name="Google Shape;552;g2c832132dc9_0_23"/>
          <p:cNvSpPr txBox="1"/>
          <p:nvPr/>
        </p:nvSpPr>
        <p:spPr>
          <a:xfrm>
            <a:off x="6181072" y="1092625"/>
            <a:ext cx="1179000" cy="492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Table1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53" name="Google Shape;553;g2c832132dc9_0_23"/>
          <p:cNvSpPr txBox="1"/>
          <p:nvPr/>
        </p:nvSpPr>
        <p:spPr>
          <a:xfrm>
            <a:off x="6181072" y="1657475"/>
            <a:ext cx="1179000" cy="492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Table2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54" name="Google Shape;554;g2c832132dc9_0_23"/>
          <p:cNvSpPr txBox="1"/>
          <p:nvPr/>
        </p:nvSpPr>
        <p:spPr>
          <a:xfrm>
            <a:off x="6181072" y="2222325"/>
            <a:ext cx="1179000" cy="492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Table</a:t>
            </a:r>
            <a:r>
              <a:rPr b="1"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k</a:t>
            </a:r>
            <a:endParaRPr b="1"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55" name="Google Shape;555;g2c832132dc9_0_23"/>
          <p:cNvSpPr txBox="1"/>
          <p:nvPr/>
        </p:nvSpPr>
        <p:spPr>
          <a:xfrm>
            <a:off x="3472713" y="1847275"/>
            <a:ext cx="1613400" cy="4926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add</a:t>
            </a:r>
            <a:endParaRPr b="1"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56" name="Google Shape;556;g2c832132dc9_0_23"/>
          <p:cNvSpPr txBox="1"/>
          <p:nvPr/>
        </p:nvSpPr>
        <p:spPr>
          <a:xfrm>
            <a:off x="3472713" y="2420225"/>
            <a:ext cx="1613400" cy="4926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query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557" name="Google Shape;557;g2c832132dc9_0_23"/>
          <p:cNvPicPr preferRelativeResize="0"/>
          <p:nvPr/>
        </p:nvPicPr>
        <p:blipFill rotWithShape="1">
          <a:blip r:embed="rId3">
            <a:alphaModFix/>
          </a:blip>
          <a:srcRect b="11811" l="9247" r="62602" t="4303"/>
          <a:stretch/>
        </p:blipFill>
        <p:spPr>
          <a:xfrm>
            <a:off x="829225" y="1400450"/>
            <a:ext cx="994570" cy="1221725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g2c832132dc9_0_23"/>
          <p:cNvSpPr txBox="1"/>
          <p:nvPr/>
        </p:nvSpPr>
        <p:spPr>
          <a:xfrm>
            <a:off x="348425" y="1723925"/>
            <a:ext cx="60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12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59" name="Google Shape;559;g2c832132dc9_0_23"/>
          <p:cNvSpPr txBox="1"/>
          <p:nvPr/>
        </p:nvSpPr>
        <p:spPr>
          <a:xfrm>
            <a:off x="1130158" y="2622175"/>
            <a:ext cx="39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n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60" name="Google Shape;560;g2c832132dc9_0_23"/>
          <p:cNvSpPr/>
          <p:nvPr/>
        </p:nvSpPr>
        <p:spPr>
          <a:xfrm>
            <a:off x="825575" y="1093125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0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561" name="Google Shape;561;g2c832132dc9_0_23"/>
          <p:cNvCxnSpPr>
            <a:stCxn id="560" idx="3"/>
            <a:endCxn id="555" idx="1"/>
          </p:cNvCxnSpPr>
          <p:nvPr/>
        </p:nvCxnSpPr>
        <p:spPr>
          <a:xfrm>
            <a:off x="1820075" y="1179675"/>
            <a:ext cx="1652700" cy="91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2" name="Google Shape;562;g2c832132dc9_0_23"/>
          <p:cNvCxnSpPr>
            <a:stCxn id="557" idx="3"/>
            <a:endCxn id="555" idx="1"/>
          </p:cNvCxnSpPr>
          <p:nvPr/>
        </p:nvCxnSpPr>
        <p:spPr>
          <a:xfrm>
            <a:off x="1823795" y="2011313"/>
            <a:ext cx="1648800" cy="8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3" name="Google Shape;563;g2c832132dc9_0_23"/>
          <p:cNvCxnSpPr>
            <a:stCxn id="555" idx="3"/>
            <a:endCxn id="552" idx="1"/>
          </p:cNvCxnSpPr>
          <p:nvPr/>
        </p:nvCxnSpPr>
        <p:spPr>
          <a:xfrm flipH="1" rot="10800000">
            <a:off x="5086113" y="1339075"/>
            <a:ext cx="1095000" cy="75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4" name="Google Shape;564;g2c832132dc9_0_23"/>
          <p:cNvCxnSpPr>
            <a:stCxn id="555" idx="3"/>
            <a:endCxn id="553" idx="1"/>
          </p:cNvCxnSpPr>
          <p:nvPr/>
        </p:nvCxnSpPr>
        <p:spPr>
          <a:xfrm flipH="1" rot="10800000">
            <a:off x="5086113" y="1903675"/>
            <a:ext cx="1095000" cy="18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5" name="Google Shape;565;g2c832132dc9_0_23"/>
          <p:cNvCxnSpPr>
            <a:stCxn id="555" idx="3"/>
            <a:endCxn id="554" idx="1"/>
          </p:cNvCxnSpPr>
          <p:nvPr/>
        </p:nvCxnSpPr>
        <p:spPr>
          <a:xfrm>
            <a:off x="5086113" y="2093575"/>
            <a:ext cx="1095000" cy="37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2c832132dc9_0_165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Музыкальный поиск</a:t>
            </a:r>
            <a:endParaRPr/>
          </a:p>
        </p:txBody>
      </p:sp>
      <p:sp>
        <p:nvSpPr>
          <p:cNvPr id="571" name="Google Shape;571;g2c832132dc9_0_1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72" name="Google Shape;572;g2c832132dc9_0_165"/>
          <p:cNvSpPr/>
          <p:nvPr/>
        </p:nvSpPr>
        <p:spPr>
          <a:xfrm>
            <a:off x="5944800" y="4480350"/>
            <a:ext cx="2717100" cy="5661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ЛР7. Реализация простого муз.поиска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73" name="Google Shape;573;g2c832132dc9_0_165"/>
          <p:cNvSpPr/>
          <p:nvPr/>
        </p:nvSpPr>
        <p:spPr>
          <a:xfrm>
            <a:off x="2880425" y="1092625"/>
            <a:ext cx="2717100" cy="22002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Golos Text"/>
                <a:ea typeface="Golos Text"/>
                <a:cs typeface="Golos Text"/>
                <a:sym typeface="Golos Text"/>
              </a:rPr>
              <a:t>LSH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tables [K]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74" name="Google Shape;574;g2c832132dc9_0_165"/>
          <p:cNvSpPr txBox="1"/>
          <p:nvPr/>
        </p:nvSpPr>
        <p:spPr>
          <a:xfrm>
            <a:off x="6181072" y="1092625"/>
            <a:ext cx="1179000" cy="492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Table1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75" name="Google Shape;575;g2c832132dc9_0_165"/>
          <p:cNvSpPr txBox="1"/>
          <p:nvPr/>
        </p:nvSpPr>
        <p:spPr>
          <a:xfrm>
            <a:off x="6181072" y="1657475"/>
            <a:ext cx="1179000" cy="492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Table2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76" name="Google Shape;576;g2c832132dc9_0_165"/>
          <p:cNvSpPr txBox="1"/>
          <p:nvPr/>
        </p:nvSpPr>
        <p:spPr>
          <a:xfrm>
            <a:off x="6181072" y="2222325"/>
            <a:ext cx="1179000" cy="492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Table</a:t>
            </a:r>
            <a:r>
              <a:rPr b="1"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k</a:t>
            </a:r>
            <a:endParaRPr b="1"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77" name="Google Shape;577;g2c832132dc9_0_165"/>
          <p:cNvSpPr txBox="1"/>
          <p:nvPr/>
        </p:nvSpPr>
        <p:spPr>
          <a:xfrm>
            <a:off x="3472713" y="1847275"/>
            <a:ext cx="1613400" cy="4926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add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78" name="Google Shape;578;g2c832132dc9_0_165"/>
          <p:cNvSpPr txBox="1"/>
          <p:nvPr/>
        </p:nvSpPr>
        <p:spPr>
          <a:xfrm>
            <a:off x="3472713" y="2420225"/>
            <a:ext cx="1613400" cy="4926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query</a:t>
            </a:r>
            <a:endParaRPr b="1"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579" name="Google Shape;579;g2c832132dc9_0_165"/>
          <p:cNvPicPr preferRelativeResize="0"/>
          <p:nvPr/>
        </p:nvPicPr>
        <p:blipFill rotWithShape="1">
          <a:blip r:embed="rId3">
            <a:alphaModFix/>
          </a:blip>
          <a:srcRect b="11811" l="9247" r="62602" t="4303"/>
          <a:stretch/>
        </p:blipFill>
        <p:spPr>
          <a:xfrm>
            <a:off x="829225" y="1400450"/>
            <a:ext cx="994570" cy="1221725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g2c832132dc9_0_165"/>
          <p:cNvSpPr txBox="1"/>
          <p:nvPr/>
        </p:nvSpPr>
        <p:spPr>
          <a:xfrm>
            <a:off x="348425" y="1723925"/>
            <a:ext cx="60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12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81" name="Google Shape;581;g2c832132dc9_0_165"/>
          <p:cNvSpPr txBox="1"/>
          <p:nvPr/>
        </p:nvSpPr>
        <p:spPr>
          <a:xfrm>
            <a:off x="1130158" y="2622175"/>
            <a:ext cx="39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n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582" name="Google Shape;582;g2c832132dc9_0_165"/>
          <p:cNvCxnSpPr>
            <a:stCxn id="579" idx="3"/>
            <a:endCxn id="578" idx="1"/>
          </p:cNvCxnSpPr>
          <p:nvPr/>
        </p:nvCxnSpPr>
        <p:spPr>
          <a:xfrm>
            <a:off x="1823795" y="2011313"/>
            <a:ext cx="1648800" cy="65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3" name="Google Shape;583;g2c832132dc9_0_165"/>
          <p:cNvCxnSpPr>
            <a:stCxn id="578" idx="3"/>
            <a:endCxn id="574" idx="1"/>
          </p:cNvCxnSpPr>
          <p:nvPr/>
        </p:nvCxnSpPr>
        <p:spPr>
          <a:xfrm flipH="1" rot="10800000">
            <a:off x="5086113" y="1339025"/>
            <a:ext cx="1095000" cy="132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4" name="Google Shape;584;g2c832132dc9_0_165"/>
          <p:cNvCxnSpPr>
            <a:stCxn id="578" idx="3"/>
            <a:endCxn id="575" idx="1"/>
          </p:cNvCxnSpPr>
          <p:nvPr/>
        </p:nvCxnSpPr>
        <p:spPr>
          <a:xfrm flipH="1" rot="10800000">
            <a:off x="5086113" y="1903625"/>
            <a:ext cx="1095000" cy="7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5" name="Google Shape;585;g2c832132dc9_0_165"/>
          <p:cNvCxnSpPr>
            <a:endCxn id="576" idx="1"/>
          </p:cNvCxnSpPr>
          <p:nvPr/>
        </p:nvCxnSpPr>
        <p:spPr>
          <a:xfrm flipH="1" rot="10800000">
            <a:off x="5086072" y="2468625"/>
            <a:ext cx="1095000" cy="19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6" name="Google Shape;586;g2c832132dc9_0_165"/>
          <p:cNvCxnSpPr>
            <a:stCxn id="574" idx="1"/>
            <a:endCxn id="578" idx="2"/>
          </p:cNvCxnSpPr>
          <p:nvPr/>
        </p:nvCxnSpPr>
        <p:spPr>
          <a:xfrm flipH="1">
            <a:off x="4279372" y="1338925"/>
            <a:ext cx="1901700" cy="1573800"/>
          </a:xfrm>
          <a:prstGeom prst="curvedConnector4">
            <a:avLst>
              <a:gd fmla="val 28789" name="adj1"/>
              <a:gd fmla="val 115137" name="adj2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7" name="Google Shape;587;g2c832132dc9_0_165"/>
          <p:cNvCxnSpPr>
            <a:stCxn id="575" idx="1"/>
            <a:endCxn id="578" idx="2"/>
          </p:cNvCxnSpPr>
          <p:nvPr/>
        </p:nvCxnSpPr>
        <p:spPr>
          <a:xfrm flipH="1">
            <a:off x="4279372" y="1903775"/>
            <a:ext cx="1901700" cy="1009200"/>
          </a:xfrm>
          <a:prstGeom prst="curvedConnector4">
            <a:avLst>
              <a:gd fmla="val 28789" name="adj1"/>
              <a:gd fmla="val 123581" name="adj2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8" name="Google Shape;588;g2c832132dc9_0_165"/>
          <p:cNvCxnSpPr>
            <a:stCxn id="576" idx="1"/>
            <a:endCxn id="578" idx="2"/>
          </p:cNvCxnSpPr>
          <p:nvPr/>
        </p:nvCxnSpPr>
        <p:spPr>
          <a:xfrm flipH="1">
            <a:off x="4279372" y="2468625"/>
            <a:ext cx="1901700" cy="444300"/>
          </a:xfrm>
          <a:prstGeom prst="curvedConnector4">
            <a:avLst>
              <a:gd fmla="val 28789" name="adj1"/>
              <a:gd fmla="val 153573" name="adj2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89" name="Google Shape;589;g2c832132dc9_0_165"/>
          <p:cNvSpPr/>
          <p:nvPr/>
        </p:nvSpPr>
        <p:spPr>
          <a:xfrm>
            <a:off x="7667400" y="919525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1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90" name="Google Shape;590;g2c832132dc9_0_165"/>
          <p:cNvSpPr/>
          <p:nvPr/>
        </p:nvSpPr>
        <p:spPr>
          <a:xfrm>
            <a:off x="7667400" y="1129413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2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91" name="Google Shape;591;g2c832132dc9_0_165"/>
          <p:cNvSpPr/>
          <p:nvPr/>
        </p:nvSpPr>
        <p:spPr>
          <a:xfrm>
            <a:off x="7667400" y="1339313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2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92" name="Google Shape;592;g2c832132dc9_0_165"/>
          <p:cNvSpPr/>
          <p:nvPr/>
        </p:nvSpPr>
        <p:spPr>
          <a:xfrm>
            <a:off x="7667400" y="1629700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1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93" name="Google Shape;593;g2c832132dc9_0_165"/>
          <p:cNvSpPr/>
          <p:nvPr/>
        </p:nvSpPr>
        <p:spPr>
          <a:xfrm>
            <a:off x="7667400" y="1855763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1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94" name="Google Shape;594;g2c832132dc9_0_165"/>
          <p:cNvSpPr/>
          <p:nvPr/>
        </p:nvSpPr>
        <p:spPr>
          <a:xfrm>
            <a:off x="7667400" y="2097813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2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95" name="Google Shape;595;g2c832132dc9_0_165"/>
          <p:cNvSpPr/>
          <p:nvPr/>
        </p:nvSpPr>
        <p:spPr>
          <a:xfrm>
            <a:off x="7667400" y="2339875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0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96" name="Google Shape;596;g2c832132dc9_0_165"/>
          <p:cNvSpPr/>
          <p:nvPr/>
        </p:nvSpPr>
        <p:spPr>
          <a:xfrm>
            <a:off x="7667400" y="2557475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1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97" name="Google Shape;597;g2c832132dc9_0_165"/>
          <p:cNvSpPr/>
          <p:nvPr/>
        </p:nvSpPr>
        <p:spPr>
          <a:xfrm>
            <a:off x="7667400" y="2755613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2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98" name="Google Shape;598;g2c832132dc9_0_165"/>
          <p:cNvSpPr/>
          <p:nvPr/>
        </p:nvSpPr>
        <p:spPr>
          <a:xfrm>
            <a:off x="767700" y="3106625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1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99" name="Google Shape;599;g2c832132dc9_0_165"/>
          <p:cNvSpPr/>
          <p:nvPr/>
        </p:nvSpPr>
        <p:spPr>
          <a:xfrm>
            <a:off x="767700" y="3316513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2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00" name="Google Shape;600;g2c832132dc9_0_165"/>
          <p:cNvSpPr/>
          <p:nvPr/>
        </p:nvSpPr>
        <p:spPr>
          <a:xfrm>
            <a:off x="767700" y="3526413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2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01" name="Google Shape;601;g2c832132dc9_0_165"/>
          <p:cNvSpPr/>
          <p:nvPr/>
        </p:nvSpPr>
        <p:spPr>
          <a:xfrm>
            <a:off x="767700" y="3816800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1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02" name="Google Shape;602;g2c832132dc9_0_165"/>
          <p:cNvSpPr/>
          <p:nvPr/>
        </p:nvSpPr>
        <p:spPr>
          <a:xfrm>
            <a:off x="767700" y="4042863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1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03" name="Google Shape;603;g2c832132dc9_0_165"/>
          <p:cNvSpPr/>
          <p:nvPr/>
        </p:nvSpPr>
        <p:spPr>
          <a:xfrm>
            <a:off x="767700" y="4284913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2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04" name="Google Shape;604;g2c832132dc9_0_165"/>
          <p:cNvSpPr/>
          <p:nvPr/>
        </p:nvSpPr>
        <p:spPr>
          <a:xfrm>
            <a:off x="767700" y="4526975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0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05" name="Google Shape;605;g2c832132dc9_0_165"/>
          <p:cNvSpPr/>
          <p:nvPr/>
        </p:nvSpPr>
        <p:spPr>
          <a:xfrm>
            <a:off x="767700" y="4744575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1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06" name="Google Shape;606;g2c832132dc9_0_165"/>
          <p:cNvSpPr/>
          <p:nvPr/>
        </p:nvSpPr>
        <p:spPr>
          <a:xfrm>
            <a:off x="767700" y="4942713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2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07" name="Google Shape;607;g2c832132dc9_0_165"/>
          <p:cNvSpPr/>
          <p:nvPr/>
        </p:nvSpPr>
        <p:spPr>
          <a:xfrm>
            <a:off x="638250" y="3052125"/>
            <a:ext cx="1253400" cy="2154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608" name="Google Shape;608;g2c832132dc9_0_165"/>
          <p:cNvCxnSpPr>
            <a:stCxn id="578" idx="2"/>
            <a:endCxn id="607" idx="3"/>
          </p:cNvCxnSpPr>
          <p:nvPr/>
        </p:nvCxnSpPr>
        <p:spPr>
          <a:xfrm flipH="1">
            <a:off x="1891713" y="2912825"/>
            <a:ext cx="2387700" cy="121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2c832132dc9_0_11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Музыкальный поиск</a:t>
            </a:r>
            <a:endParaRPr/>
          </a:p>
        </p:txBody>
      </p:sp>
      <p:sp>
        <p:nvSpPr>
          <p:cNvPr id="614" name="Google Shape;614;g2c832132dc9_0_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15" name="Google Shape;615;g2c832132dc9_0_11"/>
          <p:cNvSpPr/>
          <p:nvPr/>
        </p:nvSpPr>
        <p:spPr>
          <a:xfrm>
            <a:off x="5944800" y="4480350"/>
            <a:ext cx="2717100" cy="5661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ЛР7. Реализация простого муз.поиска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16" name="Google Shape;616;g2c832132dc9_0_11"/>
          <p:cNvSpPr/>
          <p:nvPr/>
        </p:nvSpPr>
        <p:spPr>
          <a:xfrm>
            <a:off x="2880425" y="1092625"/>
            <a:ext cx="2717100" cy="22002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Golos Text"/>
                <a:ea typeface="Golos Text"/>
                <a:cs typeface="Golos Text"/>
                <a:sym typeface="Golos Text"/>
              </a:rPr>
              <a:t>MusicSearch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17" name="Google Shape;617;g2c832132dc9_0_11"/>
          <p:cNvSpPr txBox="1"/>
          <p:nvPr/>
        </p:nvSpPr>
        <p:spPr>
          <a:xfrm>
            <a:off x="3432263" y="2638575"/>
            <a:ext cx="1613400" cy="4926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query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18" name="Google Shape;618;g2c832132dc9_0_11"/>
          <p:cNvSpPr txBox="1"/>
          <p:nvPr/>
        </p:nvSpPr>
        <p:spPr>
          <a:xfrm>
            <a:off x="3432263" y="2064875"/>
            <a:ext cx="1613400" cy="4926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train</a:t>
            </a:r>
            <a:endParaRPr b="1"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19" name="Google Shape;619;g2c832132dc9_0_11"/>
          <p:cNvSpPr/>
          <p:nvPr/>
        </p:nvSpPr>
        <p:spPr>
          <a:xfrm>
            <a:off x="922650" y="1280425"/>
            <a:ext cx="1334400" cy="10028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БД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620" name="Google Shape;620;g2c832132dc9_0_11"/>
          <p:cNvCxnSpPr>
            <a:endCxn id="618" idx="1"/>
          </p:cNvCxnSpPr>
          <p:nvPr/>
        </p:nvCxnSpPr>
        <p:spPr>
          <a:xfrm>
            <a:off x="2257163" y="1781675"/>
            <a:ext cx="1175100" cy="52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1" name="Google Shape;621;g2c832132dc9_0_11"/>
          <p:cNvSpPr txBox="1"/>
          <p:nvPr/>
        </p:nvSpPr>
        <p:spPr>
          <a:xfrm>
            <a:off x="5858088" y="2218538"/>
            <a:ext cx="1613400" cy="4926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chroma</a:t>
            </a:r>
            <a:endParaRPr b="1"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622" name="Google Shape;622;g2c832132dc9_0_11"/>
          <p:cNvPicPr preferRelativeResize="0"/>
          <p:nvPr/>
        </p:nvPicPr>
        <p:blipFill rotWithShape="1">
          <a:blip r:embed="rId3">
            <a:alphaModFix/>
          </a:blip>
          <a:srcRect b="11811" l="9247" r="62602" t="4303"/>
          <a:stretch/>
        </p:blipFill>
        <p:spPr>
          <a:xfrm>
            <a:off x="7732063" y="1853975"/>
            <a:ext cx="994570" cy="1221725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g2c832132dc9_0_11"/>
          <p:cNvSpPr/>
          <p:nvPr/>
        </p:nvSpPr>
        <p:spPr>
          <a:xfrm>
            <a:off x="7728413" y="1546650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0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24" name="Google Shape;624;g2c832132dc9_0_11"/>
          <p:cNvSpPr txBox="1"/>
          <p:nvPr/>
        </p:nvSpPr>
        <p:spPr>
          <a:xfrm>
            <a:off x="6042951" y="3615850"/>
            <a:ext cx="1503300" cy="492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LSH.add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625" name="Google Shape;625;g2c832132dc9_0_11"/>
          <p:cNvCxnSpPr>
            <a:endCxn id="621" idx="1"/>
          </p:cNvCxnSpPr>
          <p:nvPr/>
        </p:nvCxnSpPr>
        <p:spPr>
          <a:xfrm>
            <a:off x="5045688" y="2311238"/>
            <a:ext cx="812400" cy="15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6" name="Google Shape;626;g2c832132dc9_0_11"/>
          <p:cNvCxnSpPr>
            <a:stCxn id="621" idx="3"/>
            <a:endCxn id="622" idx="1"/>
          </p:cNvCxnSpPr>
          <p:nvPr/>
        </p:nvCxnSpPr>
        <p:spPr>
          <a:xfrm>
            <a:off x="7471488" y="2464838"/>
            <a:ext cx="26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7" name="Google Shape;627;g2c832132dc9_0_11"/>
          <p:cNvCxnSpPr>
            <a:stCxn id="622" idx="2"/>
            <a:endCxn id="624" idx="0"/>
          </p:cNvCxnSpPr>
          <p:nvPr/>
        </p:nvCxnSpPr>
        <p:spPr>
          <a:xfrm flipH="1">
            <a:off x="6794748" y="3075700"/>
            <a:ext cx="1434600" cy="54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8" name="Google Shape;628;g2c832132dc9_0_11"/>
          <p:cNvSpPr txBox="1"/>
          <p:nvPr/>
        </p:nvSpPr>
        <p:spPr>
          <a:xfrm>
            <a:off x="8726625" y="2311175"/>
            <a:ext cx="60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12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29" name="Google Shape;629;g2c832132dc9_0_11"/>
          <p:cNvSpPr txBox="1"/>
          <p:nvPr/>
        </p:nvSpPr>
        <p:spPr>
          <a:xfrm>
            <a:off x="8116133" y="3131175"/>
            <a:ext cx="39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n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2c832132dc9_0_226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Музыкальный поиск</a:t>
            </a:r>
            <a:endParaRPr/>
          </a:p>
        </p:txBody>
      </p:sp>
      <p:sp>
        <p:nvSpPr>
          <p:cNvPr id="635" name="Google Shape;635;g2c832132dc9_0_2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36" name="Google Shape;636;g2c832132dc9_0_226"/>
          <p:cNvSpPr/>
          <p:nvPr/>
        </p:nvSpPr>
        <p:spPr>
          <a:xfrm>
            <a:off x="5944800" y="4480350"/>
            <a:ext cx="2717100" cy="5661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ЛР7. Реализация простого муз.поиска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37" name="Google Shape;637;g2c832132dc9_0_226"/>
          <p:cNvSpPr/>
          <p:nvPr/>
        </p:nvSpPr>
        <p:spPr>
          <a:xfrm>
            <a:off x="2880425" y="1092625"/>
            <a:ext cx="2717100" cy="22002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Golos Text"/>
                <a:ea typeface="Golos Text"/>
                <a:cs typeface="Golos Text"/>
                <a:sym typeface="Golos Text"/>
              </a:rPr>
              <a:t>MusicSearch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38" name="Google Shape;638;g2c832132dc9_0_226"/>
          <p:cNvSpPr txBox="1"/>
          <p:nvPr/>
        </p:nvSpPr>
        <p:spPr>
          <a:xfrm>
            <a:off x="3432263" y="2638575"/>
            <a:ext cx="1613400" cy="4926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query</a:t>
            </a:r>
            <a:endParaRPr b="1"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39" name="Google Shape;639;g2c832132dc9_0_226"/>
          <p:cNvSpPr txBox="1"/>
          <p:nvPr/>
        </p:nvSpPr>
        <p:spPr>
          <a:xfrm>
            <a:off x="3432263" y="2064875"/>
            <a:ext cx="1613400" cy="4926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train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40" name="Google Shape;640;g2c832132dc9_0_226"/>
          <p:cNvSpPr/>
          <p:nvPr/>
        </p:nvSpPr>
        <p:spPr>
          <a:xfrm>
            <a:off x="922650" y="1280425"/>
            <a:ext cx="1334400" cy="10028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БД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41" name="Google Shape;641;g2c832132dc9_0_226"/>
          <p:cNvSpPr txBox="1"/>
          <p:nvPr/>
        </p:nvSpPr>
        <p:spPr>
          <a:xfrm>
            <a:off x="5858088" y="2218538"/>
            <a:ext cx="1613400" cy="4926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chroma</a:t>
            </a:r>
            <a:endParaRPr b="1"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642" name="Google Shape;642;g2c832132dc9_0_226"/>
          <p:cNvPicPr preferRelativeResize="0"/>
          <p:nvPr/>
        </p:nvPicPr>
        <p:blipFill rotWithShape="1">
          <a:blip r:embed="rId3">
            <a:alphaModFix/>
          </a:blip>
          <a:srcRect b="11811" l="9247" r="62602" t="4303"/>
          <a:stretch/>
        </p:blipFill>
        <p:spPr>
          <a:xfrm>
            <a:off x="7732063" y="1853975"/>
            <a:ext cx="994570" cy="1221725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g2c832132dc9_0_226"/>
          <p:cNvSpPr txBox="1"/>
          <p:nvPr/>
        </p:nvSpPr>
        <p:spPr>
          <a:xfrm>
            <a:off x="6042951" y="3615850"/>
            <a:ext cx="1503300" cy="492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LSH.query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644" name="Google Shape;644;g2c832132dc9_0_226"/>
          <p:cNvCxnSpPr>
            <a:stCxn id="638" idx="3"/>
            <a:endCxn id="641" idx="1"/>
          </p:cNvCxnSpPr>
          <p:nvPr/>
        </p:nvCxnSpPr>
        <p:spPr>
          <a:xfrm flipH="1" rot="10800000">
            <a:off x="5045663" y="2464875"/>
            <a:ext cx="812400" cy="42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5" name="Google Shape;645;g2c832132dc9_0_226"/>
          <p:cNvCxnSpPr>
            <a:stCxn id="641" idx="3"/>
            <a:endCxn id="642" idx="1"/>
          </p:cNvCxnSpPr>
          <p:nvPr/>
        </p:nvCxnSpPr>
        <p:spPr>
          <a:xfrm>
            <a:off x="7471488" y="2464838"/>
            <a:ext cx="26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6" name="Google Shape;646;g2c832132dc9_0_226"/>
          <p:cNvCxnSpPr>
            <a:stCxn id="642" idx="2"/>
            <a:endCxn id="643" idx="0"/>
          </p:cNvCxnSpPr>
          <p:nvPr/>
        </p:nvCxnSpPr>
        <p:spPr>
          <a:xfrm flipH="1">
            <a:off x="6794748" y="3075700"/>
            <a:ext cx="1434600" cy="54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47" name="Google Shape;647;g2c832132dc9_0_226"/>
          <p:cNvPicPr preferRelativeResize="0"/>
          <p:nvPr/>
        </p:nvPicPr>
        <p:blipFill rotWithShape="1">
          <a:blip r:embed="rId4">
            <a:alphaModFix/>
          </a:blip>
          <a:srcRect b="17524" l="0" r="34912" t="22827"/>
          <a:stretch/>
        </p:blipFill>
        <p:spPr>
          <a:xfrm>
            <a:off x="783150" y="2557475"/>
            <a:ext cx="1613399" cy="832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8" name="Google Shape;648;g2c832132dc9_0_226"/>
          <p:cNvCxnSpPr>
            <a:stCxn id="647" idx="3"/>
            <a:endCxn id="638" idx="1"/>
          </p:cNvCxnSpPr>
          <p:nvPr/>
        </p:nvCxnSpPr>
        <p:spPr>
          <a:xfrm flipH="1" rot="10800000">
            <a:off x="2396549" y="2884838"/>
            <a:ext cx="1035600" cy="8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9" name="Google Shape;649;g2c832132dc9_0_226"/>
          <p:cNvSpPr/>
          <p:nvPr/>
        </p:nvSpPr>
        <p:spPr>
          <a:xfrm>
            <a:off x="4562475" y="3628600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1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50" name="Google Shape;650;g2c832132dc9_0_226"/>
          <p:cNvSpPr/>
          <p:nvPr/>
        </p:nvSpPr>
        <p:spPr>
          <a:xfrm>
            <a:off x="4562475" y="3803213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2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51" name="Google Shape;651;g2c832132dc9_0_226"/>
          <p:cNvSpPr/>
          <p:nvPr/>
        </p:nvSpPr>
        <p:spPr>
          <a:xfrm>
            <a:off x="4562475" y="4001088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2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52" name="Google Shape;652;g2c832132dc9_0_226"/>
          <p:cNvSpPr/>
          <p:nvPr/>
        </p:nvSpPr>
        <p:spPr>
          <a:xfrm>
            <a:off x="4562475" y="4176600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1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53" name="Google Shape;653;g2c832132dc9_0_226"/>
          <p:cNvSpPr/>
          <p:nvPr/>
        </p:nvSpPr>
        <p:spPr>
          <a:xfrm>
            <a:off x="4562475" y="4352088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1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54" name="Google Shape;654;g2c832132dc9_0_226"/>
          <p:cNvSpPr/>
          <p:nvPr/>
        </p:nvSpPr>
        <p:spPr>
          <a:xfrm>
            <a:off x="4562475" y="4525838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2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55" name="Google Shape;655;g2c832132dc9_0_226"/>
          <p:cNvSpPr/>
          <p:nvPr/>
        </p:nvSpPr>
        <p:spPr>
          <a:xfrm>
            <a:off x="4562475" y="4699600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0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56" name="Google Shape;656;g2c832132dc9_0_226"/>
          <p:cNvSpPr/>
          <p:nvPr/>
        </p:nvSpPr>
        <p:spPr>
          <a:xfrm>
            <a:off x="4562475" y="3441913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1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57" name="Google Shape;657;g2c832132dc9_0_226"/>
          <p:cNvSpPr/>
          <p:nvPr/>
        </p:nvSpPr>
        <p:spPr>
          <a:xfrm>
            <a:off x="4562475" y="4873338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2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58" name="Google Shape;658;g2c832132dc9_0_226"/>
          <p:cNvSpPr txBox="1"/>
          <p:nvPr/>
        </p:nvSpPr>
        <p:spPr>
          <a:xfrm>
            <a:off x="8726625" y="2311175"/>
            <a:ext cx="60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12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59" name="Google Shape;659;g2c832132dc9_0_226"/>
          <p:cNvSpPr txBox="1"/>
          <p:nvPr/>
        </p:nvSpPr>
        <p:spPr>
          <a:xfrm>
            <a:off x="8116133" y="3131175"/>
            <a:ext cx="39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n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660" name="Google Shape;660;g2c832132dc9_0_226"/>
          <p:cNvCxnSpPr>
            <a:stCxn id="643" idx="1"/>
            <a:endCxn id="651" idx="3"/>
          </p:cNvCxnSpPr>
          <p:nvPr/>
        </p:nvCxnSpPr>
        <p:spPr>
          <a:xfrm flipH="1">
            <a:off x="5556951" y="3862150"/>
            <a:ext cx="486000" cy="22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1" name="Google Shape;661;g2c832132dc9_0_226"/>
          <p:cNvSpPr/>
          <p:nvPr/>
        </p:nvSpPr>
        <p:spPr>
          <a:xfrm>
            <a:off x="2644550" y="3731788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1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62" name="Google Shape;662;g2c832132dc9_0_226"/>
          <p:cNvSpPr/>
          <p:nvPr/>
        </p:nvSpPr>
        <p:spPr>
          <a:xfrm>
            <a:off x="2644550" y="4176588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2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63" name="Google Shape;663;g2c832132dc9_0_226"/>
          <p:cNvSpPr/>
          <p:nvPr/>
        </p:nvSpPr>
        <p:spPr>
          <a:xfrm>
            <a:off x="2644550" y="4621400"/>
            <a:ext cx="994500" cy="173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label 0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64" name="Google Shape;664;g2c832132dc9_0_226"/>
          <p:cNvSpPr txBox="1"/>
          <p:nvPr/>
        </p:nvSpPr>
        <p:spPr>
          <a:xfrm>
            <a:off x="2004950" y="3572050"/>
            <a:ext cx="639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4/n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65" name="Google Shape;665;g2c832132dc9_0_226"/>
          <p:cNvSpPr txBox="1"/>
          <p:nvPr/>
        </p:nvSpPr>
        <p:spPr>
          <a:xfrm>
            <a:off x="2004950" y="4016850"/>
            <a:ext cx="639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4/n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66" name="Google Shape;666;g2c832132dc9_0_226"/>
          <p:cNvSpPr txBox="1"/>
          <p:nvPr/>
        </p:nvSpPr>
        <p:spPr>
          <a:xfrm>
            <a:off x="2004950" y="4461650"/>
            <a:ext cx="639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/n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67" name="Google Shape;667;g2c832132dc9_0_226"/>
          <p:cNvSpPr/>
          <p:nvPr/>
        </p:nvSpPr>
        <p:spPr>
          <a:xfrm>
            <a:off x="3931075" y="3446525"/>
            <a:ext cx="339600" cy="159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агрегир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668" name="Google Shape;668;g2c832132dc9_0_226"/>
          <p:cNvCxnSpPr>
            <a:stCxn id="652" idx="1"/>
            <a:endCxn id="667" idx="3"/>
          </p:cNvCxnSpPr>
          <p:nvPr/>
        </p:nvCxnSpPr>
        <p:spPr>
          <a:xfrm rot="10800000">
            <a:off x="4270575" y="4246350"/>
            <a:ext cx="291900" cy="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9" name="Google Shape;669;g2c832132dc9_0_226"/>
          <p:cNvCxnSpPr>
            <a:stCxn id="667" idx="1"/>
            <a:endCxn id="661" idx="3"/>
          </p:cNvCxnSpPr>
          <p:nvPr/>
        </p:nvCxnSpPr>
        <p:spPr>
          <a:xfrm rot="10800000">
            <a:off x="3639175" y="3818375"/>
            <a:ext cx="291900" cy="42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0" name="Google Shape;670;g2c832132dc9_0_226"/>
          <p:cNvCxnSpPr>
            <a:stCxn id="667" idx="1"/>
            <a:endCxn id="662" idx="3"/>
          </p:cNvCxnSpPr>
          <p:nvPr/>
        </p:nvCxnSpPr>
        <p:spPr>
          <a:xfrm flipH="1">
            <a:off x="3639175" y="4246475"/>
            <a:ext cx="291900" cy="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1" name="Google Shape;671;g2c832132dc9_0_226"/>
          <p:cNvCxnSpPr>
            <a:stCxn id="667" idx="1"/>
            <a:endCxn id="663" idx="3"/>
          </p:cNvCxnSpPr>
          <p:nvPr/>
        </p:nvCxnSpPr>
        <p:spPr>
          <a:xfrm flipH="1">
            <a:off x="3639175" y="4246475"/>
            <a:ext cx="291900" cy="4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2ba3d66f664_0_40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 sz="2380"/>
              <a:t>ЛР7. Визуализация и музыкальный поиск</a:t>
            </a:r>
            <a:endParaRPr sz="2380"/>
          </a:p>
        </p:txBody>
      </p:sp>
      <p:sp>
        <p:nvSpPr>
          <p:cNvPr id="678" name="Google Shape;678;g2ba3d66f664_0_40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79" name="Google Shape;679;g2ba3d66f664_0_408"/>
          <p:cNvSpPr txBox="1"/>
          <p:nvPr/>
        </p:nvSpPr>
        <p:spPr>
          <a:xfrm>
            <a:off x="296850" y="1160288"/>
            <a:ext cx="84231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Старт: 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02 апреля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2024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Дедлайн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 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23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апреля 2024 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[до зачета]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Ссылка на ЛР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u="sng">
                <a:solidFill>
                  <a:schemeClr val="hlink"/>
                </a:solidFill>
                <a:latin typeface="Golos Text"/>
                <a:ea typeface="Golos Text"/>
                <a:cs typeface="Golos Text"/>
                <a:sym typeface="Golos Text"/>
                <a:hlinkClick r:id="rId3"/>
              </a:rPr>
              <a:t>https://colab.research.google.com/drive/1c5UePwWhNuaCjgx6DeRWO8eMEfjQEqBq?usp=sharing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Баллы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 0 - 10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Количество человек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 1-2-3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680" name="Google Shape;680;g2ba3d66f664_0_4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9871" y="3392925"/>
            <a:ext cx="2039975" cy="126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25"/>
          <p:cNvSpPr txBox="1"/>
          <p:nvPr>
            <p:ph type="title"/>
          </p:nvPr>
        </p:nvSpPr>
        <p:spPr>
          <a:xfrm>
            <a:off x="457200" y="1801813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4400"/>
              <a:t>Спасибо</a:t>
            </a:r>
            <a:br>
              <a:rPr lang="ru-RU" sz="4400"/>
            </a:br>
            <a:r>
              <a:rPr lang="ru-RU" sz="4400"/>
              <a:t>за внимание!</a:t>
            </a:r>
            <a:endParaRPr sz="4400"/>
          </a:p>
        </p:txBody>
      </p:sp>
      <p:sp>
        <p:nvSpPr>
          <p:cNvPr id="686" name="Google Shape;686;p25"/>
          <p:cNvSpPr txBox="1"/>
          <p:nvPr/>
        </p:nvSpPr>
        <p:spPr>
          <a:xfrm>
            <a:off x="5606275" y="4158400"/>
            <a:ext cx="3499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</a:b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abrosimov.kirill.1999@mail.ru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87" name="Google Shape;687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2014-06-27T12:30:22Z</dcterms:created>
  <dc:creator>Al</dc:creator>
</cp:coreProperties>
</file>