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Golos Text"/>
      <p:regular r:id="rId37"/>
      <p:bold r:id="rId38"/>
    </p:embeddedFont>
    <p:embeddedFont>
      <p:font typeface="Golos Text SemiBold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QT3gMLuCnoOV8he/A556bFKf7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losTextSemiBold-bold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olosTex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olosText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GolosTex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c72da1a5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2bc72da1a54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e5c047b4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2be5c047b4b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c72da1a5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2bc72da1a54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e5c047b4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2be5c047b4b_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e5c047b4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2be5c047b4b_1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e5c047b4b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2be5c047b4b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e5c047b4b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2be5c047b4b_1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be5c047b4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2be5c047b4b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be5c047b4b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2be5c047b4b_1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e5c047b4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2be5c047b4b_1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be5c047b4b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2be5c047b4b_1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be5c047b4b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2be5c047b4b_1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be5c047b4b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2be5c047b4b_1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e5c047b4b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2be5c047b4b_1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be5c047b4b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2be5c047b4b_1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be5c047b4b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2be5c047b4b_1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e5c047b4b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2be5c047b4b_1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e5c047b4b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2be5c047b4b_1_1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e5c047b4b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2be5c047b4b_1_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e5c047b4b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g2be5c047b4b_1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be5c047b4b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2be5c047b4b_1_2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be5c047b4b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2be5c047b4b_1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be5c047b4b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2be5c047b4b_1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be5c047b4b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2be5c047b4b_1_2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be5c047b4b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2be5c047b4b_1_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be5c047b4b_1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2be5c047b4b_1_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be5c047b4b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2be5c047b4b_1_3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1" name="Google Shape;31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2" name="Google Shape;32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3" name="Google Shape;33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4" name="Google Shape;34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6" name="Google Shape;4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3" name="Google Shape;11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5" name="Google Shape;12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30" name="Google Shape;13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8" name="Google Shape;14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53" name="Google Shape;15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4" name="Google Shape;15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hyperlink" Target="https://eldf.ru/machine-learning-base-articl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ldf.ru/machine-learning-base-article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hyperlink" Target="https://education.yandex.ru/handbook/ml/article/metricheskiye-metody" TargetMode="External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19.png"/><Relationship Id="rId7" Type="http://schemas.openxmlformats.org/officeDocument/2006/relationships/hyperlink" Target="https://scikit-learn.org/stable/modules/neighbors.html#classificati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20.png"/><Relationship Id="rId7" Type="http://schemas.openxmlformats.org/officeDocument/2006/relationships/hyperlink" Target="https://scikit-learn.org/stable/modules/neighbors.html#nearest-centroid-classifier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66.png"/><Relationship Id="rId5" Type="http://schemas.openxmlformats.org/officeDocument/2006/relationships/image" Target="../media/image47.png"/><Relationship Id="rId6" Type="http://schemas.openxmlformats.org/officeDocument/2006/relationships/hyperlink" Target="https://scikit-learn.org/stable/modules/svm.html#svm-mathematical-formulatio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45.png"/><Relationship Id="rId6" Type="http://schemas.openxmlformats.org/officeDocument/2006/relationships/hyperlink" Target="https://scikit-learn.org/stable/modules/svm.html#svm-mathematical-formulation" TargetMode="External"/><Relationship Id="rId7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abr.com/ru/companies/otus/articles/502200/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hyperlink" Target="https://scikit-learn.org/stable/modules/generated/sklearn.tree.DecisionTreeClassifier.html#sklearn.tree.DecisionTreeClassifier" TargetMode="External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Relationship Id="rId5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mlcourse.ai/book/topic10/topic10_gradient_boosting.html" TargetMode="External"/><Relationship Id="rId4" Type="http://schemas.openxmlformats.org/officeDocument/2006/relationships/image" Target="../media/image67.png"/><Relationship Id="rId5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hyperlink" Target="https://scikit-learn.org/stable/modules/generated/sklearn.ensemble.GradientBoostingClassifier.html#sklearn.ensemble.GradientBoostingClassifier" TargetMode="External"/><Relationship Id="rId5" Type="http://schemas.openxmlformats.org/officeDocument/2006/relationships/image" Target="../media/image68.png"/><Relationship Id="rId6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Relationship Id="rId4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9" Type="http://schemas.openxmlformats.org/officeDocument/2006/relationships/image" Target="../media/image57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lab.research.google.com/drive/1ZO61NQgJI6XpuTI6lr4ohpMoJOlWIH7e?usp=sharing" TargetMode="External"/><Relationship Id="rId4" Type="http://schemas.openxmlformats.org/officeDocument/2006/relationships/image" Target="../media/image6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2852500" y="4545575"/>
            <a:ext cx="349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125125" y="3579450"/>
            <a:ext cx="49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Интеллектуальный анализ данных</a:t>
            </a:r>
            <a:endParaRPr b="1" i="0" sz="2000" u="none" cap="none" strike="noStrike">
              <a:solidFill>
                <a:srgbClr val="FFFF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69" name="Google Shape;169;g282c83c1f8c_0_7"/>
          <p:cNvSpPr txBox="1"/>
          <p:nvPr/>
        </p:nvSpPr>
        <p:spPr>
          <a:xfrm>
            <a:off x="325950" y="1329650"/>
            <a:ext cx="8492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Введение в Data Mining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Задачи машинного обучения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Базовые алгоритмы классификации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Качество классификации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0" name="Google Shape;170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c72da1a54_0_15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Введение в Data Mining</a:t>
            </a:r>
            <a:endParaRPr/>
          </a:p>
        </p:txBody>
      </p:sp>
      <p:sp>
        <p:nvSpPr>
          <p:cNvPr id="176" name="Google Shape;176;g2bc72da1a54_0_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77" name="Google Shape;177;g2bc72da1a54_0_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550" y="244223"/>
            <a:ext cx="3795275" cy="4862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bc72da1a54_0_152"/>
          <p:cNvSpPr txBox="1"/>
          <p:nvPr/>
        </p:nvSpPr>
        <p:spPr>
          <a:xfrm>
            <a:off x="50400" y="943725"/>
            <a:ext cx="4761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Data mining</a:t>
            </a:r>
            <a:r>
              <a:rPr lang="ru-RU"/>
              <a:t> (рус. добыча данных, интеллектуальный анализ данных, глубинный анализ данных) — собирательное название, используемое для обозначения совокупности методов обнаружения в данных ранее неизвестных, нетривиальных, практически полезных и доступных интерпретации знаний, необходимых для принятия решений в различных сферах человеческой деятельности. Термин введён Григорием Пятецким-Шапиро в 1989 году.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Интеллектуальный анализ данных</a:t>
            </a:r>
            <a:r>
              <a:rPr lang="ru-RU"/>
              <a:t> (ИАД) – исследование данных, использующее методы искусственного интеллекта и ориентированное на придание системе свойств искусственного интеллекта.</a:t>
            </a:r>
            <a:endParaRPr/>
          </a:p>
        </p:txBody>
      </p:sp>
      <p:sp>
        <p:nvSpPr>
          <p:cNvPr id="179" name="Google Shape;179;g2bc72da1a54_0_152"/>
          <p:cNvSpPr txBox="1"/>
          <p:nvPr/>
        </p:nvSpPr>
        <p:spPr>
          <a:xfrm>
            <a:off x="0" y="4808200"/>
            <a:ext cx="370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/>
              <a:t>Han, Jiawei. Data mining : concepts and techniques / Jiawei Han, Micheline Kamber, Jian Pei. – 3rd ed.</a:t>
            </a:r>
            <a:endParaRPr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e5c047b4b_1_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Введение в Data Mining</a:t>
            </a:r>
            <a:endParaRPr/>
          </a:p>
        </p:txBody>
      </p:sp>
      <p:sp>
        <p:nvSpPr>
          <p:cNvPr id="185" name="Google Shape;185;g2be5c047b4b_1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6" name="Google Shape;186;g2be5c047b4b_1_7"/>
          <p:cNvSpPr txBox="1"/>
          <p:nvPr/>
        </p:nvSpPr>
        <p:spPr>
          <a:xfrm>
            <a:off x="0" y="4808200"/>
            <a:ext cx="370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/>
              <a:t>Han, Jiawei. Data mining : concepts and techniques / Jiawei Han, Micheline Kamber, Jian Pei. – 3rd ed.</a:t>
            </a:r>
            <a:endParaRPr sz="600"/>
          </a:p>
        </p:txBody>
      </p:sp>
      <p:pic>
        <p:nvPicPr>
          <p:cNvPr id="187" name="Google Shape;187;g2be5c047b4b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75" y="986235"/>
            <a:ext cx="5812591" cy="36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be5c047b4b_1_7"/>
          <p:cNvSpPr txBox="1"/>
          <p:nvPr/>
        </p:nvSpPr>
        <p:spPr>
          <a:xfrm>
            <a:off x="6065875" y="1865800"/>
            <a:ext cx="287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Методология CRISP-DM (Cross-Industry Standard Process for Data Mining)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c72da1a54_0_13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Введение в Data Mining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4" name="Google Shape;194;g2bc72da1a54_0_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5" name="Google Shape;195;g2bc72da1a54_0_131"/>
          <p:cNvSpPr/>
          <p:nvPr/>
        </p:nvSpPr>
        <p:spPr>
          <a:xfrm>
            <a:off x="180100" y="929300"/>
            <a:ext cx="4185300" cy="40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Data Mining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6" name="Google Shape;196;g2bc72da1a54_0_131"/>
          <p:cNvSpPr/>
          <p:nvPr/>
        </p:nvSpPr>
        <p:spPr>
          <a:xfrm>
            <a:off x="4467450" y="929300"/>
            <a:ext cx="4185300" cy="401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Machine Learning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7" name="Google Shape;197;g2bc72da1a54_0_131"/>
          <p:cNvSpPr/>
          <p:nvPr/>
        </p:nvSpPr>
        <p:spPr>
          <a:xfrm>
            <a:off x="1238950" y="2290800"/>
            <a:ext cx="2067600" cy="69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</a:t>
            </a:r>
            <a:br>
              <a:rPr lang="ru-RU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Модель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8" name="Google Shape;198;g2bc72da1a54_0_131"/>
          <p:cNvSpPr/>
          <p:nvPr/>
        </p:nvSpPr>
        <p:spPr>
          <a:xfrm>
            <a:off x="5526300" y="2290800"/>
            <a:ext cx="2067600" cy="69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</a:t>
            </a:r>
            <a:br>
              <a:rPr lang="ru-RU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Модель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9" name="Google Shape;199;g2bc72da1a54_0_131"/>
          <p:cNvSpPr/>
          <p:nvPr/>
        </p:nvSpPr>
        <p:spPr>
          <a:xfrm>
            <a:off x="1069750" y="1298613"/>
            <a:ext cx="2406000" cy="527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Данные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0" name="Google Shape;200;g2bc72da1a54_0_131"/>
          <p:cNvSpPr/>
          <p:nvPr/>
        </p:nvSpPr>
        <p:spPr>
          <a:xfrm>
            <a:off x="5357100" y="1298613"/>
            <a:ext cx="2406000" cy="527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Данные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01" name="Google Shape;201;g2bc72da1a54_0_131"/>
          <p:cNvCxnSpPr>
            <a:stCxn id="199" idx="2"/>
            <a:endCxn id="197" idx="0"/>
          </p:cNvCxnSpPr>
          <p:nvPr/>
        </p:nvCxnSpPr>
        <p:spPr>
          <a:xfrm>
            <a:off x="2272750" y="1826013"/>
            <a:ext cx="0" cy="4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g2bc72da1a54_0_131"/>
          <p:cNvCxnSpPr>
            <a:stCxn id="200" idx="2"/>
            <a:endCxn id="198" idx="0"/>
          </p:cNvCxnSpPr>
          <p:nvPr/>
        </p:nvCxnSpPr>
        <p:spPr>
          <a:xfrm>
            <a:off x="6560100" y="1826013"/>
            <a:ext cx="0" cy="4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g2bc72da1a54_0_131"/>
          <p:cNvSpPr/>
          <p:nvPr/>
        </p:nvSpPr>
        <p:spPr>
          <a:xfrm>
            <a:off x="1069750" y="3540113"/>
            <a:ext cx="2406000" cy="527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Интерпретация, знания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4" name="Google Shape;204;g2bc72da1a54_0_131"/>
          <p:cNvSpPr/>
          <p:nvPr/>
        </p:nvSpPr>
        <p:spPr>
          <a:xfrm>
            <a:off x="5357100" y="3540113"/>
            <a:ext cx="2406000" cy="527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Некоторая система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05" name="Google Shape;205;g2bc72da1a54_0_131"/>
          <p:cNvCxnSpPr>
            <a:stCxn id="197" idx="2"/>
            <a:endCxn id="203" idx="0"/>
          </p:cNvCxnSpPr>
          <p:nvPr/>
        </p:nvCxnSpPr>
        <p:spPr>
          <a:xfrm>
            <a:off x="2272750" y="2982300"/>
            <a:ext cx="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g2bc72da1a54_0_131"/>
          <p:cNvCxnSpPr>
            <a:stCxn id="198" idx="2"/>
            <a:endCxn id="204" idx="0"/>
          </p:cNvCxnSpPr>
          <p:nvPr/>
        </p:nvCxnSpPr>
        <p:spPr>
          <a:xfrm>
            <a:off x="6560100" y="2982300"/>
            <a:ext cx="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e5c047b4b_1_2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машинного обучения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2" name="Google Shape;212;g2be5c047b4b_1_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13" name="Google Shape;213;g2be5c047b4b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363" y="833835"/>
            <a:ext cx="5126228" cy="400486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be5c047b4b_1_20"/>
          <p:cNvSpPr txBox="1"/>
          <p:nvPr/>
        </p:nvSpPr>
        <p:spPr>
          <a:xfrm>
            <a:off x="0" y="4785100"/>
            <a:ext cx="255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u="sng">
                <a:solidFill>
                  <a:schemeClr val="hlink"/>
                </a:solidFill>
                <a:hlinkClick r:id="rId4"/>
              </a:rPr>
              <a:t>https://eldf.ru/machine-learning-base-article</a:t>
            </a:r>
            <a:r>
              <a:rPr lang="ru-RU" sz="900"/>
              <a:t> 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e5c047b4b_1_6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машинного обучения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0" name="Google Shape;220;g2be5c047b4b_1_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1" name="Google Shape;221;g2be5c047b4b_1_61"/>
          <p:cNvSpPr txBox="1"/>
          <p:nvPr/>
        </p:nvSpPr>
        <p:spPr>
          <a:xfrm>
            <a:off x="0" y="4785100"/>
            <a:ext cx="255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u="sng">
                <a:solidFill>
                  <a:schemeClr val="hlink"/>
                </a:solidFill>
                <a:hlinkClick r:id="rId3"/>
              </a:rPr>
              <a:t>https://eldf.ru/machine-learning-base-article</a:t>
            </a:r>
            <a:r>
              <a:rPr lang="ru-RU" sz="900"/>
              <a:t> </a:t>
            </a:r>
            <a:endParaRPr sz="900"/>
          </a:p>
        </p:txBody>
      </p:sp>
      <p:sp>
        <p:nvSpPr>
          <p:cNvPr id="222" name="Google Shape;222;g2be5c047b4b_1_61"/>
          <p:cNvSpPr/>
          <p:nvPr/>
        </p:nvSpPr>
        <p:spPr>
          <a:xfrm>
            <a:off x="3126450" y="942875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Классификация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3" name="Google Shape;223;g2be5c047b4b_1_61"/>
          <p:cNvSpPr/>
          <p:nvPr/>
        </p:nvSpPr>
        <p:spPr>
          <a:xfrm>
            <a:off x="457200" y="2210175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Binary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24" name="Google Shape;224;g2be5c047b4b_1_61"/>
          <p:cNvCxnSpPr>
            <a:stCxn id="222" idx="2"/>
            <a:endCxn id="223" idx="0"/>
          </p:cNvCxnSpPr>
          <p:nvPr/>
        </p:nvCxnSpPr>
        <p:spPr>
          <a:xfrm flipH="1">
            <a:off x="1523550" y="1470275"/>
            <a:ext cx="26691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g2be5c047b4b_1_61"/>
          <p:cNvSpPr/>
          <p:nvPr/>
        </p:nvSpPr>
        <p:spPr>
          <a:xfrm>
            <a:off x="3296625" y="2210175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Multiclass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26" name="Google Shape;226;g2be5c047b4b_1_61"/>
          <p:cNvCxnSpPr>
            <a:stCxn id="222" idx="2"/>
            <a:endCxn id="225" idx="0"/>
          </p:cNvCxnSpPr>
          <p:nvPr/>
        </p:nvCxnSpPr>
        <p:spPr>
          <a:xfrm>
            <a:off x="4192650" y="1470275"/>
            <a:ext cx="1701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g2be5c047b4b_1_61"/>
          <p:cNvSpPr/>
          <p:nvPr/>
        </p:nvSpPr>
        <p:spPr>
          <a:xfrm>
            <a:off x="6136050" y="2210175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Multilabel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28" name="Google Shape;228;g2be5c047b4b_1_61"/>
          <p:cNvCxnSpPr>
            <a:stCxn id="222" idx="2"/>
            <a:endCxn id="227" idx="0"/>
          </p:cNvCxnSpPr>
          <p:nvPr/>
        </p:nvCxnSpPr>
        <p:spPr>
          <a:xfrm>
            <a:off x="4192650" y="1470275"/>
            <a:ext cx="30096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9" name="Google Shape;229;g2be5c047b4b_1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88" y="2846525"/>
            <a:ext cx="2151420" cy="170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be5c047b4b_1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4375" y="2805075"/>
            <a:ext cx="2946625" cy="194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2be5c047b4b_1_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8175" y="3184125"/>
            <a:ext cx="2557500" cy="118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e5c047b4b_1_2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7" name="Google Shape;237;g2be5c047b4b_1_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8" name="Google Shape;238;g2be5c047b4b_1_25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KNN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39" name="Google Shape;239;g2be5c047b4b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50" y="897050"/>
            <a:ext cx="3783125" cy="307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e5c047b4b_1_9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5" name="Google Shape;245;g2be5c047b4b_1_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6" name="Google Shape;246;g2be5c047b4b_1_98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KNN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47" name="Google Shape;247;g2be5c047b4b_1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50" y="897050"/>
            <a:ext cx="3783125" cy="30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be5c047b4b_1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763" y="2848675"/>
            <a:ext cx="4039857" cy="15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be5c047b4b_1_98"/>
          <p:cNvSpPr txBox="1"/>
          <p:nvPr/>
        </p:nvSpPr>
        <p:spPr>
          <a:xfrm>
            <a:off x="-48975" y="4746550"/>
            <a:ext cx="63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5"/>
              </a:rPr>
              <a:t>https://education.yandex.ru/handbook/ml/article/metricheskiye-metody</a:t>
            </a:r>
            <a:r>
              <a:rPr lang="ru-RU"/>
              <a:t> </a:t>
            </a:r>
            <a:endParaRPr/>
          </a:p>
        </p:txBody>
      </p:sp>
      <p:pic>
        <p:nvPicPr>
          <p:cNvPr id="250" name="Google Shape;250;g2be5c047b4b_1_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5650" y="1138635"/>
            <a:ext cx="3709415" cy="171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be5c047b4b_1_8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6" name="Google Shape;256;g2be5c047b4b_1_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7" name="Google Shape;257;g2be5c047b4b_1_88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KNN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58" name="Google Shape;258;g2be5c047b4b_1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50" y="897050"/>
            <a:ext cx="3783125" cy="30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be5c047b4b_1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0050" y="1506035"/>
            <a:ext cx="49339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2be5c047b4b_1_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5100" y="2093860"/>
            <a:ext cx="16954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be5c047b4b_1_88"/>
          <p:cNvSpPr txBox="1"/>
          <p:nvPr/>
        </p:nvSpPr>
        <p:spPr>
          <a:xfrm>
            <a:off x="5556825" y="1013425"/>
            <a:ext cx="224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Нормализация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2" name="Google Shape;262;g2be5c047b4b_1_88"/>
          <p:cNvSpPr txBox="1"/>
          <p:nvPr/>
        </p:nvSpPr>
        <p:spPr>
          <a:xfrm>
            <a:off x="0" y="4808200"/>
            <a:ext cx="370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/>
              <a:t>Han, Jiawei. Data mining : concepts and techniques / Jiawei Han, Micheline Kamber, Jian Pei. – 3rd ed.</a:t>
            </a:r>
            <a:endParaRPr sz="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e5c047b4b_1_10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8" name="Google Shape;268;g2be5c047b4b_1_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9" name="Google Shape;269;g2be5c047b4b_1_107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KNN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70" name="Google Shape;270;g2be5c047b4b_1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775" y="833826"/>
            <a:ext cx="3817999" cy="11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2be5c047b4b_1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774" y="2192113"/>
            <a:ext cx="3995801" cy="9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2be5c047b4b_1_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50" y="3389525"/>
            <a:ext cx="5983224" cy="14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2be5c047b4b_1_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800" y="1187935"/>
            <a:ext cx="4433976" cy="184749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be5c047b4b_1_107"/>
          <p:cNvSpPr txBox="1"/>
          <p:nvPr/>
        </p:nvSpPr>
        <p:spPr>
          <a:xfrm>
            <a:off x="20000" y="4777300"/>
            <a:ext cx="60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7"/>
              </a:rPr>
              <a:t>https://scikit-learn.org/stable/modules/neighbors.html#classification</a:t>
            </a:r>
            <a:r>
              <a:rPr lang="ru-RU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be5c047b4b_1_7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0" name="Google Shape;280;g2be5c047b4b_1_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1" name="Google Shape;281;g2be5c047b4b_1_79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Алгоритм Роккио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82" name="Google Shape;282;g2be5c047b4b_1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3278"/>
            <a:ext cx="2837175" cy="249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2be5c047b4b_1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150" y="790602"/>
            <a:ext cx="2635425" cy="26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2be5c047b4b_1_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8000" y="3537937"/>
            <a:ext cx="6105451" cy="8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2be5c047b4b_1_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4150" y="912547"/>
            <a:ext cx="3199070" cy="239930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2be5c047b4b_1_79"/>
          <p:cNvSpPr txBox="1"/>
          <p:nvPr/>
        </p:nvSpPr>
        <p:spPr>
          <a:xfrm>
            <a:off x="0" y="4429525"/>
            <a:ext cx="610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7"/>
              </a:rPr>
              <a:t>https://scikit-learn.org/stable/modules/neighbors.html#nearest-centroid-classifier</a:t>
            </a:r>
            <a:r>
              <a:rPr lang="ru-RU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Автоматическая обработка текстов на естественном языке и компьютерная лингвистика : учеб. пособие / Большакова Е.И., Клышинский Э.С., Ландэ Д.В., Носков А.А., Пескова О.В., Ягунова Е.В. — М.: МИЭМ, 2011 — 272 с.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e5c047b4b_1_12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2" name="Google Shape;292;g2be5c047b4b_1_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3" name="Google Shape;293;g2be5c047b4b_1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28"/>
            <a:ext cx="4515650" cy="281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be5c047b4b_1_120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SVM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5" name="Google Shape;295;g2be5c047b4b_1_120"/>
          <p:cNvSpPr txBox="1"/>
          <p:nvPr/>
        </p:nvSpPr>
        <p:spPr>
          <a:xfrm>
            <a:off x="5244350" y="986225"/>
            <a:ext cx="367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Метод опорных векторов</a:t>
            </a:r>
            <a:r>
              <a:rPr lang="ru-RU"/>
              <a:t> (англ. Support Vector Machine, SVM). Цель алгоритма заключается в максимизации зазора [margin]. Зазор определяется как расстояние между разделяющей гиперплоскостью (границей решения) и самыми близкими к этой гиперплоскости тренировочными образцами, так называемыми опорными векторами.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e5c047b4b_1_15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1" name="Google Shape;301;g2be5c047b4b_1_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2" name="Google Shape;302;g2be5c047b4b_1_159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SVM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03" name="Google Shape;303;g2be5c047b4b_1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84375"/>
            <a:ext cx="5928700" cy="9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be5c047b4b_1_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3301" y="645975"/>
            <a:ext cx="4961024" cy="19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2be5c047b4b_1_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423" y="2615823"/>
            <a:ext cx="6080900" cy="12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be5c047b4b_1_159"/>
          <p:cNvSpPr txBox="1"/>
          <p:nvPr/>
        </p:nvSpPr>
        <p:spPr>
          <a:xfrm>
            <a:off x="0" y="4804800"/>
            <a:ext cx="563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6"/>
              </a:rPr>
              <a:t>https://scikit-learn.org/stable/modules/svm.html#svm-mathematical-formulation</a:t>
            </a:r>
            <a:r>
              <a:rPr lang="ru-RU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e5c047b4b_1_12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12" name="Google Shape;312;g2be5c047b4b_1_1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3" name="Google Shape;313;g2be5c047b4b_1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963" y="833826"/>
            <a:ext cx="6734426" cy="23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be5c047b4b_1_125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Про переобучение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15" name="Google Shape;315;g2be5c047b4b_1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5775" y="3076725"/>
            <a:ext cx="2585260" cy="18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e5c047b4b_1_13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1" name="Google Shape;321;g2be5c047b4b_1_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2" name="Google Shape;322;g2be5c047b4b_1_130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SVM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23" name="Google Shape;323;g2be5c047b4b_1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32956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2be5c047b4b_1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950" y="226851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2be5c047b4b_1_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976750"/>
            <a:ext cx="5631183" cy="9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2be5c047b4b_1_130"/>
          <p:cNvSpPr txBox="1"/>
          <p:nvPr/>
        </p:nvSpPr>
        <p:spPr>
          <a:xfrm>
            <a:off x="0" y="4804800"/>
            <a:ext cx="563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6"/>
              </a:rPr>
              <a:t>https://scikit-learn.org/stable/modules/svm.html#svm-mathematical-formulation</a:t>
            </a:r>
            <a:r>
              <a:rPr lang="ru-RU" sz="1000"/>
              <a:t> </a:t>
            </a:r>
            <a:endParaRPr sz="1000"/>
          </a:p>
        </p:txBody>
      </p:sp>
      <p:pic>
        <p:nvPicPr>
          <p:cNvPr id="327" name="Google Shape;327;g2be5c047b4b_1_1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0050" y="986235"/>
            <a:ext cx="3784154" cy="283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be5c047b4b_1_19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3" name="Google Shape;333;g2be5c047b4b_1_1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g2be5c047b4b_1_195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Multiclass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35" name="Google Shape;335;g2be5c047b4b_1_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50" y="1778648"/>
            <a:ext cx="3202800" cy="19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2be5c047b4b_1_1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2350" y="883222"/>
            <a:ext cx="4173370" cy="334851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2be5c047b4b_1_195"/>
          <p:cNvSpPr txBox="1"/>
          <p:nvPr/>
        </p:nvSpPr>
        <p:spPr>
          <a:xfrm>
            <a:off x="763600" y="3818000"/>
            <a:ext cx="2002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One vs All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8" name="Google Shape;338;g2be5c047b4b_1_195"/>
          <p:cNvSpPr txBox="1"/>
          <p:nvPr/>
        </p:nvSpPr>
        <p:spPr>
          <a:xfrm>
            <a:off x="4242350" y="4281150"/>
            <a:ext cx="2002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One vs One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be5c047b4b_1_13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4" name="Google Shape;344;g2be5c047b4b_1_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5" name="Google Shape;345;g2be5c047b4b_1_135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Decision Trees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6" name="Google Shape;346;g2be5c047b4b_1_135"/>
          <p:cNvSpPr txBox="1"/>
          <p:nvPr/>
        </p:nvSpPr>
        <p:spPr>
          <a:xfrm>
            <a:off x="0" y="4743250"/>
            <a:ext cx="465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https://habr.com/ru/companies/otus/articles/502200/</a:t>
            </a:r>
            <a:r>
              <a:rPr lang="ru-RU"/>
              <a:t> </a:t>
            </a:r>
            <a:endParaRPr/>
          </a:p>
        </p:txBody>
      </p:sp>
      <p:pic>
        <p:nvPicPr>
          <p:cNvPr id="347" name="Google Shape;347;g2be5c047b4b_1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175" y="952510"/>
            <a:ext cx="34290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2be5c047b4b_1_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6800" y="952510"/>
            <a:ext cx="3724275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2be5c047b4b_1_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0625" y="1734720"/>
            <a:ext cx="5137265" cy="6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be5c047b4b_1_22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5" name="Google Shape;355;g2be5c047b4b_1_2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6" name="Google Shape;356;g2be5c047b4b_1_222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Decision Trees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57" name="Google Shape;357;g2be5c047b4b_1_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5" y="1166100"/>
            <a:ext cx="6028451" cy="10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2be5c047b4b_1_222"/>
          <p:cNvSpPr txBox="1"/>
          <p:nvPr/>
        </p:nvSpPr>
        <p:spPr>
          <a:xfrm>
            <a:off x="0" y="4521950"/>
            <a:ext cx="63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u="sng">
                <a:solidFill>
                  <a:schemeClr val="hlink"/>
                </a:solidFill>
                <a:hlinkClick r:id="rId4"/>
              </a:rPr>
              <a:t>https://scikit-learn.org/stable/modules/generated/sklearn.tree.DecisionTreeClassifier.html#sklearn.tree.DecisionTreeClassifier</a:t>
            </a:r>
            <a:r>
              <a:rPr lang="ru-RU" sz="1000"/>
              <a:t> </a:t>
            </a:r>
            <a:endParaRPr sz="1000"/>
          </a:p>
        </p:txBody>
      </p:sp>
      <p:pic>
        <p:nvPicPr>
          <p:cNvPr id="359" name="Google Shape;359;g2be5c047b4b_1_2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9175" y="938235"/>
            <a:ext cx="34290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be5c047b4b_1_18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5" name="Google Shape;365;g2be5c047b4b_1_1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6" name="Google Shape;366;g2be5c047b4b_1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8814"/>
            <a:ext cx="6683999" cy="340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2be5c047b4b_1_184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Random Forest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be5c047b4b_1_18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73" name="Google Shape;373;g2be5c047b4b_1_1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4" name="Google Shape;374;g2be5c047b4b_1_189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Random Forest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75" name="Google Shape;375;g2be5c047b4b_1_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700" y="193835"/>
            <a:ext cx="3938377" cy="4004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2be5c047b4b_1_1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50" y="3936869"/>
            <a:ext cx="4887999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2be5c047b4b_1_189"/>
          <p:cNvPicPr preferRelativeResize="0"/>
          <p:nvPr/>
        </p:nvPicPr>
        <p:blipFill rotWithShape="1">
          <a:blip r:embed="rId5">
            <a:alphaModFix/>
          </a:blip>
          <a:srcRect b="0" l="0" r="27818" t="11095"/>
          <a:stretch/>
        </p:blipFill>
        <p:spPr>
          <a:xfrm>
            <a:off x="692725" y="833825"/>
            <a:ext cx="3043250" cy="28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be5c047b4b_1_23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3" name="Google Shape;383;g2be5c047b4b_1_2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84" name="Google Shape;384;g2be5c047b4b_1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25" y="833827"/>
            <a:ext cx="5978024" cy="301444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2be5c047b4b_1_238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Gradient Boosting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be5c047b4b_1_26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91" name="Google Shape;391;g2be5c047b4b_1_2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2" name="Google Shape;392;g2be5c047b4b_1_261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Gradient Boosting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93" name="Google Shape;393;g2be5c047b4b_1_261"/>
          <p:cNvSpPr txBox="1"/>
          <p:nvPr/>
        </p:nvSpPr>
        <p:spPr>
          <a:xfrm>
            <a:off x="0" y="4674450"/>
            <a:ext cx="6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https://mlcourse.ai/book/topic10/topic10_gradient_boosting.html</a:t>
            </a:r>
            <a:r>
              <a:rPr lang="ru-RU"/>
              <a:t> </a:t>
            </a:r>
            <a:endParaRPr/>
          </a:p>
        </p:txBody>
      </p:sp>
      <p:pic>
        <p:nvPicPr>
          <p:cNvPr id="394" name="Google Shape;394;g2be5c047b4b_1_2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86235"/>
            <a:ext cx="3535815" cy="3535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2be5c047b4b_1_2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0615" y="986235"/>
            <a:ext cx="5150984" cy="3172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be5c047b4b_1_26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01" name="Google Shape;401;g2be5c047b4b_1_2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2" name="Google Shape;402;g2be5c047b4b_1_269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Gradient Boosting + Feature Importance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03" name="Google Shape;403;g2be5c047b4b_1_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97" y="906975"/>
            <a:ext cx="5447651" cy="12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2be5c047b4b_1_269"/>
          <p:cNvSpPr txBox="1"/>
          <p:nvPr/>
        </p:nvSpPr>
        <p:spPr>
          <a:xfrm>
            <a:off x="0" y="4443050"/>
            <a:ext cx="604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https://scikit-learn.org/stable/modules/generated/sklearn.ensemble.GradientBoostingClassifier.html#sklearn.ensemble.GradientBoostingClassifier</a:t>
            </a:r>
            <a:r>
              <a:rPr lang="ru-RU"/>
              <a:t> </a:t>
            </a:r>
            <a:endParaRPr/>
          </a:p>
        </p:txBody>
      </p:sp>
      <p:pic>
        <p:nvPicPr>
          <p:cNvPr id="405" name="Google Shape;405;g2be5c047b4b_1_2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11725"/>
            <a:ext cx="5589026" cy="17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2be5c047b4b_1_2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6500" y="833825"/>
            <a:ext cx="2090101" cy="337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e5c047b4b_1_24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Алгоритмы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12" name="Google Shape;412;g2be5c047b4b_1_2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3" name="Google Shape;413;g2be5c047b4b_1_248"/>
          <p:cNvSpPr/>
          <p:nvPr/>
        </p:nvSpPr>
        <p:spPr>
          <a:xfrm>
            <a:off x="6375350" y="4487150"/>
            <a:ext cx="2132400" cy="527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Stacking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14" name="Google Shape;414;g2be5c047b4b_1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99776"/>
            <a:ext cx="7534024" cy="28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2be5c047b4b_1_2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321" y="3933200"/>
            <a:ext cx="5421275" cy="8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be5c047b4b_1_24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Качество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21" name="Google Shape;421;g2be5c047b4b_1_2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22" name="Google Shape;422;g2be5c047b4b_1_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7867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2be5c047b4b_1_2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91135"/>
            <a:ext cx="2952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2be5c047b4b_1_2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59510"/>
            <a:ext cx="19145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2be5c047b4b_1_2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654673"/>
            <a:ext cx="19812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2be5c047b4b_1_2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89773"/>
            <a:ext cx="23907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2be5c047b4b_1_2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4381935"/>
            <a:ext cx="28384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2be5c047b4b_1_2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57550" y="2091135"/>
            <a:ext cx="5146835" cy="286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be5c047b4b_1_29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Качество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34" name="Google Shape;434;g2be5c047b4b_1_2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35" name="Google Shape;435;g2be5c047b4b_1_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7867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2be5c047b4b_1_2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91135"/>
            <a:ext cx="2952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2be5c047b4b_1_2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59510"/>
            <a:ext cx="19145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2be5c047b4b_1_2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654673"/>
            <a:ext cx="19812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2be5c047b4b_1_2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89773"/>
            <a:ext cx="23907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2be5c047b4b_1_2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4381935"/>
            <a:ext cx="28384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2be5c047b4b_1_296"/>
          <p:cNvSpPr/>
          <p:nvPr/>
        </p:nvSpPr>
        <p:spPr>
          <a:xfrm>
            <a:off x="4819325" y="2643563"/>
            <a:ext cx="1210200" cy="7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90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2" name="Google Shape;442;g2be5c047b4b_1_296"/>
          <p:cNvSpPr/>
          <p:nvPr/>
        </p:nvSpPr>
        <p:spPr>
          <a:xfrm>
            <a:off x="6066700" y="2643563"/>
            <a:ext cx="1210200" cy="7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3" name="Google Shape;443;g2be5c047b4b_1_296"/>
          <p:cNvSpPr/>
          <p:nvPr/>
        </p:nvSpPr>
        <p:spPr>
          <a:xfrm>
            <a:off x="4819325" y="3416613"/>
            <a:ext cx="1210200" cy="7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70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4" name="Google Shape;444;g2be5c047b4b_1_296"/>
          <p:cNvSpPr/>
          <p:nvPr/>
        </p:nvSpPr>
        <p:spPr>
          <a:xfrm>
            <a:off x="6066700" y="3416613"/>
            <a:ext cx="1210200" cy="72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30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5" name="Google Shape;445;g2be5c047b4b_1_296"/>
          <p:cNvSpPr txBox="1"/>
          <p:nvPr/>
        </p:nvSpPr>
        <p:spPr>
          <a:xfrm>
            <a:off x="4562475" y="4381925"/>
            <a:ext cx="301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Посчитаем метрики?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be5c047b4b_1_33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Качество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51" name="Google Shape;451;g2be5c047b4b_1_3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52" name="Google Shape;452;g2be5c047b4b_1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7867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2be5c047b4b_1_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91135"/>
            <a:ext cx="29527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2be5c047b4b_1_3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59510"/>
            <a:ext cx="19145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2be5c047b4b_1_3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654673"/>
            <a:ext cx="19812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2be5c047b4b_1_3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89773"/>
            <a:ext cx="23907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2be5c047b4b_1_3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4381935"/>
            <a:ext cx="28384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e5c047b4b_1_31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Качество классификации</a:t>
            </a:r>
            <a:endParaRPr b="0" sz="27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63" name="Google Shape;463;g2be5c047b4b_1_3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64" name="Google Shape;464;g2be5c047b4b_1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775" y="833833"/>
            <a:ext cx="4457700" cy="42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2be5c047b4b_1_3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550" y="884250"/>
            <a:ext cx="3091675" cy="11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2be5c047b4b_1_3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75" y="2294100"/>
            <a:ext cx="1453275" cy="18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2be5c047b4b_1_312"/>
          <p:cNvSpPr txBox="1"/>
          <p:nvPr/>
        </p:nvSpPr>
        <p:spPr>
          <a:xfrm>
            <a:off x="1858575" y="2463700"/>
            <a:ext cx="205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Макро усреднение.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класс 1 точность 88%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класс 2 точность 92%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класс 3 точность 9%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Точность 63%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sz="2380"/>
              <a:t>ЛР3.</a:t>
            </a:r>
            <a:r>
              <a:rPr lang="ru-RU" sz="2380"/>
              <a:t> Классификация музыкальных данных методами классического МО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80"/>
          </a:p>
        </p:txBody>
      </p:sp>
      <p:sp>
        <p:nvSpPr>
          <p:cNvPr id="474" name="Google Shape;474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75" name="Google Shape;475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05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февраля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марта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https://colab.research.google.com/drive/1ZO61NQgJI6XpuTI6lr4ohpMoJOlWIH7e?usp=sharing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76" name="Google Shape;476;g2ba3d66f664_0_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482" name="Google Shape;482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83" name="Google Shape;48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